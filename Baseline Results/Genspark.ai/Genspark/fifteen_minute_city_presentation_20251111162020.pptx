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4" y="8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72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418" r="41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07338" y="0"/>
            <a:ext cx="9144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214677" y="0"/>
            <a:ext cx="9144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322015" y="0"/>
            <a:ext cx="9144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429354" y="0"/>
            <a:ext cx="9144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37606" y="0"/>
            <a:ext cx="9144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44945" y="0"/>
            <a:ext cx="9144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52283" y="0"/>
            <a:ext cx="9144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59622" y="0"/>
            <a:ext cx="9144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966960" y="0"/>
            <a:ext cx="9144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1074298" y="0"/>
            <a:ext cx="9144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2181637" y="0"/>
            <a:ext cx="9144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12191695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0" y="978408"/>
            <a:ext cx="12191695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0" y="1956816"/>
            <a:ext cx="12191695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0" y="2934310"/>
            <a:ext cx="12191695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0" y="3912718"/>
            <a:ext cx="12191695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0" y="4891126"/>
            <a:ext cx="12191695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0" y="5869534"/>
            <a:ext cx="12191695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0" y="6847942"/>
            <a:ext cx="12191695" cy="914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2424989" y="2619756"/>
            <a:ext cx="777240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15-Minute City: Explainer</a:t>
            </a:r>
            <a:endParaRPr lang="en-US" sz="4500" dirty="0"/>
          </a:p>
        </p:txBody>
      </p:sp>
      <p:sp>
        <p:nvSpPr>
          <p:cNvPr id="25" name="Text 22"/>
          <p:cNvSpPr txBox="1"/>
          <p:nvPr/>
        </p:nvSpPr>
        <p:spPr>
          <a:xfrm>
            <a:off x="2541118" y="3638398"/>
            <a:ext cx="7286854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human-scale urban model where most daily needs are reachable within a 15-minute walk or bike ride.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010144"/>
          </a:xfrm>
          <a:prstGeom prst="rect">
            <a:avLst/>
          </a:pr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52805" y="638251"/>
            <a:ext cx="22201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52805" y="1638605"/>
            <a:ext cx="571500" cy="38405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447495" y="2066544"/>
            <a:ext cx="2533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Definition &amp; Principles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47495" y="2600554"/>
            <a:ext cx="34582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Case Studies: Paris, Melbourne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47495" y="3133649"/>
            <a:ext cx="28867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Street Redesign Elements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47495" y="3666744"/>
            <a:ext cx="28767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Mixed-Use Zoning Toolkit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47495" y="4200754"/>
            <a:ext cx="18105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Mobility Modes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47495" y="4733849"/>
            <a:ext cx="24003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Equity &amp; Accessibility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47495" y="5266944"/>
            <a:ext cx="35341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Misconceptions &amp; Myth-busting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47495" y="5800954"/>
            <a:ext cx="14959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Cost/Benefit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47495" y="6334049"/>
            <a:ext cx="40389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Implementation Roadmap &amp; Metrics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689897" y="7629754"/>
            <a:ext cx="1653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City: Explainer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44054"/>
          </a:xfrm>
          <a:prstGeom prst="rect">
            <a:avLst/>
          </a:pr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428854"/>
            <a:ext cx="53245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15-Minute City?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181405"/>
            <a:ext cx="571500" cy="38405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1457554"/>
            <a:ext cx="5257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Definition: A planning framework that clusters daily needs—home, work, learning, care, groceries, parks—within a 15-minute walk or bike ride, prioritizing proximity, safety, and choice.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581351"/>
            <a:ext cx="1114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Principles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5810098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Basket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3029407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" y="3305556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3581705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1500" y="3857854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1500" y="4134002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1500" y="4410151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1500" y="4686300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1500" y="4962449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1500" y="5238598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3407" y="2952598"/>
            <a:ext cx="23746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Proximity: short trips to essentials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3407" y="3228746"/>
            <a:ext cx="2774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Diversity: mixed uses and housing types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3407" y="3504895"/>
            <a:ext cx="3670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Density done well: enough people to support services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" y="3781044"/>
            <a:ext cx="40983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networks: safe, continuous walking/cycling/transit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3407" y="4058107"/>
            <a:ext cx="40507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Human-scaled streets: slower speeds, greener public realm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3407" y="4334256"/>
            <a:ext cx="44988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Digital/physical integration: delivery lockers, telehealth, coworking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43407" y="4610405"/>
            <a:ext cx="34701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Participatory governance: neighborhood co-design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43407" y="4886554"/>
            <a:ext cx="33082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Equity: invest first where access gaps are largest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3407" y="5162702"/>
            <a:ext cx="40032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Climate resilience: shade, stormwater, low-carbon mobility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1500" y="6258154"/>
            <a:ext cx="1371600" cy="267005"/>
          </a:xfrm>
          <a:prstGeom prst="roundRect">
            <a:avLst>
              <a:gd name="adj" fmla="val 195695"/>
            </a:avLst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013509" y="6258154"/>
            <a:ext cx="1619402" cy="267005"/>
          </a:xfrm>
          <a:prstGeom prst="roundRect">
            <a:avLst>
              <a:gd name="adj" fmla="val 195695"/>
            </a:avLst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706978" y="6258154"/>
            <a:ext cx="504749" cy="267005"/>
          </a:xfrm>
          <a:prstGeom prst="roundRect">
            <a:avLst>
              <a:gd name="adj" fmla="val 195695"/>
            </a:avLst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80306" y="6258154"/>
            <a:ext cx="1248156" cy="267005"/>
          </a:xfrm>
          <a:prstGeom prst="roundRect">
            <a:avLst>
              <a:gd name="adj" fmla="val 195695"/>
            </a:avLst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1500" y="6596482"/>
            <a:ext cx="875995" cy="267005"/>
          </a:xfrm>
          <a:prstGeom prst="roundRect">
            <a:avLst>
              <a:gd name="adj" fmla="val 195695"/>
            </a:avLst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521562" y="6596482"/>
            <a:ext cx="1228954" cy="267005"/>
          </a:xfrm>
          <a:prstGeom prst="roundRect">
            <a:avLst>
              <a:gd name="adj" fmla="val 195695"/>
            </a:avLst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817266" y="6596482"/>
            <a:ext cx="1037844" cy="267005"/>
          </a:xfrm>
          <a:prstGeom prst="roundRect">
            <a:avLst>
              <a:gd name="adj" fmla="val 195695"/>
            </a:avLst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66598" y="6295644"/>
            <a:ext cx="12746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Groceries/pharmacy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109521" y="6295644"/>
            <a:ext cx="15224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school/childcare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3802075" y="6295644"/>
            <a:ext cx="4078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376318" y="6295644"/>
            <a:ext cx="11503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Pocket/linear park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66598" y="6633972"/>
            <a:ext cx="7790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Transit stop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616659" y="6633972"/>
            <a:ext cx="113111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Coworking/library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912364" y="6633972"/>
            <a:ext cx="9409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Everyday retail</a:t>
            </a:r>
            <a:endParaRPr lang="en-US" sz="9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53505" y="2553005"/>
            <a:ext cx="4800600" cy="3200400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0071202" y="7401154"/>
            <a:ext cx="1653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City: Explainer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439351"/>
          </a:xfrm>
          <a:prstGeom prst="rect">
            <a:avLst/>
          </a:pr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428854"/>
            <a:ext cx="66961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Studies: Paris &amp; Melbourne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181405"/>
            <a:ext cx="571500" cy="38405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1476756"/>
            <a:ext cx="6912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4929530"/>
            <a:ext cx="13386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Melbourne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895551"/>
            <a:ext cx="886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5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2704795"/>
            <a:ext cx="9336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5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957523"/>
            <a:ext cx="8193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5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5348326"/>
            <a:ext cx="886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5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6157570"/>
            <a:ext cx="9336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5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" y="7410298"/>
            <a:ext cx="8193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5A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" y="2152498"/>
            <a:ext cx="521299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Citywide proximity strategy—school street closures, bike network expansion, local services, and 30 km/h default on most streets.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" y="4214470"/>
            <a:ext cx="526054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Pair quick-build trials with permanent upgrades; communicate benefits at the block level.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" y="5605272"/>
            <a:ext cx="509869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'20-minute neighborhoods' within Plan Melbourne (walkable catchments to daily needs).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" y="7667244"/>
            <a:ext cx="52513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activity center hierarchy to stage investment; align with health outcomes.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" y="3029407"/>
            <a:ext cx="57607" cy="57607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1500" y="3338474"/>
            <a:ext cx="57607" cy="57607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1500" y="3648456"/>
            <a:ext cx="57607" cy="57607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1500" y="6482182"/>
            <a:ext cx="57607" cy="57607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1500" y="6791249"/>
            <a:ext cx="57607" cy="57607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1500" y="7101230"/>
            <a:ext cx="57607" cy="57607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24205" y="2962656"/>
            <a:ext cx="2774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'Rues aux écoles' (car-lite school streets)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4205" y="3271723"/>
            <a:ext cx="3231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Neighborhood-scale amenities and micro-hubs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24205" y="3581705"/>
            <a:ext cx="33841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Protected cycleways connecting arrondissements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4205" y="6415430"/>
            <a:ext cx="18790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Activity centers as anchors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4205" y="6724498"/>
            <a:ext cx="21177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Green links/laneways network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24205" y="7034479"/>
            <a:ext cx="22027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 and aging-in-place focus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71500" y="8291779"/>
            <a:ext cx="29032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777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Programs evolve; shown features are illustrative.</a:t>
            </a:r>
            <a:endParaRPr lang="en-US" sz="9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53505" y="3381451"/>
            <a:ext cx="4800600" cy="320040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0071202" y="9058046"/>
            <a:ext cx="1653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City: Explainer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428854"/>
            <a:ext cx="93159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Street Redesign Elements (Complete Streets)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181405"/>
            <a:ext cx="571500" cy="38405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524305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800454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2076602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1500" y="2352751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" y="2628900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2905049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1500" y="3181198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43407" y="1447495"/>
            <a:ext cx="38889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sidewalks with curb ramps and tactile paving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3407" y="1723644"/>
            <a:ext cx="47173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Protected bike lanes (physical separation) and intersection protection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43407" y="2000707"/>
            <a:ext cx="42226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 priority (dedicated lanes, queue jumps), all-door boarding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3407" y="2276856"/>
            <a:ext cx="44796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Traffic calming: 30 km/h design speeds, raised crossings, chicanes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43407" y="2553005"/>
            <a:ext cx="44128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Curb management: loading bays, micromobility parking, parklets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43407" y="2829154"/>
            <a:ext cx="44512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Green infrastructure: shade trees, bioswales, permeable surfaces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3407" y="3105302"/>
            <a:ext cx="27651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Safety at night: pedestrian-scale lighting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1500" y="3762756"/>
            <a:ext cx="5333695" cy="1657807"/>
          </a:xfrm>
          <a:prstGeom prst="rect">
            <a:avLst/>
          </a:prstGeom>
          <a:solidFill>
            <a:srgbClr val="2C7FB8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1500" y="3762756"/>
            <a:ext cx="28346" cy="1657807"/>
          </a:xfrm>
          <a:prstGeom prst="rect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52551" y="3886200"/>
            <a:ext cx="25246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Typical Cross-Section (24m ROW)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" y="4181551"/>
            <a:ext cx="15197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Sidewalk + furnishing: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52551" y="4406494"/>
            <a:ext cx="14438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Protected bike track: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52551" y="4630522"/>
            <a:ext cx="6912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 lane: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52551" y="4855464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 traffic lane: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467051" y="4181551"/>
            <a:ext cx="10716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3.0 m each side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467051" y="4406494"/>
            <a:ext cx="19769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1.8 m + 0.5 m buffer each side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467051" y="4630522"/>
            <a:ext cx="1367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3.0 m each direction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67051" y="4855464"/>
            <a:ext cx="1367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2.7 m each direction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2551" y="5118811"/>
            <a:ext cx="47704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Adjust widths to local standards; maintain continuous protection at intersections.</a:t>
            </a:r>
            <a:endParaRPr lang="en-US" sz="9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53505" y="2109521"/>
            <a:ext cx="4800600" cy="320040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0071202" y="6515100"/>
            <a:ext cx="1653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City: Explainer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3954"/>
          </a:xfrm>
          <a:prstGeom prst="rect">
            <a:avLst/>
          </a:pr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428854"/>
            <a:ext cx="53721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Mixed-Use Zoning Toolkit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181405"/>
            <a:ext cx="571500" cy="38405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447495"/>
            <a:ext cx="2572207" cy="990295"/>
          </a:xfrm>
          <a:prstGeom prst="roundRect">
            <a:avLst>
              <a:gd name="adj" fmla="val 7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33902" y="1447495"/>
            <a:ext cx="2572207" cy="990295"/>
          </a:xfrm>
          <a:prstGeom prst="roundRect">
            <a:avLst>
              <a:gd name="adj" fmla="val 7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2621585"/>
            <a:ext cx="2572207" cy="1171346"/>
          </a:xfrm>
          <a:prstGeom prst="roundRect">
            <a:avLst>
              <a:gd name="adj" fmla="val 5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33902" y="2621585"/>
            <a:ext cx="2572207" cy="1171346"/>
          </a:xfrm>
          <a:prstGeom prst="roundRect">
            <a:avLst>
              <a:gd name="adj" fmla="val 507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" y="3981298"/>
            <a:ext cx="2572207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3902" y="3981298"/>
            <a:ext cx="2572207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24205" y="1619402"/>
            <a:ext cx="16102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Form-Based Codes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86607" y="1619402"/>
            <a:ext cx="2019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Missing-Middle Housing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4205" y="2792578"/>
            <a:ext cx="1353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Adaptive Reuse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86607" y="2792578"/>
            <a:ext cx="13624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Parking Reform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24205" y="4152290"/>
            <a:ext cx="1677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Inclusionary Zoning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86607" y="4152290"/>
            <a:ext cx="16486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Corner Commercial Allowance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4205" y="1904695"/>
            <a:ext cx="23582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Regulate form and frontage, not just use; ensure active ground floors.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486607" y="1904695"/>
            <a:ext cx="221467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Triplexes, courtyard apts, ADUs to diversify options near services.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24205" y="3078785"/>
            <a:ext cx="227228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offices/big-box to housing, schools, clinics.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486607" y="3078785"/>
            <a:ext cx="224393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 minimums; use maximums/shared/cash-out; price curbs.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4205" y="4438498"/>
            <a:ext cx="209123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Reserve % of units as affordable near transit/amenities.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486607" y="4667098"/>
            <a:ext cx="224393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Small-format retail/childcare/cafés embedded in residential blocks.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" y="5421478"/>
            <a:ext cx="5333695" cy="629107"/>
          </a:xfrm>
          <a:prstGeom prst="rect">
            <a:avLst/>
          </a:prstGeom>
          <a:solidFill>
            <a:srgbClr val="F3E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1500" y="5421478"/>
            <a:ext cx="38405" cy="629107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61695" y="5544922"/>
            <a:ext cx="48060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Policy note: Pair zoning with grants/TA for small developers and main-street businesses.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86500" y="1695298"/>
            <a:ext cx="21296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× Outcome Matrix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86500" y="2085746"/>
            <a:ext cx="1152144" cy="552298"/>
          </a:xfrm>
          <a:prstGeom prst="rect">
            <a:avLst/>
          </a:prstGeom>
          <a:solidFill>
            <a:srgbClr val="F0E8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434986" y="2085746"/>
            <a:ext cx="866851" cy="552298"/>
          </a:xfrm>
          <a:prstGeom prst="rect">
            <a:avLst/>
          </a:prstGeom>
          <a:solidFill>
            <a:srgbClr val="F0E8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00009" y="2085746"/>
            <a:ext cx="895198" cy="552298"/>
          </a:xfrm>
          <a:prstGeom prst="rect">
            <a:avLst/>
          </a:prstGeom>
          <a:solidFill>
            <a:srgbClr val="F0E8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89720" y="2085746"/>
            <a:ext cx="847649" cy="552298"/>
          </a:xfrm>
          <a:prstGeom prst="rect">
            <a:avLst/>
          </a:prstGeom>
          <a:solidFill>
            <a:srgbClr val="F0E8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032797" y="2085746"/>
            <a:ext cx="961949" cy="552298"/>
          </a:xfrm>
          <a:prstGeom prst="rect">
            <a:avLst/>
          </a:prstGeom>
          <a:solidFill>
            <a:srgbClr val="F0E8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987430" y="2085746"/>
            <a:ext cx="638251" cy="552298"/>
          </a:xfrm>
          <a:prstGeom prst="rect">
            <a:avLst/>
          </a:prstGeom>
          <a:solidFill>
            <a:srgbClr val="F0E8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7510882" y="2271370"/>
            <a:ext cx="8147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Walkability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481060" y="2171700"/>
            <a:ext cx="6336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Housing Supply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348826" y="2171700"/>
            <a:ext cx="6336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Services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108692" y="22713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Affordability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106302" y="2171700"/>
            <a:ext cx="5001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Small-Biz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86500" y="3191256"/>
            <a:ext cx="1152144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434986" y="3191256"/>
            <a:ext cx="866851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300009" y="3191256"/>
            <a:ext cx="895198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189720" y="3191256"/>
            <a:ext cx="847649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032797" y="3191256"/>
            <a:ext cx="961949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987430" y="3191256"/>
            <a:ext cx="638251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86500" y="3548786"/>
            <a:ext cx="1152144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434986" y="3548786"/>
            <a:ext cx="866851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300009" y="3548786"/>
            <a:ext cx="895198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189720" y="3548786"/>
            <a:ext cx="847649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032797" y="3548786"/>
            <a:ext cx="961949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987430" y="3548786"/>
            <a:ext cx="638251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286500" y="3910889"/>
            <a:ext cx="1152144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434986" y="3910889"/>
            <a:ext cx="866851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300009" y="3910889"/>
            <a:ext cx="895198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189720" y="3910889"/>
            <a:ext cx="847649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032797" y="3910889"/>
            <a:ext cx="961949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0987430" y="3910889"/>
            <a:ext cx="638251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86500" y="4472330"/>
            <a:ext cx="1152144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434986" y="4472330"/>
            <a:ext cx="866851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300009" y="4472330"/>
            <a:ext cx="895198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189720" y="4472330"/>
            <a:ext cx="847649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0032797" y="4472330"/>
            <a:ext cx="961949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0987430" y="4472330"/>
            <a:ext cx="638251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286500" y="4834433"/>
            <a:ext cx="1152144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434986" y="4834433"/>
            <a:ext cx="866851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300009" y="4834433"/>
            <a:ext cx="895198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189720" y="4834433"/>
            <a:ext cx="847649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0032797" y="4834433"/>
            <a:ext cx="961949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0987430" y="4834433"/>
            <a:ext cx="638251" cy="9144"/>
          </a:xfrm>
          <a:prstGeom prst="rect">
            <a:avLst/>
          </a:prstGeom>
          <a:solidFill>
            <a:srgbClr val="E8E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 txBox="1"/>
          <p:nvPr/>
        </p:nvSpPr>
        <p:spPr>
          <a:xfrm>
            <a:off x="6362395" y="2723998"/>
            <a:ext cx="8723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Form-Based Codes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6362395" y="3286354"/>
            <a:ext cx="10716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Missing-Middle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6362395" y="3648456"/>
            <a:ext cx="11009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Adaptive Reuse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6362395" y="4009644"/>
            <a:ext cx="5961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Parking Reform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6362395" y="4572000"/>
            <a:ext cx="8906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Inclusionary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6362395" y="4934102"/>
            <a:ext cx="881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Corner Commercial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809890" y="2857500"/>
            <a:ext cx="114300" cy="114300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9553651" y="2857500"/>
            <a:ext cx="114300" cy="114300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1247120" y="2857500"/>
            <a:ext cx="114300" cy="114300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687714" y="3319272"/>
            <a:ext cx="114300" cy="114300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687714" y="3681374"/>
            <a:ext cx="114300" cy="114300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809890" y="4143146"/>
            <a:ext cx="114300" cy="114300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452506" y="4143146"/>
            <a:ext cx="114300" cy="114300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0452506" y="4604918"/>
            <a:ext cx="114300" cy="114300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809890" y="5067605"/>
            <a:ext cx="114300" cy="114300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9553651" y="5067605"/>
            <a:ext cx="114300" cy="114300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1247120" y="5067605"/>
            <a:ext cx="114300" cy="114300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8687714" y="2857500"/>
            <a:ext cx="114300" cy="114300"/>
          </a:xfrm>
          <a:prstGeom prst="ellipse">
            <a:avLst/>
          </a:prstGeom>
          <a:solidFill>
            <a:srgbClr val="2C7F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7809890" y="3319272"/>
            <a:ext cx="114300" cy="114300"/>
          </a:xfrm>
          <a:prstGeom prst="ellipse">
            <a:avLst/>
          </a:prstGeom>
          <a:solidFill>
            <a:srgbClr val="2C7F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0452506" y="3319272"/>
            <a:ext cx="114300" cy="114300"/>
          </a:xfrm>
          <a:prstGeom prst="ellipse">
            <a:avLst/>
          </a:prstGeom>
          <a:solidFill>
            <a:srgbClr val="2C7F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7809890" y="3681374"/>
            <a:ext cx="114300" cy="114300"/>
          </a:xfrm>
          <a:prstGeom prst="ellipse">
            <a:avLst/>
          </a:prstGeom>
          <a:solidFill>
            <a:srgbClr val="2C7F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9553651" y="3681374"/>
            <a:ext cx="114300" cy="114300"/>
          </a:xfrm>
          <a:prstGeom prst="ellipse">
            <a:avLst/>
          </a:prstGeom>
          <a:solidFill>
            <a:srgbClr val="2C7F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0452506" y="3681374"/>
            <a:ext cx="114300" cy="114300"/>
          </a:xfrm>
          <a:prstGeom prst="ellipse">
            <a:avLst/>
          </a:prstGeom>
          <a:solidFill>
            <a:srgbClr val="2C7F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1247120" y="3681374"/>
            <a:ext cx="114300" cy="114300"/>
          </a:xfrm>
          <a:prstGeom prst="ellipse">
            <a:avLst/>
          </a:prstGeom>
          <a:solidFill>
            <a:srgbClr val="2C7F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687714" y="4143146"/>
            <a:ext cx="114300" cy="114300"/>
          </a:xfrm>
          <a:prstGeom prst="ellipse">
            <a:avLst/>
          </a:prstGeom>
          <a:solidFill>
            <a:srgbClr val="2C7F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9553651" y="4143146"/>
            <a:ext cx="114300" cy="114300"/>
          </a:xfrm>
          <a:prstGeom prst="ellipse">
            <a:avLst/>
          </a:prstGeom>
          <a:solidFill>
            <a:srgbClr val="2C7F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1247120" y="4143146"/>
            <a:ext cx="114300" cy="114300"/>
          </a:xfrm>
          <a:prstGeom prst="ellipse">
            <a:avLst/>
          </a:prstGeom>
          <a:solidFill>
            <a:srgbClr val="2C7F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8687714" y="4604918"/>
            <a:ext cx="114300" cy="114300"/>
          </a:xfrm>
          <a:prstGeom prst="ellipse">
            <a:avLst/>
          </a:prstGeom>
          <a:solidFill>
            <a:srgbClr val="2C7F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0452506" y="2857500"/>
            <a:ext cx="114300" cy="114300"/>
          </a:xfrm>
          <a:prstGeom prst="ellipse">
            <a:avLst/>
          </a:prstGeom>
          <a:noFill/>
          <a:ln w="254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9553651" y="3319272"/>
            <a:ext cx="114300" cy="114300"/>
          </a:xfrm>
          <a:prstGeom prst="ellipse">
            <a:avLst/>
          </a:prstGeom>
          <a:noFill/>
          <a:ln w="254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1247120" y="3319272"/>
            <a:ext cx="114300" cy="114300"/>
          </a:xfrm>
          <a:prstGeom prst="ellipse">
            <a:avLst/>
          </a:prstGeom>
          <a:noFill/>
          <a:ln w="254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809890" y="4604918"/>
            <a:ext cx="114300" cy="114300"/>
          </a:xfrm>
          <a:prstGeom prst="ellipse">
            <a:avLst/>
          </a:prstGeom>
          <a:noFill/>
          <a:ln w="254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9553651" y="4604918"/>
            <a:ext cx="114300" cy="114300"/>
          </a:xfrm>
          <a:prstGeom prst="ellipse">
            <a:avLst/>
          </a:prstGeom>
          <a:noFill/>
          <a:ln w="254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1247120" y="4604918"/>
            <a:ext cx="114300" cy="114300"/>
          </a:xfrm>
          <a:prstGeom prst="ellipse">
            <a:avLst/>
          </a:prstGeom>
          <a:noFill/>
          <a:ln w="254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8687714" y="5067605"/>
            <a:ext cx="114300" cy="114300"/>
          </a:xfrm>
          <a:prstGeom prst="ellipse">
            <a:avLst/>
          </a:prstGeom>
          <a:noFill/>
          <a:ln w="254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0452506" y="5067605"/>
            <a:ext cx="114300" cy="114300"/>
          </a:xfrm>
          <a:prstGeom prst="ellipse">
            <a:avLst/>
          </a:prstGeom>
          <a:noFill/>
          <a:ln w="25400">
            <a:solidFill>
              <a:srgbClr val="2C7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 txBox="1"/>
          <p:nvPr/>
        </p:nvSpPr>
        <p:spPr>
          <a:xfrm>
            <a:off x="10071202" y="6592824"/>
            <a:ext cx="1653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City: Explainer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428854"/>
            <a:ext cx="57342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Mobility Modes &amp; Networks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181405"/>
            <a:ext cx="571500" cy="38405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1628546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Mobility Modes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4695444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 Share Targets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" y="2000707"/>
            <a:ext cx="304495" cy="304495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1500" y="2419502"/>
            <a:ext cx="304495" cy="304495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" y="2838298"/>
            <a:ext cx="304495" cy="304495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3258007"/>
            <a:ext cx="304495" cy="304495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1500" y="3676802"/>
            <a:ext cx="304495" cy="304495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1500" y="4095598"/>
            <a:ext cx="304495" cy="304495"/>
          </a:xfrm>
          <a:prstGeom prst="ellipse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9107" y="2038198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🚶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" y="2457907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🚲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" y="2876702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" y="3295498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🛴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" y="3715207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📦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9107" y="4134002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🚗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90295" y="2038198"/>
            <a:ext cx="41175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Walking: universal baseline; continuous shade and crossings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90295" y="2457907"/>
            <a:ext cx="46222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Cycling/e-bikes: protected network; secure parking at shops/schools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90295" y="2876702"/>
            <a:ext cx="4669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Transit: frequent local buses/trams; timed transfers; integrated fares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90295" y="3295498"/>
            <a:ext cx="4145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Micromobility: shared scooters/bikes with designated corrals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90295" y="3715207"/>
            <a:ext cx="4260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Deliveries: cargo bikes and off-peak loading to reduce conflicts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90295" y="4134002"/>
            <a:ext cx="3621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 share: right-sized auto access without ownership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0197" y="5217566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6C9F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04365" y="5217566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44291" y="5217566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7331" y="5217566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888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32104" y="5181905"/>
            <a:ext cx="11219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Walk: 14% → 20%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176272" y="5181905"/>
            <a:ext cx="101681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Bike: 5% → 12%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416198" y="5181905"/>
            <a:ext cx="12362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Transit: 18% → 25%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878324" y="5181905"/>
            <a:ext cx="10360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Car: 63% → 43%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527962" y="5453482"/>
            <a:ext cx="35295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Shift enabled by complete networks and pricing reform</a:t>
            </a:r>
            <a:endParaRPr lang="en-US" sz="10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rcRect l="94" r="94"/>
          <a:stretch/>
        </p:blipFill>
        <p:spPr>
          <a:xfrm>
            <a:off x="6286500" y="1512418"/>
            <a:ext cx="5333695" cy="3562502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6286500" y="5230368"/>
            <a:ext cx="5248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 map with layered mobility infrastructure: primary cycling grid (400m spacing), secondary cycling links, transit corridors with frequency-based stops, and pedestrian priority zones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0071202" y="6515100"/>
            <a:ext cx="1653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City: Explainer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6251"/>
          </a:xfrm>
          <a:prstGeom prst="rect">
            <a:avLst/>
          </a:pr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428854"/>
            <a:ext cx="45436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Equity &amp; Accessibility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181405"/>
            <a:ext cx="571500" cy="38405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1628546"/>
            <a:ext cx="1457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Equity Levers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991356"/>
            <a:ext cx="1800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Universal Design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" y="2076602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1500" y="2352751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" y="2628900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3105302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1500" y="3381451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1500" y="4438498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1500" y="4714646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1500" y="4990795"/>
            <a:ext cx="75895" cy="75895"/>
          </a:xfrm>
          <a:prstGeom prst="ellipse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3407" y="2000707"/>
            <a:ext cx="39940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 first in underserved neighborhoods (access deserts)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43407" y="2276856"/>
            <a:ext cx="40699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Zero-fare/transit discounts for low-income riders and youth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43407" y="2553005"/>
            <a:ext cx="511789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Anti-displacement: community land trusts, right-to-return, rent stabilization tools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3407" y="3029407"/>
            <a:ext cx="3621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Safe routes to school and late-night worker corridors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3407" y="3305556"/>
            <a:ext cx="44988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Community co-design: multilingual workshops, stipends, childcare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" y="4362602"/>
            <a:ext cx="387979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curb ramps and tactile guidance at crossings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3407" y="4638751"/>
            <a:ext cx="4127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Audible signals, seating every 100–150 m; shade and lighting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3407" y="4914900"/>
            <a:ext cx="46606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Step-free building entries; wider doorways; at-grade transit boarding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1500" y="5572354"/>
            <a:ext cx="5333695" cy="1037844"/>
          </a:xfrm>
          <a:prstGeom prst="rect">
            <a:avLst/>
          </a:prstGeom>
          <a:solidFill>
            <a:srgbClr val="F0E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1500" y="5572354"/>
            <a:ext cx="38405" cy="1037844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61695" y="5686654"/>
            <a:ext cx="23052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Performance Indicators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1695" y="5952744"/>
            <a:ext cx="35862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% low-income residents within 15-min of groceries/clinic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61695" y="6140196"/>
            <a:ext cx="19860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Crash rate per 100k (ped/bike)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61695" y="6326734"/>
            <a:ext cx="23198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Transit travel time to jobs (p50/p90)</a:t>
            </a:r>
            <a:endParaRPr lang="en-US" sz="10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rcRect l="161" r="161"/>
          <a:stretch/>
        </p:blipFill>
        <p:spPr>
          <a:xfrm>
            <a:off x="6553505" y="2689250"/>
            <a:ext cx="4800600" cy="2686507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071202" y="7151522"/>
            <a:ext cx="1653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City: Explainer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772754"/>
          </a:xfrm>
          <a:prstGeom prst="rect">
            <a:avLst/>
          </a:pr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428854"/>
            <a:ext cx="665866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Misconceptions &amp; Myth-Busting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181405"/>
            <a:ext cx="571500" cy="38405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33195" y="1554480"/>
            <a:ext cx="4381805" cy="733349"/>
          </a:xfrm>
          <a:prstGeom prst="roundRect">
            <a:avLst>
              <a:gd name="adj" fmla="val 6477"/>
            </a:avLst>
          </a:prstGeom>
          <a:solidFill>
            <a:srgbClr val="F3E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33195" y="1554480"/>
            <a:ext cx="38405" cy="733349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33195" y="2651760"/>
            <a:ext cx="4381805" cy="733349"/>
          </a:xfrm>
          <a:prstGeom prst="roundRect">
            <a:avLst>
              <a:gd name="adj" fmla="val 6477"/>
            </a:avLst>
          </a:prstGeom>
          <a:solidFill>
            <a:srgbClr val="F3E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33195" y="2651760"/>
            <a:ext cx="38405" cy="733349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33195" y="4847234"/>
            <a:ext cx="4381805" cy="733349"/>
          </a:xfrm>
          <a:prstGeom prst="roundRect">
            <a:avLst>
              <a:gd name="adj" fmla="val 6477"/>
            </a:avLst>
          </a:prstGeom>
          <a:solidFill>
            <a:srgbClr val="F3E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33195" y="4847234"/>
            <a:ext cx="38405" cy="733349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561795" y="1716329"/>
            <a:ext cx="562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Myth: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61795" y="1920240"/>
            <a:ext cx="27057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cities 'restrict movement.'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2005" y="1805940"/>
            <a:ext cx="228600" cy="2286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333195" y="3749040"/>
            <a:ext cx="4381805" cy="733349"/>
          </a:xfrm>
          <a:prstGeom prst="roundRect">
            <a:avLst>
              <a:gd name="adj" fmla="val 6477"/>
            </a:avLst>
          </a:prstGeom>
          <a:solidFill>
            <a:srgbClr val="F3E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333195" y="3749040"/>
            <a:ext cx="38405" cy="733349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333195" y="5944514"/>
            <a:ext cx="4381805" cy="733349"/>
          </a:xfrm>
          <a:prstGeom prst="roundRect">
            <a:avLst>
              <a:gd name="adj" fmla="val 6477"/>
            </a:avLst>
          </a:prstGeom>
          <a:solidFill>
            <a:srgbClr val="F3E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333195" y="5944514"/>
            <a:ext cx="38405" cy="733349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333195" y="7041794"/>
            <a:ext cx="4381805" cy="733349"/>
          </a:xfrm>
          <a:prstGeom prst="roundRect">
            <a:avLst>
              <a:gd name="adj" fmla="val 6477"/>
            </a:avLst>
          </a:prstGeom>
          <a:solidFill>
            <a:srgbClr val="F3E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333195" y="7041794"/>
            <a:ext cx="38405" cy="733349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561795" y="2813609"/>
            <a:ext cx="562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Myth: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561795" y="3017520"/>
            <a:ext cx="9436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It's anti-car.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561795" y="3911803"/>
            <a:ext cx="562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Myth: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561795" y="4114800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works in dense European cores.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561795" y="5009083"/>
            <a:ext cx="562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Myth: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561795" y="5212994"/>
            <a:ext cx="12198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Hurts business.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561795" y="6106363"/>
            <a:ext cx="562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Myth: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561795" y="6310274"/>
            <a:ext cx="11814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 expensive.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561795" y="7203643"/>
            <a:ext cx="562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Myth: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561795" y="7407554"/>
            <a:ext cx="12481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One-size-fits-all.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76695" y="1447495"/>
            <a:ext cx="4381805" cy="952805"/>
          </a:xfrm>
          <a:prstGeom prst="roundRect">
            <a:avLst>
              <a:gd name="adj" fmla="val 3839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476695" y="1447495"/>
            <a:ext cx="38405" cy="952805"/>
          </a:xfrm>
          <a:prstGeom prst="rect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476695" y="2545690"/>
            <a:ext cx="4381805" cy="952805"/>
          </a:xfrm>
          <a:prstGeom prst="roundRect">
            <a:avLst>
              <a:gd name="adj" fmla="val 3839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476695" y="2545690"/>
            <a:ext cx="38405" cy="952805"/>
          </a:xfrm>
          <a:prstGeom prst="rect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476695" y="4740250"/>
            <a:ext cx="4381805" cy="952805"/>
          </a:xfrm>
          <a:prstGeom prst="roundRect">
            <a:avLst>
              <a:gd name="adj" fmla="val 3839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476695" y="4740250"/>
            <a:ext cx="38405" cy="952805"/>
          </a:xfrm>
          <a:prstGeom prst="rect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6705295" y="1609344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Fact: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705295" y="1813255"/>
            <a:ext cx="40389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expand choices by bringing more nearby; regional and intercity travel remains.</a:t>
            </a:r>
            <a:endParaRPr lang="en-US" sz="12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2005" y="2903220"/>
            <a:ext cx="228600" cy="22860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6476695" y="3642970"/>
            <a:ext cx="4381805" cy="952805"/>
          </a:xfrm>
          <a:prstGeom prst="roundRect">
            <a:avLst>
              <a:gd name="adj" fmla="val 3839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6476695" y="3642970"/>
            <a:ext cx="38405" cy="952805"/>
          </a:xfrm>
          <a:prstGeom prst="rect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 txBox="1"/>
          <p:nvPr/>
        </p:nvSpPr>
        <p:spPr>
          <a:xfrm>
            <a:off x="6705295" y="2707538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Fact: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6705295" y="2911450"/>
            <a:ext cx="40672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It's pro-option; safer walking/biking/transit plus smarter car use.</a:t>
            </a:r>
            <a:endParaRPr lang="en-US" sz="1200" dirty="0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2005" y="4000500"/>
            <a:ext cx="228600" cy="228600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6476695" y="6934810"/>
            <a:ext cx="4381805" cy="952805"/>
          </a:xfrm>
          <a:prstGeom prst="roundRect">
            <a:avLst>
              <a:gd name="adj" fmla="val 3839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6476695" y="6934810"/>
            <a:ext cx="38405" cy="952805"/>
          </a:xfrm>
          <a:prstGeom prst="rect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 txBox="1"/>
          <p:nvPr/>
        </p:nvSpPr>
        <p:spPr>
          <a:xfrm>
            <a:off x="6705295" y="3804818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Fact: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6705295" y="4008730"/>
            <a:ext cx="3771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Applicable with context—retrofit arterials, re-center town centers, and add mixed uses.</a:t>
            </a:r>
            <a:endParaRPr lang="en-US" sz="1200" dirty="0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2005" y="5098694"/>
            <a:ext cx="228600" cy="228600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6705295" y="4902098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Fact:</a:t>
            </a:r>
            <a:endParaRPr 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6705295" y="5106010"/>
            <a:ext cx="40197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Foot traffic and dwell time typically increase on people-first streets.</a:t>
            </a:r>
            <a:endParaRPr lang="en-US" sz="1200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2005" y="6195974"/>
            <a:ext cx="228600" cy="228600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6476695" y="5837530"/>
            <a:ext cx="4381805" cy="952805"/>
          </a:xfrm>
          <a:prstGeom prst="roundRect">
            <a:avLst>
              <a:gd name="adj" fmla="val 3839"/>
            </a:avLst>
          </a:prstGeom>
          <a:solidFill>
            <a:srgbClr val="E8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6"/>
          <p:cNvSpPr/>
          <p:nvPr/>
        </p:nvSpPr>
        <p:spPr>
          <a:xfrm>
            <a:off x="6476695" y="5837530"/>
            <a:ext cx="38405" cy="952805"/>
          </a:xfrm>
          <a:prstGeom prst="rect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 txBox="1"/>
          <p:nvPr/>
        </p:nvSpPr>
        <p:spPr>
          <a:xfrm>
            <a:off x="6705295" y="5999378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Fact:</a:t>
            </a:r>
            <a:endParaRPr lang="en-US" sz="1200" dirty="0"/>
          </a:p>
        </p:txBody>
      </p:sp>
      <p:sp>
        <p:nvSpPr>
          <p:cNvPr id="55" name="Text 48"/>
          <p:cNvSpPr txBox="1"/>
          <p:nvPr/>
        </p:nvSpPr>
        <p:spPr>
          <a:xfrm>
            <a:off x="6705295" y="6203290"/>
            <a:ext cx="37435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Low-cost pilots and curb pricing fund phased, high-return upgrades.</a:t>
            </a:r>
            <a:endParaRPr lang="en-US" sz="1200" dirty="0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2005" y="7293254"/>
            <a:ext cx="228600" cy="228600"/>
          </a:xfrm>
          <a:prstGeom prst="rect">
            <a:avLst/>
          </a:prstGeom>
        </p:spPr>
      </p:pic>
      <p:sp>
        <p:nvSpPr>
          <p:cNvPr id="57" name="Text 49"/>
          <p:cNvSpPr txBox="1"/>
          <p:nvPr/>
        </p:nvSpPr>
        <p:spPr>
          <a:xfrm>
            <a:off x="6705295" y="7096658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Fact:</a:t>
            </a:r>
            <a:endParaRPr lang="en-US" sz="1200" dirty="0"/>
          </a:p>
        </p:txBody>
      </p:sp>
      <p:sp>
        <p:nvSpPr>
          <p:cNvPr id="58" name="Text 50"/>
          <p:cNvSpPr txBox="1"/>
          <p:nvPr/>
        </p:nvSpPr>
        <p:spPr>
          <a:xfrm>
            <a:off x="6705295" y="7300570"/>
            <a:ext cx="39721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3A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Co-designed with neighborhoods; services reflect local needs.</a:t>
            </a:r>
            <a:endParaRPr lang="en-US" sz="1200" dirty="0"/>
          </a:p>
        </p:txBody>
      </p:sp>
      <p:sp>
        <p:nvSpPr>
          <p:cNvPr id="59" name="Text 51"/>
          <p:cNvSpPr txBox="1"/>
          <p:nvPr/>
        </p:nvSpPr>
        <p:spPr>
          <a:xfrm>
            <a:off x="10071202" y="8423453"/>
            <a:ext cx="1653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City: Explainer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906256"/>
          </a:xfrm>
          <a:prstGeom prst="rect">
            <a:avLst/>
          </a:pr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428854"/>
            <a:ext cx="1101120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Costs and Benefits (Illustrative, per 100k residents, 10-yr NPV @3%)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752905"/>
            <a:ext cx="571500" cy="38405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71500" y="2200046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4371746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Offsets &amp; Revenue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5715000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2572207"/>
            <a:ext cx="27459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Quick-build pilots (paint/posts/planters)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2848356"/>
            <a:ext cx="24313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Permanent streetscape + bikeways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3124505"/>
            <a:ext cx="17556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Transit priority upgrades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3400654"/>
            <a:ext cx="2155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realm/trees/stormwater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" y="3676802"/>
            <a:ext cx="18891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Ops/maint. (net of savings)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" y="4743907"/>
            <a:ext cx="1974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Curb pricing/parking reform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" y="5020056"/>
            <a:ext cx="30696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Speeding/crash cost reductions (city savings)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" y="6086246"/>
            <a:ext cx="29937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Travel time saved (mode shift/shorter trips)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" y="6362395"/>
            <a:ext cx="2707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 (active mobility; reduced PM2.5)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" y="6638544"/>
            <a:ext cx="2174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Crash reduction (ped/bike/veh)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" y="6915607"/>
            <a:ext cx="2527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Retail uplift/local spending retention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" y="7191756"/>
            <a:ext cx="25840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GHG reduction (social cost of carbon)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47081" y="2572207"/>
            <a:ext cx="5742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05A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+$12M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47081" y="2848356"/>
            <a:ext cx="5742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05A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+$85M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47081" y="3124505"/>
            <a:ext cx="5742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05A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+$30M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47081" y="3400654"/>
            <a:ext cx="5742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05A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+$18M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47081" y="3676802"/>
            <a:ext cx="5742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05A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+$22M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1500" y="4067251"/>
            <a:ext cx="5333695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1500" y="5410505"/>
            <a:ext cx="5333695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5482742" y="4743907"/>
            <a:ext cx="535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C9F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-$28M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2742" y="5020056"/>
            <a:ext cx="535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C9F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-$15M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01361" y="6086246"/>
            <a:ext cx="6126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7F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-$190M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01361" y="6362395"/>
            <a:ext cx="6126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7F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-$120M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01361" y="6638544"/>
            <a:ext cx="6126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7F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-$150M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2742" y="6915607"/>
            <a:ext cx="535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7F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-$60M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2742" y="7191756"/>
            <a:ext cx="535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C7F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-$25M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71500" y="7629754"/>
            <a:ext cx="49578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777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Monetization methods per standard CBA (e.g., USDOT guidance); tailor to local context.</a:t>
            </a:r>
            <a:endParaRPr lang="en-US" sz="10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rcRect l="94" r="94"/>
          <a:stretch/>
        </p:blipFill>
        <p:spPr>
          <a:xfrm>
            <a:off x="6286500" y="3072384"/>
            <a:ext cx="5333695" cy="3562502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622438" y="6816852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299094" y="6816852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6C9F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9072677" y="6816852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9905695" y="6816852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7794346" y="6781190"/>
            <a:ext cx="4169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Costs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471002" y="6781190"/>
            <a:ext cx="5120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Offsets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9244584" y="6781190"/>
            <a:ext cx="5696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Benefits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10077602" y="6781190"/>
            <a:ext cx="30266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0071202" y="8563356"/>
            <a:ext cx="1653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City: Explainer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2246"/>
          </a:xfrm>
          <a:prstGeom prst="rect">
            <a:avLst/>
          </a:prstGeom>
          <a:solidFill>
            <a:srgbClr val="F8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428854"/>
            <a:ext cx="982065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Roadmap &amp; Metrics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181405"/>
            <a:ext cx="571500" cy="38405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1447495"/>
            <a:ext cx="5333695" cy="1533449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447495"/>
            <a:ext cx="38405" cy="1533449"/>
          </a:xfrm>
          <a:prstGeom prst="rect">
            <a:avLst/>
          </a:prstGeom>
          <a:solidFill>
            <a:srgbClr val="2C7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61695" y="1628546"/>
            <a:ext cx="1305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0–6 months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1695" y="2076602"/>
            <a:ext cx="75895" cy="75895"/>
          </a:xfrm>
          <a:prstGeom prst="ellipse">
            <a:avLst/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1695" y="2352751"/>
            <a:ext cx="75895" cy="75895"/>
          </a:xfrm>
          <a:prstGeom prst="ellipse">
            <a:avLst/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1695" y="2628900"/>
            <a:ext cx="75895" cy="75895"/>
          </a:xfrm>
          <a:prstGeom prst="ellipse">
            <a:avLst/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33602" y="2000707"/>
            <a:ext cx="34509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2–3 pilot neighborhoods via equity criteria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3602" y="2276856"/>
            <a:ext cx="48033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Quick-build: school streets, pop-up bikeways, curb management zones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33602" y="2553005"/>
            <a:ext cx="4460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Launch co-design workshops; publish access baseline and targets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" y="3209544"/>
            <a:ext cx="5333695" cy="1533449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1500" y="3209544"/>
            <a:ext cx="38405" cy="1533449"/>
          </a:xfrm>
          <a:prstGeom prst="rect">
            <a:avLst/>
          </a:prstGeom>
          <a:solidFill>
            <a:srgbClr val="6C9F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61695" y="339059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6–18 months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1695" y="3838651"/>
            <a:ext cx="75895" cy="75895"/>
          </a:xfrm>
          <a:prstGeom prst="ellipse">
            <a:avLst/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1695" y="4114800"/>
            <a:ext cx="75895" cy="75895"/>
          </a:xfrm>
          <a:prstGeom prst="ellipse">
            <a:avLst/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1695" y="4390949"/>
            <a:ext cx="75895" cy="75895"/>
          </a:xfrm>
          <a:prstGeom prst="ellipse">
            <a:avLst/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33602" y="3762756"/>
            <a:ext cx="46030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 successful pilots permanent; shade trees and drainage added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3602" y="4038905"/>
            <a:ext cx="42034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Zoning updates: missing-middle, corner retail, parking reform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33602" y="4315054"/>
            <a:ext cx="33750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Transit: signal priority, bus lanes on key corridors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1500" y="4972507"/>
            <a:ext cx="5333695" cy="1533449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1500" y="4972507"/>
            <a:ext cx="38405" cy="1533449"/>
          </a:xfrm>
          <a:prstGeom prst="rect">
            <a:avLst/>
          </a:prstGeom>
          <a:solidFill>
            <a:srgbClr val="A0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61695" y="5152644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18–36 months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1695" y="5600700"/>
            <a:ext cx="75895" cy="75895"/>
          </a:xfrm>
          <a:prstGeom prst="ellipse">
            <a:avLst/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1695" y="5876849"/>
            <a:ext cx="75895" cy="75895"/>
          </a:xfrm>
          <a:prstGeom prst="ellipse">
            <a:avLst/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1695" y="6152998"/>
            <a:ext cx="75895" cy="75895"/>
          </a:xfrm>
          <a:prstGeom prst="ellipse">
            <a:avLst/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33602" y="5524805"/>
            <a:ext cx="4317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 to additional districts; integrate health and economic KPIs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33602" y="5800954"/>
            <a:ext cx="47749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Institutionalize curb pricing; fund maintenance and main-street grants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3602" y="6077102"/>
            <a:ext cx="4326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report with isochrone maps and crash/health outcomes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1500" y="6886346"/>
            <a:ext cx="1104595" cy="267005"/>
          </a:xfrm>
          <a:prstGeom prst="roundRect">
            <a:avLst>
              <a:gd name="adj" fmla="val 195695"/>
            </a:avLst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751990" y="6886346"/>
            <a:ext cx="1362456" cy="267005"/>
          </a:xfrm>
          <a:prstGeom prst="roundRect">
            <a:avLst>
              <a:gd name="adj" fmla="val 195695"/>
            </a:avLst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183941" y="6886346"/>
            <a:ext cx="1390802" cy="267005"/>
          </a:xfrm>
          <a:prstGeom prst="roundRect">
            <a:avLst>
              <a:gd name="adj" fmla="val 195695"/>
            </a:avLst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71500" y="7224674"/>
            <a:ext cx="1380744" cy="267005"/>
          </a:xfrm>
          <a:prstGeom prst="roundRect">
            <a:avLst>
              <a:gd name="adj" fmla="val 195695"/>
            </a:avLst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021738" y="7224674"/>
            <a:ext cx="1218895" cy="267005"/>
          </a:xfrm>
          <a:prstGeom prst="roundRect">
            <a:avLst>
              <a:gd name="adj" fmla="val 195695"/>
            </a:avLst>
          </a:prstGeom>
          <a:solidFill>
            <a:srgbClr val="433A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666598" y="6924751"/>
            <a:ext cx="10076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Streets &amp; Safety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847088" y="6924751"/>
            <a:ext cx="12646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 Use &amp; Housing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3279953" y="6924751"/>
            <a:ext cx="12938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Transit &amp; Operations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6598" y="7263079"/>
            <a:ext cx="12838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Equity &amp; Community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116836" y="7263079"/>
            <a:ext cx="11219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&amp; Evaluation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53505" y="2866644"/>
            <a:ext cx="4800600" cy="3200400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10071202" y="8029346"/>
            <a:ext cx="1653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15-Minute City: Explainer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1261</Words>
  <Application>Microsoft Office PowerPoint</Application>
  <PresentationFormat>Widescreen</PresentationFormat>
  <Paragraphs>229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Md Haque</cp:lastModifiedBy>
  <cp:revision>1</cp:revision>
  <dcterms:created xsi:type="dcterms:W3CDTF">2025-11-11T16:20:20Z</dcterms:created>
  <dcterms:modified xsi:type="dcterms:W3CDTF">2025-11-11T16:21:34Z</dcterms:modified>
</cp:coreProperties>
</file>