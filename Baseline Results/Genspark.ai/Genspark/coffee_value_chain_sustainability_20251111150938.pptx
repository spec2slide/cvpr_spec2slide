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908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529" r="152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t="-4662" b="-4662"/>
          <a:stretch/>
        </p:blipFill>
        <p:spPr>
          <a:xfrm>
            <a:off x="1218895" y="685800"/>
            <a:ext cx="838505" cy="733349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9601200" y="5067605"/>
            <a:ext cx="761695" cy="761695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10401300" y="1371600"/>
            <a:ext cx="571500" cy="571500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2518258" y="2211934"/>
            <a:ext cx="7620610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Global Coffee Value Chain Sustainability</a:t>
            </a:r>
            <a:endParaRPr lang="en-US" sz="4800" dirty="0"/>
          </a:p>
        </p:txBody>
      </p:sp>
      <p:sp>
        <p:nvSpPr>
          <p:cNvPr id="9" name="Text 2"/>
          <p:cNvSpPr txBox="1"/>
          <p:nvPr/>
        </p:nvSpPr>
        <p:spPr>
          <a:xfrm>
            <a:off x="2327148" y="3951122"/>
            <a:ext cx="77157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From farm to cup: risks, impacts, and actions to decarbonize, protect livelihoods, and meet rising consumer expectations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71500" y="2695651"/>
            <a:ext cx="20766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Agenda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3657600"/>
            <a:ext cx="3943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Our journey through the coffee value chain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rcRect t="-1816" b="-1816"/>
          <a:stretch/>
        </p:blipFill>
        <p:spPr>
          <a:xfrm>
            <a:off x="2447849" y="1047902"/>
            <a:ext cx="1781251" cy="1476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90795" y="1714500"/>
            <a:ext cx="28346" cy="3429000"/>
          </a:xfrm>
          <a:prstGeom prst="rect">
            <a:avLst/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4000"/>
          </a:blip>
          <a:srcRect/>
          <a:stretch/>
        </p:blipFill>
        <p:spPr>
          <a:xfrm>
            <a:off x="9953244" y="4619549"/>
            <a:ext cx="1714500" cy="17145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82005" y="1886407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Origin Regions Map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010498" y="1886407"/>
            <a:ext cx="16962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 Economics (Cost/Yield)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82005" y="2628900"/>
            <a:ext cx="2220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Climate Risk Hotspots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010498" y="2628900"/>
            <a:ext cx="27057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Processing &amp; Logistics Flow (Sankey)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982005" y="3372307"/>
            <a:ext cx="2362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Certification Landscape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010498" y="3372307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Retail Margin Waterfall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982005" y="3829507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Consumer Trendlines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9010498" y="3829507"/>
            <a:ext cx="2600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LCA Results (Farm → Cup)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982005" y="4286707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Interventions &amp; ROI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010498" y="4286707"/>
            <a:ext cx="27432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Implementation Roadmap + Stakeholder Callouts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401513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Origin Regions Map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152144"/>
            <a:ext cx="3767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Coffee production spans the 'Bean Belt' (25°N–25°S), with smallholders producing the majority of arabica.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2273198"/>
            <a:ext cx="3743554" cy="3419856"/>
          </a:xfrm>
          <a:prstGeom prst="roundRect">
            <a:avLst>
              <a:gd name="adj" fmla="val 59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3095" y="2453335"/>
            <a:ext cx="1853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Top Origin Countries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3095" y="2929738"/>
            <a:ext cx="553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Brazil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3095" y="3501238"/>
            <a:ext cx="7434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Vietnam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3095" y="3958438"/>
            <a:ext cx="829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Colombia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3095" y="4301338"/>
            <a:ext cx="8485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Indonesia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3095" y="4644238"/>
            <a:ext cx="7434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Ethiopia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" y="4987138"/>
            <a:ext cx="6291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Others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591056" y="2929738"/>
            <a:ext cx="505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~37%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91056" y="3501238"/>
            <a:ext cx="476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~17%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91056" y="3958438"/>
            <a:ext cx="428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~8%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91056" y="4301338"/>
            <a:ext cx="419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~7%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591056" y="4644238"/>
            <a:ext cx="428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~4%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91056" y="5101438"/>
            <a:ext cx="505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~27%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42946" y="2825496"/>
            <a:ext cx="133502" cy="133502"/>
          </a:xfrm>
          <a:prstGeom prst="ellipse">
            <a:avLst/>
          </a:prstGeom>
          <a:solidFill>
            <a:srgbClr val="4573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42946" y="3968496"/>
            <a:ext cx="133502" cy="133502"/>
          </a:xfrm>
          <a:prstGeom prst="ellipse">
            <a:avLst/>
          </a:prstGeom>
          <a:solidFill>
            <a:srgbClr val="4573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42946" y="4654296"/>
            <a:ext cx="133502" cy="133502"/>
          </a:xfrm>
          <a:prstGeom prst="ellipse">
            <a:avLst/>
          </a:prstGeom>
          <a:solidFill>
            <a:srgbClr val="4573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542946" y="2815438"/>
            <a:ext cx="9436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Arabica-dominant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542946" y="3386938"/>
            <a:ext cx="9912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Robusta-dominant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734056" y="3958438"/>
            <a:ext cx="676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Arabica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734056" y="4301338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Robusta/Arabica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34056" y="4644238"/>
            <a:ext cx="676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Arabica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734056" y="5101438"/>
            <a:ext cx="553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Mixed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42946" y="3396996"/>
            <a:ext cx="133502" cy="133502"/>
          </a:xfrm>
          <a:prstGeom prst="ellipse">
            <a:avLst/>
          </a:prstGeom>
          <a:solidFill>
            <a:srgbClr val="5BB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33095" y="4987138"/>
            <a:ext cx="9628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(50+ origins)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81305" y="5864047"/>
            <a:ext cx="36630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787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Shares are indicative averages; actuals vary by harvest year.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15054" y="381305"/>
            <a:ext cx="7496251" cy="6096305"/>
          </a:xfrm>
          <a:prstGeom prst="roundRect">
            <a:avLst>
              <a:gd name="adj" fmla="val 187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830007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5529377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Farm Economics: Cost/Yield Breakdown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752905"/>
            <a:ext cx="563453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Illustrative per kg green coffee (USD, 2024) for a rainfed, mid-altitude arabica smallholder.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2442362"/>
            <a:ext cx="5619902" cy="685800"/>
          </a:xfrm>
          <a:prstGeom prst="rect">
            <a:avLst/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305" y="2442362"/>
            <a:ext cx="38405" cy="685800"/>
          </a:xfrm>
          <a:prstGeom prst="rect">
            <a:avLst/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" y="2585009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3095" y="2575865"/>
            <a:ext cx="52962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Smallholder arabica farmers operate with thin margins of $0.27 per kg (11% of farmgate price)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1305" y="3280867"/>
            <a:ext cx="5619902" cy="3810305"/>
          </a:xfrm>
          <a:prstGeom prst="roundRect">
            <a:avLst>
              <a:gd name="adj" fmla="val 480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381305" y="3280867"/>
            <a:ext cx="5619902" cy="38103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1305" y="7262165"/>
            <a:ext cx="5625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787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Values vary widely by altitude, farm size, input prices, and certification participation.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6482" b="6482"/>
          <a:stretch/>
        </p:blipFill>
        <p:spPr>
          <a:xfrm>
            <a:off x="6191402" y="381305"/>
            <a:ext cx="5619902" cy="26673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91402" y="3276295"/>
            <a:ext cx="5619902" cy="4172407"/>
          </a:xfrm>
          <a:prstGeom prst="roundRect">
            <a:avLst>
              <a:gd name="adj" fmla="val 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6344107" y="3471977"/>
            <a:ext cx="133502" cy="1719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76695" y="3429000"/>
            <a:ext cx="15764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Yield Metrics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344107" y="4105656"/>
            <a:ext cx="5315407" cy="9144"/>
          </a:xfrm>
          <a:prstGeom prst="rect">
            <a:avLst/>
          </a:prstGeom>
          <a:solidFill>
            <a:srgbClr val="F0E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344107" y="4515307"/>
            <a:ext cx="5315407" cy="9144"/>
          </a:xfrm>
          <a:prstGeom prst="rect">
            <a:avLst/>
          </a:prstGeom>
          <a:solidFill>
            <a:srgbClr val="F0E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344107" y="4924958"/>
            <a:ext cx="5315407" cy="9144"/>
          </a:xfrm>
          <a:prstGeom prst="rect">
            <a:avLst/>
          </a:prstGeom>
          <a:solidFill>
            <a:srgbClr val="F0E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344107" y="5334610"/>
            <a:ext cx="5315407" cy="9144"/>
          </a:xfrm>
          <a:prstGeom prst="rect">
            <a:avLst/>
          </a:prstGeom>
          <a:solidFill>
            <a:srgbClr val="F0E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344107" y="5744261"/>
            <a:ext cx="5315407" cy="9144"/>
          </a:xfrm>
          <a:prstGeom prst="rect">
            <a:avLst/>
          </a:prstGeom>
          <a:solidFill>
            <a:srgbClr val="F0EB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6344107" y="3819449"/>
            <a:ext cx="1429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Trees per hectare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344107" y="4229100"/>
            <a:ext cx="1524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Green yield (kg/ha)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344107" y="4638751"/>
            <a:ext cx="1762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Annual revenue ($/ha)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344107" y="5048402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Annual cost ($/ha)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344107" y="5458054"/>
            <a:ext cx="1677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Annual margin ($/ha)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344107" y="5867705"/>
            <a:ext cx="1248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Margin per tree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266322" y="3819449"/>
            <a:ext cx="514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1,600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1377879" y="4229100"/>
            <a:ext cx="400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700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1196828" y="4638751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$1,750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1212373" y="5048402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$1,561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11309299" y="5458054"/>
            <a:ext cx="4672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$189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1287354" y="5867705"/>
            <a:ext cx="486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$0.12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20049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266273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Climate Risk Hotspots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752905"/>
            <a:ext cx="31290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Rising temperatures and changing precipitation patterns threaten coffee suitability across the Bean Belt.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2681935"/>
            <a:ext cx="3743554" cy="2048256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3095" y="2862986"/>
            <a:ext cx="11384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Risk Drivers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" y="3205886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25089"/>
            <a:ext cx="285750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Rising temperatures shifting suitable altitude (~300 m per °C)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095" y="3739896"/>
            <a:ext cx="152705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759098"/>
            <a:ext cx="2895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Rainfall variability and drought stress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4044391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5800" y="4063594"/>
            <a:ext cx="30486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Pest/disease pressure (coffee leaf rust, berry borer)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81305" y="4958791"/>
            <a:ext cx="3743554" cy="733349"/>
          </a:xfrm>
          <a:prstGeom prst="roundRect">
            <a:avLst>
              <a:gd name="adj" fmla="val 129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381305" y="5806440"/>
            <a:ext cx="3743554" cy="733349"/>
          </a:xfrm>
          <a:prstGeom prst="roundRect">
            <a:avLst>
              <a:gd name="adj" fmla="val 129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81305" y="6654089"/>
            <a:ext cx="3743554" cy="733349"/>
          </a:xfrm>
          <a:prstGeom prst="roundRect">
            <a:avLst>
              <a:gd name="adj" fmla="val 129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381305" y="7501738"/>
            <a:ext cx="3743554" cy="733349"/>
          </a:xfrm>
          <a:prstGeom prst="roundRect">
            <a:avLst>
              <a:gd name="adj" fmla="val 129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495605" y="5092294"/>
            <a:ext cx="2553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Central America (1,000–1,600 m)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95605" y="5939942"/>
            <a:ext cx="1505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Ethiopia highlands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95605" y="6787591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Brazil (Minas Gerais)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95605" y="7635240"/>
            <a:ext cx="2124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Vietnam Central Highlands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337560" y="5082235"/>
            <a:ext cx="676656" cy="209398"/>
          </a:xfrm>
          <a:prstGeom prst="roundRect">
            <a:avLst>
              <a:gd name="adj" fmla="val 238189"/>
            </a:avLst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3138221" y="5930798"/>
            <a:ext cx="875995" cy="209398"/>
          </a:xfrm>
          <a:prstGeom prst="roundRect">
            <a:avLst>
              <a:gd name="adj" fmla="val 238189"/>
            </a:avLst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337560" y="6778447"/>
            <a:ext cx="676656" cy="209398"/>
          </a:xfrm>
          <a:prstGeom prst="roundRect">
            <a:avLst>
              <a:gd name="adj" fmla="val 238189"/>
            </a:avLst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059582" y="7626096"/>
            <a:ext cx="952805" cy="209398"/>
          </a:xfrm>
          <a:prstGeom prst="roundRect">
            <a:avLst>
              <a:gd name="adj" fmla="val 238189"/>
            </a:avLst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3414370" y="5120640"/>
            <a:ext cx="6099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High Risk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3215030" y="5968289"/>
            <a:ext cx="810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3414370" y="6815938"/>
            <a:ext cx="6099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High Risk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3136392" y="7663586"/>
            <a:ext cx="8860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Very High Risk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495605" y="5396789"/>
            <a:ext cx="33393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Rust resurgence, drought; suitability loss by 2050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495605" y="6244438"/>
            <a:ext cx="3510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Suitability migration upslope; biodiversity trade-offs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95605" y="7092086"/>
            <a:ext cx="35963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Heat waves, irregular rainfall; irrigation demand rising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495605" y="7939735"/>
            <a:ext cx="30723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Water scarcity; robusta heat tolerance tested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315054" y="381305"/>
            <a:ext cx="7496251" cy="2857500"/>
          </a:xfrm>
          <a:prstGeom prst="roundRect">
            <a:avLst>
              <a:gd name="adj" fmla="val 853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315054" y="3467405"/>
            <a:ext cx="7496251" cy="4772254"/>
          </a:xfrm>
          <a:prstGeom prst="roundRect">
            <a:avLst>
              <a:gd name="adj" fmla="val 306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86446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714877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Processing &amp; Logistics Flow (Sankey)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152144"/>
            <a:ext cx="101681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Mass flow baseline: From 100 units cherries → ~20 units green → ~17 units roasted → ~16 units sold. Showing transformation, yield loss, and key value chain handoffs.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2032711"/>
            <a:ext cx="2095805" cy="190469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3095" y="2203704"/>
            <a:ext cx="1353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Energy Hotspots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533095" y="2642616"/>
            <a:ext cx="133502" cy="152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1305" y="4090111"/>
            <a:ext cx="2095805" cy="2076602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19302" y="2546604"/>
            <a:ext cx="12627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Roasting (thermal energy)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533095" y="3033065"/>
            <a:ext cx="19019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3095" y="4261104"/>
            <a:ext cx="1286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Loss Points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19302" y="3037637"/>
            <a:ext cx="13962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Brewing (consumer)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533095" y="3423514"/>
            <a:ext cx="171907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9302" y="3328416"/>
            <a:ext cx="13670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Ocean freight (if air freight avoided)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533095" y="4700016"/>
            <a:ext cx="114300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19302" y="4604004"/>
            <a:ext cx="15764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Wet mill: ~60% (cherry pulp)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533095" y="5175504"/>
            <a:ext cx="114300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19302" y="5080406"/>
            <a:ext cx="10625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Roasting: ~14% (moisture)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533095" y="5651906"/>
            <a:ext cx="114300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19302" y="5556809"/>
            <a:ext cx="14721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QC/Distribution: ~3% (quality rejects)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2667305" y="2032711"/>
            <a:ext cx="9144000" cy="4572000"/>
          </a:xfrm>
          <a:prstGeom prst="roundRect">
            <a:avLst>
              <a:gd name="adj" fmla="val 333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667305" y="2032711"/>
            <a:ext cx="9144000" cy="457200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3538728" y="6794906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 txBox="1"/>
          <p:nvPr/>
        </p:nvSpPr>
        <p:spPr>
          <a:xfrm>
            <a:off x="3748126" y="6775704"/>
            <a:ext cx="13624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Farm/Processing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5387645" y="6775704"/>
            <a:ext cx="1552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Logistics/Transport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7217359" y="6775704"/>
            <a:ext cx="13624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Retail/Consumer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5178247" y="6794906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4573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7007962" y="6794906"/>
            <a:ext cx="152705" cy="152705"/>
          </a:xfrm>
          <a:prstGeom prst="roundRect">
            <a:avLst>
              <a:gd name="adj" fmla="val 149700"/>
            </a:avLst>
          </a:prstGeom>
          <a:solidFill>
            <a:srgbClr val="7777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 txBox="1"/>
          <p:nvPr/>
        </p:nvSpPr>
        <p:spPr>
          <a:xfrm>
            <a:off x="2750515" y="7118604"/>
            <a:ext cx="67967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787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Percentages are illustrative; actuals vary by origin, processing method, and supply chain configuration.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583851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471098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Certification Landscape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152144"/>
            <a:ext cx="8196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Various certification schemes with different focuses and requirements across the coffee value chain.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1888236"/>
            <a:ext cx="4457700" cy="2857500"/>
          </a:xfrm>
          <a:prstGeom prst="roundRect">
            <a:avLst>
              <a:gd name="adj" fmla="val 853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533095" y="2040026"/>
            <a:ext cx="4153205" cy="2553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1305" y="4955134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Fairtrade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81305" y="6264554"/>
            <a:ext cx="2000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Rainforest Alliance (UTZ)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1305" y="7573975"/>
            <a:ext cx="685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Organic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1305" y="5221224"/>
            <a:ext cx="1485900" cy="267005"/>
          </a:xfrm>
          <a:prstGeom prst="roundRect">
            <a:avLst>
              <a:gd name="adj" fmla="val 48924"/>
            </a:avLst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915668" y="5221224"/>
            <a:ext cx="972007" cy="267005"/>
          </a:xfrm>
          <a:prstGeom prst="roundRect">
            <a:avLst>
              <a:gd name="adj" fmla="val 48924"/>
            </a:avLst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81305" y="6531559"/>
            <a:ext cx="857707" cy="267005"/>
          </a:xfrm>
          <a:prstGeom prst="roundRect">
            <a:avLst>
              <a:gd name="adj" fmla="val 48924"/>
            </a:avLst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287475" y="6531559"/>
            <a:ext cx="1638605" cy="267005"/>
          </a:xfrm>
          <a:prstGeom prst="roundRect">
            <a:avLst>
              <a:gd name="adj" fmla="val 48924"/>
            </a:avLst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81305" y="7840980"/>
            <a:ext cx="1343254" cy="267005"/>
          </a:xfrm>
          <a:prstGeom prst="roundRect">
            <a:avLst>
              <a:gd name="adj" fmla="val 48924"/>
            </a:avLst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57200" y="5278831"/>
            <a:ext cx="14264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Price floor + premium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991563" y="5278831"/>
            <a:ext cx="9125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Worker rights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88252"/>
            <a:ext cx="7982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Biodiversity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363370" y="6588252"/>
            <a:ext cx="15791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Climate-smart practices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7898587"/>
            <a:ext cx="12838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synthetic inputs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81305" y="5617159"/>
            <a:ext cx="1762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Traceability: Batch/lot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81305" y="5845759"/>
            <a:ext cx="3115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Deforestation free: Increasingly required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81305" y="6926580"/>
            <a:ext cx="2477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Traceability: Mass balance or IP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81305" y="7155180"/>
            <a:ext cx="2486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Deforestation free: Yes (criteria)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81305" y="8236001"/>
            <a:ext cx="2162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Traceability: Certified chain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81305" y="8464601"/>
            <a:ext cx="3191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Deforestation free: Implicit, not universal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81305" y="9036101"/>
            <a:ext cx="44631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787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Schemes evolve; many buyers blend certifications with proprietary supplier requirements.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124298" y="1888236"/>
            <a:ext cx="6819595" cy="20306995"/>
          </a:xfrm>
          <a:prstGeom prst="roundRect">
            <a:avLst>
              <a:gd name="adj" fmla="val 150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277002" y="2069287"/>
            <a:ext cx="2919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Certification Criteria Comparison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277002" y="3097987"/>
            <a:ext cx="905256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174943" y="3097987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552944" y="3097987"/>
            <a:ext cx="111465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8662111" y="3097987"/>
            <a:ext cx="685800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345168" y="3097987"/>
            <a:ext cx="1333195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677449" y="3097987"/>
            <a:ext cx="111465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391302" y="2659075"/>
            <a:ext cx="715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Scheme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526987" y="2544775"/>
            <a:ext cx="790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Price/ Premium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7667244" y="2659075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Biodiversity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8776411" y="2659075"/>
            <a:ext cx="571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Social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9459468" y="2544775"/>
            <a:ext cx="12289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Deforestation-free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0791749" y="2659075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277002" y="6808622"/>
            <a:ext cx="905256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277002" y="10965485"/>
            <a:ext cx="905256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5277002" y="14442034"/>
            <a:ext cx="905256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277002" y="18147182"/>
            <a:ext cx="905256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5391302" y="4861865"/>
            <a:ext cx="790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Fairtrade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5391302" y="8798357"/>
            <a:ext cx="685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RA/UTZ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5391302" y="12617806"/>
            <a:ext cx="685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Organic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5391302" y="16208654"/>
            <a:ext cx="314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4C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391302" y="19892772"/>
            <a:ext cx="57150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Direct Trade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174943" y="3792931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6174943" y="4716475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174943" y="5412334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6174943" y="6107278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6174943" y="6803136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6174943" y="7498080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6174943" y="8421624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6174943" y="9117482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6174943" y="10041026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6174943" y="10965485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6174943" y="11660429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6174943" y="12356287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6174943" y="13051231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6174943" y="13746175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6174943" y="14442034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6174943" y="15136978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6174943" y="16061436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6174943" y="16756380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6174943" y="17451324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6174943" y="18147182"/>
            <a:ext cx="1380744" cy="9144"/>
          </a:xfrm>
          <a:prstGeom prst="rect">
            <a:avLst/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 txBox="1"/>
          <p:nvPr/>
        </p:nvSpPr>
        <p:spPr>
          <a:xfrm>
            <a:off x="6291072" y="3240634"/>
            <a:ext cx="12673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Price floor plus social premium</a:t>
            </a:r>
            <a:endParaRPr lang="en-US" sz="1200" dirty="0"/>
          </a:p>
        </p:txBody>
      </p:sp>
      <p:sp>
        <p:nvSpPr>
          <p:cNvPr id="71" name="Text 68"/>
          <p:cNvSpPr txBox="1"/>
          <p:nvPr/>
        </p:nvSpPr>
        <p:spPr>
          <a:xfrm>
            <a:off x="6329477" y="3935578"/>
            <a:ext cx="1191463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Basic environmental standards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6402629" y="4860036"/>
            <a:ext cx="10387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Strong labor protections</a:t>
            </a:r>
            <a:endParaRPr lang="en-US" sz="1200" dirty="0"/>
          </a:p>
        </p:txBody>
      </p:sp>
      <p:sp>
        <p:nvSpPr>
          <p:cNvPr id="73" name="Text 70"/>
          <p:cNvSpPr txBox="1"/>
          <p:nvPr/>
        </p:nvSpPr>
        <p:spPr>
          <a:xfrm>
            <a:off x="6426403" y="5554980"/>
            <a:ext cx="9912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Increasingly required</a:t>
            </a:r>
            <a:endParaRPr lang="en-US" sz="1200" dirty="0"/>
          </a:p>
        </p:txBody>
      </p:sp>
      <p:sp>
        <p:nvSpPr>
          <p:cNvPr id="74" name="Text 71"/>
          <p:cNvSpPr txBox="1"/>
          <p:nvPr/>
        </p:nvSpPr>
        <p:spPr>
          <a:xfrm>
            <a:off x="6318504" y="6249924"/>
            <a:ext cx="12097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Batch/lot level traceability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6347765" y="6945782"/>
            <a:ext cx="11530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Market-based premium</a:t>
            </a:r>
            <a:endParaRPr lang="en-US" sz="1200" dirty="0"/>
          </a:p>
        </p:txBody>
      </p:sp>
      <p:sp>
        <p:nvSpPr>
          <p:cNvPr id="76" name="Text 73"/>
          <p:cNvSpPr txBox="1"/>
          <p:nvPr/>
        </p:nvSpPr>
        <p:spPr>
          <a:xfrm>
            <a:off x="6466637" y="7640726"/>
            <a:ext cx="9144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Extensive ecosystem criteria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6289243" y="8565185"/>
            <a:ext cx="12673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Comprehensive social criteria</a:t>
            </a:r>
            <a:endParaRPr lang="en-US" sz="1200" dirty="0"/>
          </a:p>
        </p:txBody>
      </p:sp>
      <p:sp>
        <p:nvSpPr>
          <p:cNvPr id="78" name="Text 75"/>
          <p:cNvSpPr txBox="1"/>
          <p:nvPr/>
        </p:nvSpPr>
        <p:spPr>
          <a:xfrm>
            <a:off x="6365138" y="9260129"/>
            <a:ext cx="1114654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Strong deforestation criteria</a:t>
            </a:r>
            <a:endParaRPr lang="en-US" sz="1200" dirty="0"/>
          </a:p>
        </p:txBody>
      </p:sp>
      <p:sp>
        <p:nvSpPr>
          <p:cNvPr id="79" name="Text 76"/>
          <p:cNvSpPr txBox="1"/>
          <p:nvPr/>
        </p:nvSpPr>
        <p:spPr>
          <a:xfrm>
            <a:off x="6358738" y="10184587"/>
            <a:ext cx="1133856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Mass balance or identity preserved</a:t>
            </a:r>
            <a:endParaRPr lang="en-US" sz="1200" dirty="0"/>
          </a:p>
        </p:txBody>
      </p:sp>
      <p:sp>
        <p:nvSpPr>
          <p:cNvPr id="80" name="Text 77"/>
          <p:cNvSpPr txBox="1"/>
          <p:nvPr/>
        </p:nvSpPr>
        <p:spPr>
          <a:xfrm>
            <a:off x="6347765" y="11108131"/>
            <a:ext cx="11530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Market-based premium only</a:t>
            </a:r>
            <a:endParaRPr lang="en-US" sz="1200" dirty="0"/>
          </a:p>
        </p:txBody>
      </p:sp>
      <p:sp>
        <p:nvSpPr>
          <p:cNvPr id="81" name="Text 78"/>
          <p:cNvSpPr txBox="1"/>
          <p:nvPr/>
        </p:nvSpPr>
        <p:spPr>
          <a:xfrm>
            <a:off x="6342278" y="11803075"/>
            <a:ext cx="11622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Through input restrictions</a:t>
            </a:r>
            <a:endParaRPr lang="en-US" sz="1200" dirty="0"/>
          </a:p>
        </p:txBody>
      </p:sp>
      <p:sp>
        <p:nvSpPr>
          <p:cNvPr id="82" name="Text 79"/>
          <p:cNvSpPr txBox="1"/>
          <p:nvPr/>
        </p:nvSpPr>
        <p:spPr>
          <a:xfrm>
            <a:off x="6340450" y="12498934"/>
            <a:ext cx="11622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Limited social criteria</a:t>
            </a:r>
            <a:endParaRPr lang="en-US" sz="1200" dirty="0"/>
          </a:p>
        </p:txBody>
      </p:sp>
      <p:sp>
        <p:nvSpPr>
          <p:cNvPr id="83" name="Text 80"/>
          <p:cNvSpPr txBox="1"/>
          <p:nvPr/>
        </p:nvSpPr>
        <p:spPr>
          <a:xfrm>
            <a:off x="6379769" y="13193878"/>
            <a:ext cx="10863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Implicit but not universal</a:t>
            </a:r>
            <a:endParaRPr lang="en-US" sz="1200" dirty="0"/>
          </a:p>
        </p:txBody>
      </p:sp>
      <p:sp>
        <p:nvSpPr>
          <p:cNvPr id="84" name="Text 81"/>
          <p:cNvSpPr txBox="1"/>
          <p:nvPr/>
        </p:nvSpPr>
        <p:spPr>
          <a:xfrm>
            <a:off x="6394399" y="13889736"/>
            <a:ext cx="10579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Full certified chain</a:t>
            </a:r>
            <a:endParaRPr lang="en-US" sz="1200" dirty="0"/>
          </a:p>
        </p:txBody>
      </p:sp>
      <p:sp>
        <p:nvSpPr>
          <p:cNvPr id="85" name="Text 82"/>
          <p:cNvSpPr txBox="1"/>
          <p:nvPr/>
        </p:nvSpPr>
        <p:spPr>
          <a:xfrm>
            <a:off x="6426403" y="14584680"/>
            <a:ext cx="9912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required premium</a:t>
            </a:r>
            <a:endParaRPr lang="en-US" sz="1200" dirty="0"/>
          </a:p>
        </p:txBody>
      </p:sp>
      <p:sp>
        <p:nvSpPr>
          <p:cNvPr id="86" name="Text 83"/>
          <p:cNvSpPr txBox="1"/>
          <p:nvPr/>
        </p:nvSpPr>
        <p:spPr>
          <a:xfrm>
            <a:off x="6366053" y="15279624"/>
            <a:ext cx="1114654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Basic requirements only</a:t>
            </a:r>
            <a:endParaRPr lang="en-US" sz="1200" dirty="0"/>
          </a:p>
        </p:txBody>
      </p:sp>
      <p:sp>
        <p:nvSpPr>
          <p:cNvPr id="87" name="Text 84"/>
          <p:cNvSpPr txBox="1"/>
          <p:nvPr/>
        </p:nvSpPr>
        <p:spPr>
          <a:xfrm>
            <a:off x="6426403" y="16204082"/>
            <a:ext cx="9912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Basic social standards</a:t>
            </a:r>
            <a:endParaRPr lang="en-US" sz="1200" dirty="0"/>
          </a:p>
        </p:txBody>
      </p:sp>
      <p:sp>
        <p:nvSpPr>
          <p:cNvPr id="88" name="Text 85"/>
          <p:cNvSpPr txBox="1"/>
          <p:nvPr/>
        </p:nvSpPr>
        <p:spPr>
          <a:xfrm>
            <a:off x="6552590" y="16899026"/>
            <a:ext cx="7434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Baseline checks</a:t>
            </a:r>
            <a:endParaRPr lang="en-US" sz="1200" dirty="0"/>
          </a:p>
        </p:txBody>
      </p:sp>
      <p:sp>
        <p:nvSpPr>
          <p:cNvPr id="89" name="Text 86"/>
          <p:cNvSpPr txBox="1"/>
          <p:nvPr/>
        </p:nvSpPr>
        <p:spPr>
          <a:xfrm>
            <a:off x="6358738" y="17594885"/>
            <a:ext cx="11338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Mass balance approach</a:t>
            </a:r>
            <a:endParaRPr lang="en-US" sz="1200" dirty="0"/>
          </a:p>
        </p:txBody>
      </p:sp>
      <p:sp>
        <p:nvSpPr>
          <p:cNvPr id="90" name="Text 87"/>
          <p:cNvSpPr txBox="1"/>
          <p:nvPr/>
        </p:nvSpPr>
        <p:spPr>
          <a:xfrm>
            <a:off x="6342278" y="18289829"/>
            <a:ext cx="116220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Quality-based premiums common</a:t>
            </a:r>
            <a:endParaRPr lang="en-US" sz="1200" dirty="0"/>
          </a:p>
        </p:txBody>
      </p:sp>
      <p:sp>
        <p:nvSpPr>
          <p:cNvPr id="91" name="Text 88"/>
          <p:cNvSpPr txBox="1"/>
          <p:nvPr/>
        </p:nvSpPr>
        <p:spPr>
          <a:xfrm>
            <a:off x="6295644" y="19204229"/>
            <a:ext cx="125730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Varies by buyer policy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6366967" y="19890029"/>
            <a:ext cx="11146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Relationship-focused</a:t>
            </a:r>
            <a:endParaRPr lang="en-US" sz="1200" dirty="0"/>
          </a:p>
        </p:txBody>
      </p:sp>
      <p:sp>
        <p:nvSpPr>
          <p:cNvPr id="93" name="Text 90"/>
          <p:cNvSpPr txBox="1"/>
          <p:nvPr/>
        </p:nvSpPr>
        <p:spPr>
          <a:xfrm>
            <a:off x="6410858" y="20575829"/>
            <a:ext cx="102870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Buyer policy dependent</a:t>
            </a:r>
            <a:endParaRPr lang="en-US" sz="1200" dirty="0"/>
          </a:p>
        </p:txBody>
      </p:sp>
      <p:sp>
        <p:nvSpPr>
          <p:cNvPr id="94" name="Text 91"/>
          <p:cNvSpPr txBox="1"/>
          <p:nvPr/>
        </p:nvSpPr>
        <p:spPr>
          <a:xfrm>
            <a:off x="6376111" y="21261629"/>
            <a:ext cx="1095451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Often strong, non-standardized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287354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2833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Retail Margin Waterfall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752905"/>
            <a:ext cx="373898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Example breakdown of a $15 retail price for a 12-oz bag of specialty coffee.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2632558"/>
            <a:ext cx="3886200" cy="7715707"/>
          </a:xfrm>
          <a:prstGeom prst="roundRect">
            <a:avLst>
              <a:gd name="adj" fmla="val 4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3095" y="2813609"/>
            <a:ext cx="1681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Price Components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3095" y="3194914"/>
            <a:ext cx="1562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Supply Chain Costs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3095" y="6833311"/>
            <a:ext cx="12097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Duties &amp; Taxes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3095" y="7499909"/>
            <a:ext cx="705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Margins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3095" y="9252814"/>
            <a:ext cx="3581705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33095" y="3499409"/>
            <a:ext cx="1752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Farmer net (farmgate)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" y="3803904"/>
            <a:ext cx="144841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Local processing/export fees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3095" y="4566514"/>
            <a:ext cx="13908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International freight/insurance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" y="5099609"/>
            <a:ext cx="17437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Roasting energy/labor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3095" y="5404104"/>
            <a:ext cx="17913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Roaster overhead/depreciation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" y="5938114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Packaging &amp; labels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3095" y="6242609"/>
            <a:ext cx="16102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Domestic freight/warehousing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3095" y="7137806"/>
            <a:ext cx="1057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Duties/taxes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" y="7804404"/>
            <a:ext cx="12390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Importer margin/finance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" y="8338414"/>
            <a:ext cx="13624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Brand/marketing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3095" y="8642909"/>
            <a:ext cx="1248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Retailer margin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3095" y="8947404"/>
            <a:ext cx="1543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Roaster net margin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582266" y="3499409"/>
            <a:ext cx="505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$1.20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552090" y="4032504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$0.50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551176" y="4680814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$0.30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82266" y="5099609"/>
            <a:ext cx="505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$1.20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549347" y="5518404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$0.60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627986" y="5938114"/>
            <a:ext cx="457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$1.10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570378" y="6356909"/>
            <a:ext cx="514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$0.70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546604" y="7137806"/>
            <a:ext cx="543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$0.40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549347" y="7918704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$0.60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546604" y="8338414"/>
            <a:ext cx="543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$0.80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545690" y="8642909"/>
            <a:ext cx="543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$4.80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549347" y="8947404"/>
            <a:ext cx="534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$2.80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61411" y="3527755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061411" y="4061765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061411" y="4709160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061411" y="5127955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061411" y="5547665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061411" y="5966460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061411" y="6385255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061411" y="7167067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C44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061411" y="7947965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2F48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061411" y="8366760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2F48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061411" y="8671255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2F48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061411" y="8976665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2F48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533095" y="9376258"/>
            <a:ext cx="9912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Retail Price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2475281" y="9376258"/>
            <a:ext cx="609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$15.00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61411" y="9404604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33095" y="9776765"/>
            <a:ext cx="3581705" cy="418795"/>
          </a:xfrm>
          <a:prstGeom prst="rect">
            <a:avLst/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33095" y="9776765"/>
            <a:ext cx="38405" cy="418795"/>
          </a:xfrm>
          <a:prstGeom prst="rect">
            <a:avLst/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5002" y="9900209"/>
            <a:ext cx="152705" cy="152705"/>
          </a:xfrm>
          <a:prstGeom prst="rect">
            <a:avLst/>
          </a:prstGeom>
        </p:spPr>
      </p:pic>
      <p:sp>
        <p:nvSpPr>
          <p:cNvPr id="53" name="Text 50"/>
          <p:cNvSpPr txBox="1"/>
          <p:nvPr/>
        </p:nvSpPr>
        <p:spPr>
          <a:xfrm>
            <a:off x="857707" y="9891065"/>
            <a:ext cx="2743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Farmgate share of retail price: ~8%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381305" y="10519258"/>
            <a:ext cx="39767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787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Illustrative; varies by channel (DTC vs grocery), volume, and origin.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547311" y="381305"/>
            <a:ext cx="7267651" cy="10134295"/>
          </a:xfrm>
          <a:prstGeom prst="roundRect">
            <a:avLst>
              <a:gd name="adj" fmla="val 132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47311" y="381305"/>
            <a:ext cx="7267651" cy="10125151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4547311" y="10667390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 txBox="1"/>
          <p:nvPr/>
        </p:nvSpPr>
        <p:spPr>
          <a:xfrm>
            <a:off x="4719218" y="10643616"/>
            <a:ext cx="13670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Supply Chain Costs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6306617" y="10643616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Margins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7129577" y="10643616"/>
            <a:ext cx="4626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Taxes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6134710" y="10667390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2F485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6957670" y="10667390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C44E5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67905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231983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Consumer Trendlines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752905"/>
            <a:ext cx="379658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Coffee consumption patterns show shifting preferences toward specialty offerings, ready-to-drink formats, and eco-conscious choices.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2873045"/>
            <a:ext cx="3743554" cy="3390595"/>
          </a:xfrm>
          <a:prstGeom prst="roundRect">
            <a:avLst>
              <a:gd name="adj" fmla="val 6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3095" y="3054096"/>
            <a:ext cx="16907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Market Trends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533095" y="3444545"/>
            <a:ext cx="171907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0100" y="3416198"/>
            <a:ext cx="247893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Specialty coffee share rising +2–3 percentage points over 5 years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533095" y="3987698"/>
            <a:ext cx="95098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00100" y="3958438"/>
            <a:ext cx="301294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Ready-to-Drink (RTD) category growing at ~8–10% CAGR globally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4529938"/>
            <a:ext cx="152705" cy="152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0100" y="4501591"/>
            <a:ext cx="300289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Eco-label purchase intent increased ~+12 percentage points since 2018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533095" y="5073091"/>
            <a:ext cx="171907" cy="152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00100" y="5044745"/>
            <a:ext cx="325069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At-home brewing upgrades post-2020; higher grinder/espresso machine penetration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095" y="5616245"/>
            <a:ext cx="152705" cy="1527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0100" y="5587898"/>
            <a:ext cx="32607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Plant-based milks in coffee showing double-digit growth; sustainability often cited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81305" y="6453835"/>
            <a:ext cx="3743554" cy="629107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381305" y="6453835"/>
            <a:ext cx="38405" cy="629107"/>
          </a:xfrm>
          <a:prstGeom prst="rect">
            <a:avLst/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 txBox="1"/>
          <p:nvPr/>
        </p:nvSpPr>
        <p:spPr>
          <a:xfrm>
            <a:off x="571500" y="6587338"/>
            <a:ext cx="34719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Price Sensitivity Note: At-home demand elasticity ≈ -0.6; out-of-home ≈ -1.1 (indicative)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315054" y="381305"/>
            <a:ext cx="7496251" cy="4419295"/>
          </a:xfrm>
          <a:prstGeom prst="roundRect">
            <a:avLst>
              <a:gd name="adj" fmla="val 357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4315054" y="381305"/>
            <a:ext cx="7496251" cy="4419295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t="24365" b="24365"/>
          <a:stretch/>
        </p:blipFill>
        <p:spPr>
          <a:xfrm>
            <a:off x="4315054" y="4990795"/>
            <a:ext cx="7496251" cy="209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582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909187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Life Cycle Assessment (LCA): From Farm to Cup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152144"/>
            <a:ext cx="77010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Analysis of greenhouse gas emissions and environmental impact across the coffee value chain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1792224"/>
            <a:ext cx="3715207" cy="2276856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3095" y="1973275"/>
            <a:ext cx="2595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GHG Intensity by Coffee Type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3095" y="2449678"/>
            <a:ext cx="1067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Black Coffee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3095" y="2983687"/>
            <a:ext cx="1248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With 30ml Milk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3095" y="3516782"/>
            <a:ext cx="14859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Latte (200ml Milk)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91002" y="2335378"/>
            <a:ext cx="7050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≈0.21 kg CO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76295" y="2563978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91002" y="2869387"/>
            <a:ext cx="7434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≈0.34 kg CO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76295" y="3097987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91002" y="3402482"/>
            <a:ext cx="7434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≈0.90 kg CO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76295" y="3631082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08630" y="2630729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208630" y="3163824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08630" y="3697834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81305" y="4469587"/>
            <a:ext cx="2772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Functional Unit &amp; System Boundary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81305" y="4774082"/>
            <a:ext cx="37581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One 250 ml cup of black coffee. Analysis covers farm inputs, processing, transport, roasting, packaging, retail, brewing, and end-of-life.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1305" y="5564124"/>
            <a:ext cx="1933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Black Coffee Breakdown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1305" y="5792724"/>
            <a:ext cx="12911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Farm/Inputs/Land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81305" y="6050585"/>
            <a:ext cx="6620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81305" y="6307531"/>
            <a:ext cx="7479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Packaging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81305" y="6564478"/>
            <a:ext cx="7287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81305" y="6821424"/>
            <a:ext cx="11576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Retail/Last-mile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81305" y="7079285"/>
            <a:ext cx="1329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Consumer Brewing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579522" y="5792724"/>
            <a:ext cx="3858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45%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659075" y="6050585"/>
            <a:ext cx="300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6%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659075" y="6307531"/>
            <a:ext cx="300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6%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662733" y="6564478"/>
            <a:ext cx="300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661818" y="6821424"/>
            <a:ext cx="300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3%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584094" y="7079285"/>
            <a:ext cx="376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52598" y="5826557"/>
            <a:ext cx="1143000" cy="95098"/>
          </a:xfrm>
          <a:prstGeom prst="roundRect">
            <a:avLst>
              <a:gd name="adj" fmla="val 480767"/>
            </a:avLst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952598" y="6083503"/>
            <a:ext cx="1143000" cy="95098"/>
          </a:xfrm>
          <a:prstGeom prst="roundRect">
            <a:avLst>
              <a:gd name="adj" fmla="val 480767"/>
            </a:avLst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52598" y="6340450"/>
            <a:ext cx="1143000" cy="95098"/>
          </a:xfrm>
          <a:prstGeom prst="roundRect">
            <a:avLst>
              <a:gd name="adj" fmla="val 480767"/>
            </a:avLst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52598" y="6598310"/>
            <a:ext cx="1143000" cy="95098"/>
          </a:xfrm>
          <a:prstGeom prst="roundRect">
            <a:avLst>
              <a:gd name="adj" fmla="val 480767"/>
            </a:avLst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952598" y="6855257"/>
            <a:ext cx="1143000" cy="95098"/>
          </a:xfrm>
          <a:prstGeom prst="roundRect">
            <a:avLst>
              <a:gd name="adj" fmla="val 480767"/>
            </a:avLst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952598" y="7112203"/>
            <a:ext cx="1143000" cy="95098"/>
          </a:xfrm>
          <a:prstGeom prst="roundRect">
            <a:avLst>
              <a:gd name="adj" fmla="val 480767"/>
            </a:avLst>
          </a:prstGeom>
          <a:solidFill>
            <a:srgbClr val="E2DD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952598" y="5826557"/>
            <a:ext cx="514807" cy="95098"/>
          </a:xfrm>
          <a:prstGeom prst="roundRect">
            <a:avLst>
              <a:gd name="adj" fmla="val 480767"/>
            </a:avLst>
          </a:prstGeom>
          <a:solidFill>
            <a:srgbClr val="7AA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952598" y="6083503"/>
            <a:ext cx="75895" cy="95098"/>
          </a:xfrm>
          <a:prstGeom prst="roundRect">
            <a:avLst>
              <a:gd name="adj" fmla="val 753014"/>
            </a:avLst>
          </a:prstGeom>
          <a:solidFill>
            <a:srgbClr val="C97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952598" y="6340450"/>
            <a:ext cx="75895" cy="95098"/>
          </a:xfrm>
          <a:prstGeom prst="roundRect">
            <a:avLst>
              <a:gd name="adj" fmla="val 753014"/>
            </a:avLst>
          </a:prstGeom>
          <a:solidFill>
            <a:srgbClr val="8C7C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952598" y="6598310"/>
            <a:ext cx="57607" cy="95098"/>
          </a:xfrm>
          <a:prstGeom prst="roundRect">
            <a:avLst>
              <a:gd name="adj" fmla="val 1322756"/>
            </a:avLst>
          </a:prstGeom>
          <a:solidFill>
            <a:srgbClr val="5D89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952598" y="6855257"/>
            <a:ext cx="38405" cy="95098"/>
          </a:xfrm>
          <a:prstGeom prst="roundRect">
            <a:avLst>
              <a:gd name="adj" fmla="val 2380940"/>
            </a:avLst>
          </a:prstGeom>
          <a:solidFill>
            <a:srgbClr val="9D7A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952598" y="7112203"/>
            <a:ext cx="400507" cy="95098"/>
          </a:xfrm>
          <a:prstGeom prst="roundRect">
            <a:avLst>
              <a:gd name="adj" fmla="val 480767"/>
            </a:avLst>
          </a:prstGeom>
          <a:solidFill>
            <a:srgbClr val="D7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381305" y="7488936"/>
            <a:ext cx="355793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787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Water footprint: Large green water (rain) component; blue water hotspots in irrigated regions (e.g., Brazil, Vietnam).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81805" y="1792224"/>
            <a:ext cx="7429500" cy="5219395"/>
          </a:xfrm>
          <a:prstGeom prst="roundRect">
            <a:avLst>
              <a:gd name="adj" fmla="val 256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1805" y="1792224"/>
            <a:ext cx="7429500" cy="5143500"/>
          </a:xfrm>
          <a:prstGeom prst="rect">
            <a:avLst/>
          </a:prstGeom>
        </p:spPr>
      </p:pic>
      <p:sp>
        <p:nvSpPr>
          <p:cNvPr id="49" name="Shape 46"/>
          <p:cNvSpPr/>
          <p:nvPr/>
        </p:nvSpPr>
        <p:spPr>
          <a:xfrm>
            <a:off x="6465722" y="7164324"/>
            <a:ext cx="1133856" cy="352044"/>
          </a:xfrm>
          <a:prstGeom prst="roundRect">
            <a:avLst>
              <a:gd name="adj" fmla="val 140400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 txBox="1"/>
          <p:nvPr/>
        </p:nvSpPr>
        <p:spPr>
          <a:xfrm>
            <a:off x="6618427" y="7260336"/>
            <a:ext cx="9290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Black Coffee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694676" y="7164324"/>
            <a:ext cx="1304849" cy="352044"/>
          </a:xfrm>
          <a:prstGeom prst="roundRect">
            <a:avLst>
              <a:gd name="adj" fmla="val 140400"/>
            </a:avLst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 txBox="1"/>
          <p:nvPr/>
        </p:nvSpPr>
        <p:spPr>
          <a:xfrm>
            <a:off x="7847381" y="7260336"/>
            <a:ext cx="11009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With 30ml Milk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9085478" y="7164324"/>
            <a:ext cx="647395" cy="352044"/>
          </a:xfrm>
          <a:prstGeom prst="roundRect">
            <a:avLst>
              <a:gd name="adj" fmla="val 140400"/>
            </a:avLst>
          </a:prstGeom>
          <a:solidFill>
            <a:srgbClr val="F0E6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 txBox="1"/>
          <p:nvPr/>
        </p:nvSpPr>
        <p:spPr>
          <a:xfrm>
            <a:off x="9238183" y="7260336"/>
            <a:ext cx="4434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Latte</a:t>
            </a:r>
            <a:endParaRPr lang="en-US" sz="1000" dirty="0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97857" y="7669987"/>
            <a:ext cx="228600" cy="228600"/>
          </a:xfrm>
          <a:prstGeom prst="rect">
            <a:avLst/>
          </a:prstGeom>
        </p:spPr>
      </p:pic>
      <p:sp>
        <p:nvSpPr>
          <p:cNvPr id="56" name="Text 52"/>
          <p:cNvSpPr txBox="1"/>
          <p:nvPr/>
        </p:nvSpPr>
        <p:spPr>
          <a:xfrm>
            <a:off x="4769510" y="7916875"/>
            <a:ext cx="3721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</a:t>
            </a:r>
            <a:endParaRPr lang="en-US" sz="900" dirty="0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5873191" y="7669987"/>
            <a:ext cx="200254" cy="228600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5815584" y="7916875"/>
            <a:ext cx="409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</a:t>
            </a:r>
            <a:endParaRPr lang="en-US" sz="900" dirty="0"/>
          </a:p>
        </p:txBody>
      </p:sp>
      <p:pic>
        <p:nvPicPr>
          <p:cNvPr id="59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934810" y="7669987"/>
            <a:ext cx="200254" cy="228600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6902806" y="7916875"/>
            <a:ext cx="3529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</a:t>
            </a:r>
            <a:endParaRPr lang="en-US" sz="900" dirty="0"/>
          </a:p>
        </p:txBody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7"/>
          <a:srcRect t="-44" b="-44"/>
          <a:stretch/>
        </p:blipFill>
        <p:spPr>
          <a:xfrm>
            <a:off x="7967167" y="7669987"/>
            <a:ext cx="256946" cy="228600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7829093" y="7916875"/>
            <a:ext cx="6199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Transport</a:t>
            </a:r>
            <a:endParaRPr lang="en-US" sz="900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rcRect t="-44" b="-44"/>
          <a:stretch/>
        </p:blipFill>
        <p:spPr>
          <a:xfrm>
            <a:off x="9028786" y="7669987"/>
            <a:ext cx="256946" cy="228600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998610" y="7916875"/>
            <a:ext cx="409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Retail</a:t>
            </a:r>
            <a:endParaRPr lang="en-US" sz="900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104120" y="7669987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10078517" y="7916875"/>
            <a:ext cx="3721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Brew</a:t>
            </a:r>
            <a:endParaRPr lang="en-US" sz="900" dirty="0"/>
          </a:p>
        </p:txBody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1194085" y="7669987"/>
            <a:ext cx="171907" cy="228600"/>
          </a:xfrm>
          <a:prstGeom prst="rect">
            <a:avLst/>
          </a:prstGeom>
        </p:spPr>
      </p:pic>
      <p:sp>
        <p:nvSpPr>
          <p:cNvPr id="68" name="Text 58"/>
          <p:cNvSpPr txBox="1"/>
          <p:nvPr/>
        </p:nvSpPr>
        <p:spPr>
          <a:xfrm>
            <a:off x="11165738" y="7916875"/>
            <a:ext cx="3145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Milk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20049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357713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Interventions and ROI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752905"/>
            <a:ext cx="3748126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Analyzing sustainability initiatives across the coffee value chain by payback period, carbon abatement potential, and investment requirements.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3112618"/>
            <a:ext cx="4009644" cy="4572000"/>
          </a:xfrm>
          <a:prstGeom prst="roundRect">
            <a:avLst>
              <a:gd name="adj" fmla="val 4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33095" y="3293669"/>
            <a:ext cx="1310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Initiatives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3095" y="4999025"/>
            <a:ext cx="3705149" cy="9144"/>
          </a:xfrm>
          <a:prstGeom prst="rect">
            <a:avLst/>
          </a:prstGeom>
          <a:solidFill>
            <a:srgbClr val="F0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3095" y="6318504"/>
            <a:ext cx="3705149" cy="9144"/>
          </a:xfrm>
          <a:prstGeom prst="rect">
            <a:avLst/>
          </a:prstGeom>
          <a:solidFill>
            <a:srgbClr val="F0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3095" y="7637069"/>
            <a:ext cx="3705149" cy="9144"/>
          </a:xfrm>
          <a:prstGeom prst="rect">
            <a:avLst/>
          </a:prstGeom>
          <a:solidFill>
            <a:srgbClr val="F0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3095" y="9156802"/>
            <a:ext cx="3705149" cy="9144"/>
          </a:xfrm>
          <a:prstGeom prst="rect">
            <a:avLst/>
          </a:prstGeom>
          <a:solidFill>
            <a:srgbClr val="F0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3095" y="10676534"/>
            <a:ext cx="3705149" cy="9144"/>
          </a:xfrm>
          <a:prstGeom prst="rect">
            <a:avLst/>
          </a:prstGeom>
          <a:solidFill>
            <a:srgbClr val="F0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3095" y="12195353"/>
            <a:ext cx="3705149" cy="9144"/>
          </a:xfrm>
          <a:prstGeom prst="rect">
            <a:avLst/>
          </a:prstGeom>
          <a:solidFill>
            <a:srgbClr val="F0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3095" y="13714171"/>
            <a:ext cx="3705149" cy="9144"/>
          </a:xfrm>
          <a:prstGeom prst="rect">
            <a:avLst/>
          </a:prstGeom>
          <a:solidFill>
            <a:srgbClr val="F0E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33095" y="3655771"/>
            <a:ext cx="2095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Shade Agroforestry (Farm)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3095" y="5175504"/>
            <a:ext cx="2296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Soil Health (Compost/Mulch)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" y="6494069"/>
            <a:ext cx="2095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Precision Fertilization/IPM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3095" y="7813548"/>
            <a:ext cx="2524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Wet Mill Water Recycle + Biogas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3095" y="9332366"/>
            <a:ext cx="2724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Efficient Roasters + Heat Recovery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" y="10852099"/>
            <a:ext cx="1933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On-site Solar (Roastery)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33095" y="12370918"/>
            <a:ext cx="2391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Lightweight, Recyclable Packs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3095" y="13890650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Ocean Freight Optimization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3095" y="3941978"/>
            <a:ext cx="547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Capex: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424074" y="3941978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Payback: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33095" y="4317797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NPV 5Y: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424074" y="4317797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Abatement: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33095" y="5460797"/>
            <a:ext cx="547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Capex: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424074" y="5460797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Payback: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33095" y="5736946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NPV 5Y: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4074" y="5736946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Abatement: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33095" y="6780276"/>
            <a:ext cx="547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Capex: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424074" y="6780276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Payback: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33095" y="7056425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NPV 5Y: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424074" y="7056425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Abatement: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33095" y="8098841"/>
            <a:ext cx="547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Capex: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424074" y="8098841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Payback: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33095" y="8475574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NPV 5Y: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2424074" y="8475574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Abatement: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33095" y="9618574"/>
            <a:ext cx="547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Capex: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424074" y="9618574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Payback: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33095" y="9994392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NPV 5Y: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424074" y="9994392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Abatement: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33095" y="11137392"/>
            <a:ext cx="547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Capex: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424074" y="11137392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Payback: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33095" y="11514125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NPV 5Y: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424074" y="11514125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Abatement: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33095" y="12756794"/>
            <a:ext cx="547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Capex: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2424074" y="12756794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Payback: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33095" y="13133527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NPV 5Y: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424074" y="13133527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Abatement: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33095" y="14175943"/>
            <a:ext cx="5477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Capex: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2424074" y="14175943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Payback: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33095" y="14452092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NPV 5Y: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2424074" y="14452092"/>
            <a:ext cx="862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Abatement: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200607" y="3941978"/>
            <a:ext cx="6437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$350/ha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3090672" y="3941978"/>
            <a:ext cx="566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3-4 yrs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200607" y="4317797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Positive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3173882" y="4218127"/>
            <a:ext cx="8430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18 tCO₂e/1k bags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200607" y="5460797"/>
            <a:ext cx="7955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$120/ha/yr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3090672" y="5460797"/>
            <a:ext cx="5294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1-2 yrs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200607" y="5736946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Positive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3184855" y="5736946"/>
            <a:ext cx="11384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9 tCO₂e/1k bags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200607" y="6780276"/>
            <a:ext cx="11859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$50/ha (training)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3090672" y="6780276"/>
            <a:ext cx="4050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&lt;1 yr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200607" y="7056425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Positive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3184855" y="7056425"/>
            <a:ext cx="11292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 tCO₂e/1k bags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200607" y="8098841"/>
            <a:ext cx="7763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$7k/co-op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3090672" y="8098841"/>
            <a:ext cx="5577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2-3 yrs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1200607" y="8475574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Positive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3173882" y="8375904"/>
            <a:ext cx="8430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14 tCO₂e/1k bags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1200607" y="9618574"/>
            <a:ext cx="8147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$70k/plant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3090672" y="9618574"/>
            <a:ext cx="4910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≈3 yrs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1200607" y="9994392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Positive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3164738" y="9894722"/>
            <a:ext cx="8622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22 tCO₂e/1k bags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1200607" y="11137392"/>
            <a:ext cx="4718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$150k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3090672" y="11137392"/>
            <a:ext cx="566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4-6 yrs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1200607" y="11514125"/>
            <a:ext cx="481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Mixed</a:t>
            </a:r>
            <a:endParaRPr lang="en-US" sz="1000" dirty="0"/>
          </a:p>
        </p:txBody>
      </p:sp>
      <p:sp>
        <p:nvSpPr>
          <p:cNvPr id="77" name="Text 75"/>
          <p:cNvSpPr txBox="1"/>
          <p:nvPr/>
        </p:nvSpPr>
        <p:spPr>
          <a:xfrm>
            <a:off x="3174797" y="11413541"/>
            <a:ext cx="8339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12 tCO₂e/1k bags</a:t>
            </a:r>
            <a:endParaRPr lang="en-US" sz="1000" dirty="0"/>
          </a:p>
        </p:txBody>
      </p:sp>
      <p:sp>
        <p:nvSpPr>
          <p:cNvPr id="78" name="Text 76"/>
          <p:cNvSpPr txBox="1"/>
          <p:nvPr/>
        </p:nvSpPr>
        <p:spPr>
          <a:xfrm>
            <a:off x="1200607" y="12756794"/>
            <a:ext cx="8339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+$0.05/bag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3090672" y="12657125"/>
            <a:ext cx="7955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Immediate (freight)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1200607" y="13133527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Positive</a:t>
            </a:r>
            <a:endParaRPr lang="en-US" sz="1000" dirty="0"/>
          </a:p>
        </p:txBody>
      </p:sp>
      <p:sp>
        <p:nvSpPr>
          <p:cNvPr id="81" name="Text 79"/>
          <p:cNvSpPr txBox="1"/>
          <p:nvPr/>
        </p:nvSpPr>
        <p:spPr>
          <a:xfrm>
            <a:off x="3184855" y="13133527"/>
            <a:ext cx="11292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 tCO₂e/1k bags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1200607" y="14175943"/>
            <a:ext cx="8339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N/A (policy)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3090672" y="14175943"/>
            <a:ext cx="7955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1200607" y="14452092"/>
            <a:ext cx="6053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Positive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3184855" y="14452092"/>
            <a:ext cx="11292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 tCO₂e/1k bags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33095" y="4656125"/>
            <a:ext cx="1057046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644091" y="4656125"/>
            <a:ext cx="857707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550262" y="4656125"/>
            <a:ext cx="580644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533095" y="5975604"/>
            <a:ext cx="743407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333195" y="5975604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533095" y="7294169"/>
            <a:ext cx="1295705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533095" y="8813902"/>
            <a:ext cx="1457554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043684" y="8813902"/>
            <a:ext cx="1114654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33095" y="10332720"/>
            <a:ext cx="1333195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533095" y="11852453"/>
            <a:ext cx="1266444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33095" y="13371271"/>
            <a:ext cx="1314907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33095" y="14690750"/>
            <a:ext cx="1943100" cy="228600"/>
          </a:xfrm>
          <a:prstGeom prst="roundRect">
            <a:avLst>
              <a:gd name="adj" fmla="val 66667"/>
            </a:avLst>
          </a:prstGeom>
          <a:solidFill>
            <a:srgbClr val="F5F1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 txBox="1"/>
          <p:nvPr/>
        </p:nvSpPr>
        <p:spPr>
          <a:xfrm>
            <a:off x="609905" y="4693615"/>
            <a:ext cx="99852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Heat resilience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1719986" y="4693615"/>
            <a:ext cx="7982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Biodiversity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2626157" y="4693615"/>
            <a:ext cx="5221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Quality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609905" y="6013094"/>
            <a:ext cx="6839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Yield +8%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1409090" y="6013094"/>
            <a:ext cx="10460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Water retention</a:t>
            </a:r>
            <a:endParaRPr lang="en-US" sz="900" dirty="0"/>
          </a:p>
        </p:txBody>
      </p:sp>
      <p:sp>
        <p:nvSpPr>
          <p:cNvPr id="103" name="Text 101"/>
          <p:cNvSpPr txBox="1"/>
          <p:nvPr/>
        </p:nvSpPr>
        <p:spPr>
          <a:xfrm>
            <a:off x="609905" y="7332574"/>
            <a:ext cx="123626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Input savings ~15%</a:t>
            </a:r>
            <a:endParaRPr lang="en-US" sz="900" dirty="0"/>
          </a:p>
        </p:txBody>
      </p:sp>
      <p:sp>
        <p:nvSpPr>
          <p:cNvPr id="104" name="Text 102"/>
          <p:cNvSpPr txBox="1"/>
          <p:nvPr/>
        </p:nvSpPr>
        <p:spPr>
          <a:xfrm>
            <a:off x="609905" y="8851392"/>
            <a:ext cx="13981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Fuel switch from LPG</a:t>
            </a:r>
            <a:endParaRPr lang="en-US" sz="900" dirty="0"/>
          </a:p>
        </p:txBody>
      </p:sp>
      <p:sp>
        <p:nvSpPr>
          <p:cNvPr id="105" name="Text 103"/>
          <p:cNvSpPr txBox="1"/>
          <p:nvPr/>
        </p:nvSpPr>
        <p:spPr>
          <a:xfrm>
            <a:off x="2119579" y="8851392"/>
            <a:ext cx="10552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Effluent control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609905" y="10371125"/>
            <a:ext cx="12746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Quality consistency</a:t>
            </a:r>
            <a:endParaRPr lang="en-US" sz="900" dirty="0"/>
          </a:p>
        </p:txBody>
      </p:sp>
      <p:sp>
        <p:nvSpPr>
          <p:cNvPr id="107" name="Text 105"/>
          <p:cNvSpPr txBox="1"/>
          <p:nvPr/>
        </p:nvSpPr>
        <p:spPr>
          <a:xfrm>
            <a:off x="609905" y="11889943"/>
            <a:ext cx="120792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Energy cost hedge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609905" y="13409676"/>
            <a:ext cx="125547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Lower material use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609905" y="14728241"/>
            <a:ext cx="188366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66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Lower cost via slow steaming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381305" y="7856525"/>
            <a:ext cx="40251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787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Indicative economics; verify locally. Many farm practices are 'no-regrets' with yield and quality gains.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81144" y="381305"/>
            <a:ext cx="7229246" cy="6933895"/>
          </a:xfrm>
          <a:prstGeom prst="roundRect">
            <a:avLst>
              <a:gd name="adj" fmla="val 145"/>
            </a:avLst>
          </a:prstGeom>
          <a:solidFill>
            <a:srgbClr val="F8F5F0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2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581144" y="381305"/>
            <a:ext cx="7229246" cy="6933895"/>
          </a:xfrm>
          <a:prstGeom prst="rect">
            <a:avLst/>
          </a:prstGeom>
        </p:spPr>
      </p:pic>
      <p:sp>
        <p:nvSpPr>
          <p:cNvPr id="113" name="Text 110"/>
          <p:cNvSpPr txBox="1"/>
          <p:nvPr/>
        </p:nvSpPr>
        <p:spPr>
          <a:xfrm>
            <a:off x="6113678" y="7429500"/>
            <a:ext cx="1329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Value Chain Stage:</a:t>
            </a:r>
            <a:endParaRPr lang="en-US" sz="1000" dirty="0"/>
          </a:p>
        </p:txBody>
      </p:sp>
      <p:sp>
        <p:nvSpPr>
          <p:cNvPr id="114" name="Text 111"/>
          <p:cNvSpPr txBox="1"/>
          <p:nvPr/>
        </p:nvSpPr>
        <p:spPr>
          <a:xfrm>
            <a:off x="7622438" y="7429500"/>
            <a:ext cx="9098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Bubble Size:</a:t>
            </a:r>
            <a:endParaRPr lang="en-US" sz="1000" dirty="0"/>
          </a:p>
        </p:txBody>
      </p:sp>
      <p:sp>
        <p:nvSpPr>
          <p:cNvPr id="115" name="Shape 112"/>
          <p:cNvSpPr/>
          <p:nvPr/>
        </p:nvSpPr>
        <p:spPr>
          <a:xfrm>
            <a:off x="6113678" y="7715707"/>
            <a:ext cx="133502" cy="133502"/>
          </a:xfrm>
          <a:prstGeom prst="ellipse">
            <a:avLst/>
          </a:prstGeom>
          <a:solidFill>
            <a:srgbClr val="5A8A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113"/>
          <p:cNvSpPr txBox="1"/>
          <p:nvPr/>
        </p:nvSpPr>
        <p:spPr>
          <a:xfrm>
            <a:off x="6323076" y="7686446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</a:t>
            </a:r>
            <a:endParaRPr lang="en-US" sz="1200" dirty="0"/>
          </a:p>
        </p:txBody>
      </p:sp>
      <p:sp>
        <p:nvSpPr>
          <p:cNvPr id="117" name="Text 114"/>
          <p:cNvSpPr txBox="1"/>
          <p:nvPr/>
        </p:nvSpPr>
        <p:spPr>
          <a:xfrm>
            <a:off x="6323076" y="7972654"/>
            <a:ext cx="752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Roasting</a:t>
            </a:r>
            <a:endParaRPr lang="en-US" sz="1200" dirty="0"/>
          </a:p>
        </p:txBody>
      </p:sp>
      <p:sp>
        <p:nvSpPr>
          <p:cNvPr id="118" name="Text 115"/>
          <p:cNvSpPr txBox="1"/>
          <p:nvPr/>
        </p:nvSpPr>
        <p:spPr>
          <a:xfrm>
            <a:off x="7831836" y="7686446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119" name="Text 116"/>
          <p:cNvSpPr txBox="1"/>
          <p:nvPr/>
        </p:nvSpPr>
        <p:spPr>
          <a:xfrm>
            <a:off x="7831836" y="7972654"/>
            <a:ext cx="8485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120" name="Shape 117"/>
          <p:cNvSpPr/>
          <p:nvPr/>
        </p:nvSpPr>
        <p:spPr>
          <a:xfrm>
            <a:off x="6113678" y="8001000"/>
            <a:ext cx="133502" cy="133502"/>
          </a:xfrm>
          <a:prstGeom prst="ellipse">
            <a:avLst/>
          </a:prstGeom>
          <a:solidFill>
            <a:srgbClr val="C76D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7622438" y="7715707"/>
            <a:ext cx="133502" cy="133502"/>
          </a:xfrm>
          <a:prstGeom prst="ellipse">
            <a:avLst/>
          </a:prstGeom>
          <a:solidFill>
            <a:srgbClr val="4573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19"/>
          <p:cNvSpPr/>
          <p:nvPr/>
        </p:nvSpPr>
        <p:spPr>
          <a:xfrm>
            <a:off x="7622438" y="8001000"/>
            <a:ext cx="133502" cy="133502"/>
          </a:xfrm>
          <a:prstGeom prst="ellipse">
            <a:avLst/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3" name="Image 1" descr="preencoded.png"/>
          <p:cNvPicPr>
            <a:picLocks noChangeAspect="1"/>
          </p:cNvPicPr>
          <p:nvPr/>
        </p:nvPicPr>
        <p:blipFill>
          <a:blip r:embed="rId4"/>
          <a:srcRect l="-16" r="-16"/>
          <a:stretch/>
        </p:blipFill>
        <p:spPr>
          <a:xfrm>
            <a:off x="8850478" y="7539228"/>
            <a:ext cx="1429207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106156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409651"/>
            <a:ext cx="937808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F2C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Implementation Roadmap + Stakeholder Callouts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381305" y="1152144"/>
            <a:ext cx="82542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Phased approach with clear stakeholder actions to achieve sustainability goals across the value chain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1305" y="1602029"/>
            <a:ext cx="11430000" cy="3409798"/>
          </a:xfrm>
          <a:prstGeom prst="roundRect">
            <a:avLst>
              <a:gd name="adj" fmla="val 59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2097634"/>
            <a:ext cx="11048695" cy="9144"/>
          </a:xfrm>
          <a:prstGeom prst="rect">
            <a:avLst/>
          </a:prstGeom>
          <a:solidFill>
            <a:srgbClr val="E5E0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238805" y="1811426"/>
            <a:ext cx="1010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0-6 months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86170" y="1811426"/>
            <a:ext cx="1057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6-18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515246" y="1811426"/>
            <a:ext cx="1153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18-36 months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56816" y="2078431"/>
            <a:ext cx="9628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Pilots complete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757977" y="2078431"/>
            <a:ext cx="762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Scale phase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254642" y="2078431"/>
            <a:ext cx="1067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Program maturity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96035" y="2516429"/>
            <a:ext cx="8769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Farming &amp; Resilience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72207" y="2611526"/>
            <a:ext cx="2695651" cy="228600"/>
          </a:xfrm>
          <a:prstGeom prst="roundRect">
            <a:avLst>
              <a:gd name="adj" fmla="val 200000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66944" y="2611526"/>
            <a:ext cx="3172054" cy="228600"/>
          </a:xfrm>
          <a:prstGeom prst="roundRect">
            <a:avLst>
              <a:gd name="adj" fmla="val 200000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38998" y="2611526"/>
            <a:ext cx="2704795" cy="228600"/>
          </a:xfrm>
          <a:prstGeom prst="roundRect">
            <a:avLst>
              <a:gd name="adj" fmla="val 200000"/>
            </a:avLst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46404" y="2507285"/>
            <a:ext cx="11247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Traceability &amp; Compliance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" y="3163824"/>
            <a:ext cx="1457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Roasting &amp; Energy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9107" y="2945282"/>
            <a:ext cx="19202" cy="93360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85393" y="2964485"/>
            <a:ext cx="9628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Sustainability + Procurement</a:t>
            </a:r>
            <a:endParaRPr lang="en-US" sz="9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" y="3364078"/>
            <a:ext cx="95098" cy="9509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29107" y="3374136"/>
            <a:ext cx="19202" cy="7616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035101" y="3392424"/>
            <a:ext cx="10104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Ops/Engineering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75995" y="3344875"/>
            <a:ext cx="10003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% lots traceable</a:t>
            </a:r>
            <a:endParaRPr lang="en-US" sz="9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07" y="3640226"/>
            <a:ext cx="95098" cy="9509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45490" y="3535985"/>
            <a:ext cx="10954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Deforestation risk cleared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572207" y="3068726"/>
            <a:ext cx="2695651" cy="228600"/>
          </a:xfrm>
          <a:prstGeom prst="roundRect">
            <a:avLst>
              <a:gd name="adj" fmla="val 20000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266944" y="3068726"/>
            <a:ext cx="3172054" cy="228600"/>
          </a:xfrm>
          <a:prstGeom prst="roundRect">
            <a:avLst>
              <a:gd name="adj" fmla="val 20000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8438998" y="3068726"/>
            <a:ext cx="2704795" cy="228600"/>
          </a:xfrm>
          <a:prstGeom prst="roundRect">
            <a:avLst>
              <a:gd name="adj" fmla="val 200000"/>
            </a:avLst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743407" y="3621024"/>
            <a:ext cx="85954" cy="9509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66851" y="3602736"/>
            <a:ext cx="9811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kWh/kg roasted</a:t>
            </a:r>
            <a:endParaRPr lang="en-US" sz="9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 l="-3205" r="-3205"/>
          <a:stretch/>
        </p:blipFill>
        <p:spPr>
          <a:xfrm>
            <a:off x="743407" y="3898087"/>
            <a:ext cx="75895" cy="9509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49401" y="3888029"/>
            <a:ext cx="9244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Logistics &amp; Packaging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1049731" y="4345229"/>
            <a:ext cx="10195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Consumer &amp; Brand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1388059" y="3792931"/>
            <a:ext cx="6574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Scope 1–2 emissions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2572207" y="3525926"/>
            <a:ext cx="2695651" cy="228600"/>
          </a:xfrm>
          <a:prstGeom prst="roundRect">
            <a:avLst>
              <a:gd name="adj" fmla="val 20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5266944" y="3525926"/>
            <a:ext cx="3172054" cy="228600"/>
          </a:xfrm>
          <a:prstGeom prst="roundRect">
            <a:avLst>
              <a:gd name="adj" fmla="val 20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438998" y="3525926"/>
            <a:ext cx="2704795" cy="228600"/>
          </a:xfrm>
          <a:prstGeom prst="roundRect">
            <a:avLst>
              <a:gd name="adj" fmla="val 20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2572207" y="3983126"/>
            <a:ext cx="2695651" cy="228600"/>
          </a:xfrm>
          <a:prstGeom prst="roundRect">
            <a:avLst>
              <a:gd name="adj" fmla="val 200000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5266944" y="3983126"/>
            <a:ext cx="3172054" cy="228600"/>
          </a:xfrm>
          <a:prstGeom prst="roundRect">
            <a:avLst>
              <a:gd name="adj" fmla="val 200000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8438998" y="3983126"/>
            <a:ext cx="2704795" cy="228600"/>
          </a:xfrm>
          <a:prstGeom prst="roundRect">
            <a:avLst>
              <a:gd name="adj" fmla="val 200000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2572207" y="4440326"/>
            <a:ext cx="2695651" cy="228600"/>
          </a:xfrm>
          <a:prstGeom prst="roundRect">
            <a:avLst>
              <a:gd name="adj" fmla="val 200000"/>
            </a:avLst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5266944" y="4440326"/>
            <a:ext cx="3172054" cy="228600"/>
          </a:xfrm>
          <a:prstGeom prst="roundRect">
            <a:avLst>
              <a:gd name="adj" fmla="val 200000"/>
            </a:avLst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8"/>
          <p:cNvSpPr/>
          <p:nvPr/>
        </p:nvSpPr>
        <p:spPr>
          <a:xfrm>
            <a:off x="8438998" y="4440326"/>
            <a:ext cx="2704795" cy="228600"/>
          </a:xfrm>
          <a:prstGeom prst="roundRect">
            <a:avLst>
              <a:gd name="adj" fmla="val 200000"/>
            </a:avLst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 txBox="1"/>
          <p:nvPr/>
        </p:nvSpPr>
        <p:spPr>
          <a:xfrm>
            <a:off x="381305" y="5421478"/>
            <a:ext cx="1910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C61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Stakeholder Callouts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381305" y="5764378"/>
            <a:ext cx="2790749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381305" y="5764378"/>
            <a:ext cx="38405" cy="838505"/>
          </a:xfrm>
          <a:prstGeom prst="rect">
            <a:avLst/>
          </a:prstGeom>
          <a:solidFill>
            <a:srgbClr val="8C61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3262579" y="5764378"/>
            <a:ext cx="2790749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3262579" y="5764378"/>
            <a:ext cx="38405" cy="838505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6143854" y="5764378"/>
            <a:ext cx="2790749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5"/>
          <p:cNvSpPr/>
          <p:nvPr/>
        </p:nvSpPr>
        <p:spPr>
          <a:xfrm>
            <a:off x="6143854" y="5764378"/>
            <a:ext cx="38405" cy="838505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6"/>
          <p:cNvSpPr/>
          <p:nvPr/>
        </p:nvSpPr>
        <p:spPr>
          <a:xfrm>
            <a:off x="9025128" y="5764378"/>
            <a:ext cx="2790749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9025128" y="5764378"/>
            <a:ext cx="38405" cy="83850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48"/>
          <p:cNvSpPr/>
          <p:nvPr/>
        </p:nvSpPr>
        <p:spPr>
          <a:xfrm>
            <a:off x="381305" y="6740042"/>
            <a:ext cx="3752698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381305" y="6740042"/>
            <a:ext cx="38405" cy="838505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0"/>
          <p:cNvSpPr/>
          <p:nvPr/>
        </p:nvSpPr>
        <p:spPr>
          <a:xfrm>
            <a:off x="4222699" y="6740042"/>
            <a:ext cx="3752698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1"/>
          <p:cNvSpPr/>
          <p:nvPr/>
        </p:nvSpPr>
        <p:spPr>
          <a:xfrm>
            <a:off x="4222699" y="6740042"/>
            <a:ext cx="38405" cy="838505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2"/>
          <p:cNvSpPr/>
          <p:nvPr/>
        </p:nvSpPr>
        <p:spPr>
          <a:xfrm>
            <a:off x="8064094" y="6740042"/>
            <a:ext cx="3752698" cy="838505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3"/>
          <p:cNvSpPr/>
          <p:nvPr/>
        </p:nvSpPr>
        <p:spPr>
          <a:xfrm>
            <a:off x="8064094" y="6740042"/>
            <a:ext cx="38405" cy="838505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 txBox="1"/>
          <p:nvPr/>
        </p:nvSpPr>
        <p:spPr>
          <a:xfrm>
            <a:off x="533095" y="5897880"/>
            <a:ext cx="1176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Farmers/Co-ops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3414370" y="5897880"/>
            <a:ext cx="14438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Exporters/Importers</a:t>
            </a:r>
            <a:endParaRPr lang="en-US" sz="1000" dirty="0"/>
          </a:p>
        </p:txBody>
      </p:sp>
      <p:sp>
        <p:nvSpPr>
          <p:cNvPr id="62" name="Text 56"/>
          <p:cNvSpPr txBox="1"/>
          <p:nvPr/>
        </p:nvSpPr>
        <p:spPr>
          <a:xfrm>
            <a:off x="6295644" y="5897880"/>
            <a:ext cx="6812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Roasters</a:t>
            </a:r>
            <a:endParaRPr lang="en-US" sz="1000" dirty="0"/>
          </a:p>
        </p:txBody>
      </p:sp>
      <p:sp>
        <p:nvSpPr>
          <p:cNvPr id="63" name="Text 57"/>
          <p:cNvSpPr txBox="1"/>
          <p:nvPr/>
        </p:nvSpPr>
        <p:spPr>
          <a:xfrm>
            <a:off x="9176918" y="5897880"/>
            <a:ext cx="6912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Retailers</a:t>
            </a:r>
            <a:endParaRPr lang="en-US" sz="1000" dirty="0"/>
          </a:p>
        </p:txBody>
      </p:sp>
      <p:sp>
        <p:nvSpPr>
          <p:cNvPr id="64" name="Text 58"/>
          <p:cNvSpPr txBox="1"/>
          <p:nvPr/>
        </p:nvSpPr>
        <p:spPr>
          <a:xfrm>
            <a:off x="533095" y="6873545"/>
            <a:ext cx="11384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Certifiers/NGOs</a:t>
            </a:r>
            <a:endParaRPr lang="en-US" sz="1000" dirty="0"/>
          </a:p>
        </p:txBody>
      </p:sp>
      <p:sp>
        <p:nvSpPr>
          <p:cNvPr id="65" name="Text 59"/>
          <p:cNvSpPr txBox="1"/>
          <p:nvPr/>
        </p:nvSpPr>
        <p:spPr>
          <a:xfrm>
            <a:off x="4375404" y="6873545"/>
            <a:ext cx="11292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Financiers/DFIs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8216798" y="6873545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2C2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Governments</a:t>
            </a:r>
            <a:endParaRPr lang="en-US" sz="1000" dirty="0"/>
          </a:p>
        </p:txBody>
      </p:sp>
      <p:sp>
        <p:nvSpPr>
          <p:cNvPr id="67" name="Text 61"/>
          <p:cNvSpPr txBox="1"/>
          <p:nvPr/>
        </p:nvSpPr>
        <p:spPr>
          <a:xfrm>
            <a:off x="533095" y="6145682"/>
            <a:ext cx="2607869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Adopt shade/soil/IPM; share plot data for MRV; receive premiums/inputs.</a:t>
            </a:r>
            <a:endParaRPr lang="en-US" sz="900" dirty="0"/>
          </a:p>
        </p:txBody>
      </p:sp>
      <p:sp>
        <p:nvSpPr>
          <p:cNvPr id="68" name="Text 62"/>
          <p:cNvSpPr txBox="1"/>
          <p:nvPr/>
        </p:nvSpPr>
        <p:spPr>
          <a:xfrm>
            <a:off x="3414370" y="6145682"/>
            <a:ext cx="225582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Provide traceability docs; offer pre-finance; segregate lots.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6295644" y="6145682"/>
            <a:ext cx="25219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 in efficiency; shift to renewables; publish specs to suppliers.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9176918" y="6145682"/>
            <a:ext cx="228417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Commit to shelf standards; co-fund certifications; transparent pricing.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533095" y="7121347"/>
            <a:ext cx="31126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Streamline audits; align metrics; support training.</a:t>
            </a:r>
            <a:endParaRPr lang="en-US" sz="900" dirty="0"/>
          </a:p>
        </p:txBody>
      </p:sp>
      <p:sp>
        <p:nvSpPr>
          <p:cNvPr id="72" name="Text 66"/>
          <p:cNvSpPr txBox="1"/>
          <p:nvPr/>
        </p:nvSpPr>
        <p:spPr>
          <a:xfrm>
            <a:off x="4375404" y="7121347"/>
            <a:ext cx="285567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Offer concessional credit and risk-sharing for smallholders.</a:t>
            </a:r>
            <a:endParaRPr lang="en-US" sz="900" dirty="0"/>
          </a:p>
        </p:txBody>
      </p:sp>
      <p:sp>
        <p:nvSpPr>
          <p:cNvPr id="73" name="Text 67"/>
          <p:cNvSpPr txBox="1"/>
          <p:nvPr/>
        </p:nvSpPr>
        <p:spPr>
          <a:xfrm>
            <a:off x="8216798" y="7121347"/>
            <a:ext cx="3474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575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Land-use enforcement; climate-smart extension; water stewardship.</a:t>
            </a:r>
            <a:endParaRPr lang="en-US" sz="900" dirty="0"/>
          </a:p>
        </p:txBody>
      </p:sp>
      <p:sp>
        <p:nvSpPr>
          <p:cNvPr id="74" name="Shape 68"/>
          <p:cNvSpPr/>
          <p:nvPr/>
        </p:nvSpPr>
        <p:spPr>
          <a:xfrm>
            <a:off x="4251046" y="2249424"/>
            <a:ext cx="19202" cy="190195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7929677" y="2249424"/>
            <a:ext cx="19202" cy="190195"/>
          </a:xfrm>
          <a:prstGeom prst="rect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2394814" y="2287829"/>
            <a:ext cx="114300" cy="114300"/>
          </a:xfrm>
          <a:prstGeom prst="ellipse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1"/>
          <p:cNvSpPr/>
          <p:nvPr/>
        </p:nvSpPr>
        <p:spPr>
          <a:xfrm>
            <a:off x="6096305" y="2287829"/>
            <a:ext cx="114300" cy="114300"/>
          </a:xfrm>
          <a:prstGeom prst="ellipse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2"/>
          <p:cNvSpPr/>
          <p:nvPr/>
        </p:nvSpPr>
        <p:spPr>
          <a:xfrm>
            <a:off x="9742018" y="2287829"/>
            <a:ext cx="114300" cy="114300"/>
          </a:xfrm>
          <a:prstGeom prst="ellipse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1530</Words>
  <Application>Microsoft Office PowerPoint</Application>
  <PresentationFormat>Widescreen</PresentationFormat>
  <Paragraphs>367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Playfair Display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Md Haque</cp:lastModifiedBy>
  <cp:revision>1</cp:revision>
  <dcterms:created xsi:type="dcterms:W3CDTF">2025-11-11T15:09:38Z</dcterms:created>
  <dcterms:modified xsi:type="dcterms:W3CDTF">2025-11-11T15:10:16Z</dcterms:modified>
</cp:coreProperties>
</file>