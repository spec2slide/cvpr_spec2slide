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81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0" y="2319833"/>
            <a:ext cx="1904695" cy="28346"/>
          </a:xfrm>
          <a:prstGeom prst="rect">
            <a:avLst/>
          </a:prstGeom>
          <a:solidFill>
            <a:srgbClr val="1BE8FF"/>
          </a:solidFill>
          <a:ln/>
          <a:effectLst>
            <a:outerShdw blurRad="114300" dist="12700" dir="16200000" algn="bl" rotWithShape="0">
              <a:srgbClr val="1BE8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143500" y="4508906"/>
            <a:ext cx="1904695" cy="28346"/>
          </a:xfrm>
          <a:prstGeom prst="rect">
            <a:avLst/>
          </a:prstGeom>
          <a:solidFill>
            <a:srgbClr val="1BE8FF"/>
          </a:solidFill>
          <a:ln/>
          <a:effectLst>
            <a:outerShdw blurRad="114300" dist="12700" dir="16200000" algn="bl" rotWithShape="0">
              <a:srgbClr val="1BE8FF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867205" y="2747772"/>
            <a:ext cx="89154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 Adoption Guide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2585009" y="3659429"/>
            <a:ext cx="72009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C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enterprise playbook to move from perimeter trust to continuous verification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096244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30902" b="-30902"/>
          <a:stretch/>
        </p:blipFill>
        <p:spPr>
          <a:xfrm>
            <a:off x="0" y="0"/>
            <a:ext cx="12191695" cy="110962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877824"/>
            <a:ext cx="22201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2059229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Principles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3026664"/>
            <a:ext cx="2820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Architecture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994099"/>
            <a:ext cx="3048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 Model Heatmap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4961534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90/180/365 Rollout Plan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5929884"/>
            <a:ext cx="2190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Exemplar Policies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6897319"/>
            <a:ext cx="3419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 &amp; KPIs Dashboard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7864754"/>
            <a:ext cx="2076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Pitfalls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8833104"/>
            <a:ext cx="1448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9800539"/>
            <a:ext cx="1410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00746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6875" b="-6875"/>
          <a:stretch/>
        </p:blipFill>
        <p:spPr>
          <a:xfrm>
            <a:off x="0" y="0"/>
            <a:ext cx="12191695" cy="7800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877824"/>
            <a:ext cx="65251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Trust Core Principles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61695" y="2001622"/>
            <a:ext cx="3372307" cy="2924251"/>
          </a:xfrm>
          <a:prstGeom prst="roundRect">
            <a:avLst>
              <a:gd name="adj" fmla="val 8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412894" y="2001622"/>
            <a:ext cx="3372307" cy="2924251"/>
          </a:xfrm>
          <a:prstGeom prst="roundRect">
            <a:avLst>
              <a:gd name="adj" fmla="val 8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" y="4754880"/>
            <a:ext cx="3372307" cy="2924251"/>
          </a:xfrm>
          <a:prstGeom prst="roundRect">
            <a:avLst>
              <a:gd name="adj" fmla="val 8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12894" y="4754880"/>
            <a:ext cx="3372307" cy="2924251"/>
          </a:xfrm>
          <a:prstGeom prst="roundRect">
            <a:avLst>
              <a:gd name="adj" fmla="val 8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90295" y="2230222"/>
            <a:ext cx="571500" cy="571500"/>
          </a:xfrm>
          <a:prstGeom prst="ellipse">
            <a:avLst/>
          </a:prstGeom>
          <a:solidFill>
            <a:srgbClr val="1BE8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2382926"/>
            <a:ext cx="267005" cy="2670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64094" y="2001622"/>
            <a:ext cx="3372307" cy="2924251"/>
          </a:xfrm>
          <a:prstGeom prst="roundRect">
            <a:avLst>
              <a:gd name="adj" fmla="val 8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064094" y="4754880"/>
            <a:ext cx="3372307" cy="2924251"/>
          </a:xfrm>
          <a:prstGeom prst="roundRect">
            <a:avLst>
              <a:gd name="adj" fmla="val 8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41494" y="2230222"/>
            <a:ext cx="571500" cy="571500"/>
          </a:xfrm>
          <a:prstGeom prst="ellipse">
            <a:avLst/>
          </a:prstGeom>
          <a:solidFill>
            <a:srgbClr val="1BE8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292694" y="2230222"/>
            <a:ext cx="571500" cy="571500"/>
          </a:xfrm>
          <a:prstGeom prst="ellipse">
            <a:avLst/>
          </a:prstGeom>
          <a:solidFill>
            <a:srgbClr val="1BE8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90295" y="4983480"/>
            <a:ext cx="571500" cy="571500"/>
          </a:xfrm>
          <a:prstGeom prst="ellipse">
            <a:avLst/>
          </a:prstGeom>
          <a:solidFill>
            <a:srgbClr val="1BE8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41494" y="4983480"/>
            <a:ext cx="571500" cy="571500"/>
          </a:xfrm>
          <a:prstGeom prst="ellipse">
            <a:avLst/>
          </a:prstGeom>
          <a:solidFill>
            <a:srgbClr val="1BE8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92694" y="4983480"/>
            <a:ext cx="571500" cy="571500"/>
          </a:xfrm>
          <a:prstGeom prst="ellipse">
            <a:avLst/>
          </a:prstGeom>
          <a:solidFill>
            <a:srgbClr val="1BE8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990295" y="2954426"/>
            <a:ext cx="18050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explicitly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41494" y="2954426"/>
            <a:ext cx="17391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990295" y="3344875"/>
            <a:ext cx="27624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authenticate and authorize based on all available data points: identity, device, location, behavior, and risk signals.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94199" y="2382926"/>
            <a:ext cx="267005" cy="2670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41494" y="3344875"/>
            <a:ext cx="29434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 user access with Just-In-Time and Just-Enough-Access (JIT/JEA), risk-based adaptive policies and role-based access.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881" r="-881"/>
          <a:stretch/>
        </p:blipFill>
        <p:spPr>
          <a:xfrm>
            <a:off x="8460029" y="2382926"/>
            <a:ext cx="237744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92694" y="2954426"/>
            <a:ext cx="18342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Assume breach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90295" y="5706770"/>
            <a:ext cx="25959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evaluation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292694" y="3344875"/>
            <a:ext cx="269565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 access by network, user, devices, and application. Apply controls on egress and encrypt all traffic everywhere.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43000" y="5135270"/>
            <a:ext cx="267005" cy="2670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90295" y="6097219"/>
            <a:ext cx="2962656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trust on every request/session, not just at login. Monitor and validate user actions and resource security continuously.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61281" y="5135270"/>
            <a:ext cx="333756" cy="2670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641494" y="5706770"/>
            <a:ext cx="17391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Policy-as-code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4641494" y="6097219"/>
            <a:ext cx="277246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security policies as code that can be versioned, tested, and automated for consistent enforcement across environments.</a:t>
            </a:r>
            <a:endParaRPr lang="en-US" sz="12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45398" y="5135270"/>
            <a:ext cx="267005" cy="2670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92694" y="5706770"/>
            <a:ext cx="20153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Telemetry-driven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292694" y="6097219"/>
            <a:ext cx="2895905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Collect, measure and analyze data in near real time. Use intelligence to improve detection, prevention and response capabilities.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81744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8402" b="-18402"/>
          <a:stretch/>
        </p:blipFill>
        <p:spPr>
          <a:xfrm>
            <a:off x="0" y="0"/>
            <a:ext cx="12191695" cy="9381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877824"/>
            <a:ext cx="5934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Architecture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61695" y="1811426"/>
            <a:ext cx="1162202" cy="657454"/>
          </a:xfrm>
          <a:prstGeom prst="roundRect">
            <a:avLst>
              <a:gd name="adj" fmla="val 806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23544" y="2063801"/>
            <a:ext cx="152705" cy="15270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52144" y="2049170"/>
            <a:ext cx="724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25419" y="1811426"/>
            <a:ext cx="1095451" cy="657454"/>
          </a:xfrm>
          <a:prstGeom prst="roundRect">
            <a:avLst>
              <a:gd name="adj" fmla="val 806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87268" y="2063801"/>
            <a:ext cx="152705" cy="15270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515868" y="2049170"/>
            <a:ext cx="657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14162" y="1811426"/>
            <a:ext cx="1238098" cy="657454"/>
          </a:xfrm>
          <a:prstGeom prst="roundRect">
            <a:avLst>
              <a:gd name="adj" fmla="val 8063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6011" y="2063801"/>
            <a:ext cx="152705" cy="15270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804611" y="2049170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46466" y="1811426"/>
            <a:ext cx="1457554" cy="657454"/>
          </a:xfrm>
          <a:prstGeom prst="roundRect">
            <a:avLst>
              <a:gd name="adj" fmla="val 8063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08315" y="2063801"/>
            <a:ext cx="152705" cy="152705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36915" y="2049170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504627" y="1811426"/>
            <a:ext cx="933602" cy="657454"/>
          </a:xfrm>
          <a:prstGeom prst="roundRect">
            <a:avLst>
              <a:gd name="adj" fmla="val 8063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666476" y="2063801"/>
            <a:ext cx="152705" cy="152705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895076" y="2049170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0" y="3028493"/>
            <a:ext cx="27157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Actors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0" y="3981298"/>
            <a:ext cx="443484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Enforcement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0" y="4933188"/>
            <a:ext cx="44348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Decision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0" y="5885993"/>
            <a:ext cx="44348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Providers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0" y="6838798"/>
            <a:ext cx="27157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61695" y="26279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08222" y="26279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53835" y="26279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300362" y="26279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61695" y="35807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608222" y="35807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453835" y="35807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300362" y="35807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61695" y="4533595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608222" y="4533595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453835" y="4533595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300362" y="4533595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61695" y="54854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608222" y="54854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453835" y="54854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300362" y="5485486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761695" y="64382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608222" y="64382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453835" y="64382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300362" y="6438290"/>
            <a:ext cx="2133295" cy="809244"/>
          </a:xfrm>
          <a:prstGeom prst="roundRect">
            <a:avLst>
              <a:gd name="adj" fmla="val 531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1530706" y="2980944"/>
            <a:ext cx="6793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4358030" y="2980944"/>
            <a:ext cx="7168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Contractors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7054596" y="2980944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Accounts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9969703" y="2980944"/>
            <a:ext cx="8787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IoT/OT Devices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1324051" y="3933749"/>
            <a:ext cx="10890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ZTNA Client/Portal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4373575" y="3933749"/>
            <a:ext cx="6793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SWG/CASB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7177126" y="3933749"/>
            <a:ext cx="7644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9954158" y="3933749"/>
            <a:ext cx="9079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 Switch/AP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1459382" y="4885639"/>
            <a:ext cx="8220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Engine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4353458" y="4885639"/>
            <a:ext cx="7269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Engine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7117690" y="4885639"/>
            <a:ext cx="8887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Attribute Store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9934956" y="4885639"/>
            <a:ext cx="9454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Admin UI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1736446" y="5838444"/>
            <a:ext cx="2697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IdP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116629" y="5838444"/>
            <a:ext cx="11932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UEM/MDM EDR/XDR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7010705" y="5838444"/>
            <a:ext cx="10981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SIEM/SOAR PKI/CA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9887407" y="5838444"/>
            <a:ext cx="10415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DLP Data Catalog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1290218" y="6791249"/>
            <a:ext cx="1155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SaaS &amp; Private Apps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4187038" y="6791249"/>
            <a:ext cx="10597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Stores/Lakes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7077456" y="6791249"/>
            <a:ext cx="9646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VPC/VNet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9970618" y="6791249"/>
            <a:ext cx="8695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Datacenter/OT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5952744" y="3397910"/>
            <a:ext cx="286207" cy="142646"/>
          </a:xfrm>
          <a:prstGeom prst="rect">
            <a:avLst/>
          </a:prstGeom>
          <a:noFill/>
          <a:ln w="1905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5952744" y="4350715"/>
            <a:ext cx="286207" cy="142646"/>
          </a:xfrm>
          <a:prstGeom prst="rect">
            <a:avLst/>
          </a:prstGeom>
          <a:noFill/>
          <a:ln w="1905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5952744" y="5303520"/>
            <a:ext cx="286207" cy="142646"/>
          </a:xfrm>
          <a:prstGeom prst="rect">
            <a:avLst/>
          </a:prstGeom>
          <a:noFill/>
          <a:ln w="1905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5952744" y="6255410"/>
            <a:ext cx="286207" cy="142646"/>
          </a:xfrm>
          <a:prstGeom prst="rect">
            <a:avLst/>
          </a:prstGeom>
          <a:noFill/>
          <a:ln w="1905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761695" y="7612380"/>
            <a:ext cx="2133295" cy="1190549"/>
          </a:xfrm>
          <a:prstGeom prst="roundRect">
            <a:avLst>
              <a:gd name="adj" fmla="val 245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 txBox="1"/>
          <p:nvPr/>
        </p:nvSpPr>
        <p:spPr>
          <a:xfrm>
            <a:off x="866851" y="7716622"/>
            <a:ext cx="724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1037844" y="7973568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IdP (SSO)</a:t>
            </a:r>
            <a:endParaRPr lang="en-US" sz="900" dirty="0"/>
          </a:p>
        </p:txBody>
      </p:sp>
      <p:sp>
        <p:nvSpPr>
          <p:cNvPr id="72" name="Text 69"/>
          <p:cNvSpPr txBox="1"/>
          <p:nvPr/>
        </p:nvSpPr>
        <p:spPr>
          <a:xfrm>
            <a:off x="1037844" y="8154619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Phishing-resistant MFA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1037844" y="8335670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Risk-based auth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1037844" y="8516722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PAM (JIT/JEA)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2895905" y="7612380"/>
            <a:ext cx="2133295" cy="1190549"/>
          </a:xfrm>
          <a:prstGeom prst="roundRect">
            <a:avLst>
              <a:gd name="adj" fmla="val 245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 txBox="1"/>
          <p:nvPr/>
        </p:nvSpPr>
        <p:spPr>
          <a:xfrm>
            <a:off x="3000146" y="7716622"/>
            <a:ext cx="657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3172054" y="7973568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UEM/MDM enrollment</a:t>
            </a:r>
            <a:endParaRPr lang="en-US" sz="900" dirty="0"/>
          </a:p>
        </p:txBody>
      </p:sp>
      <p:sp>
        <p:nvSpPr>
          <p:cNvPr id="78" name="Text 75"/>
          <p:cNvSpPr txBox="1"/>
          <p:nvPr/>
        </p:nvSpPr>
        <p:spPr>
          <a:xfrm>
            <a:off x="3172054" y="8154619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EDR posture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3172054" y="8335670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Cert-based identity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3172054" y="8516722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gates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5029200" y="7612380"/>
            <a:ext cx="2133295" cy="1190549"/>
          </a:xfrm>
          <a:prstGeom prst="roundRect">
            <a:avLst>
              <a:gd name="adj" fmla="val 2458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 txBox="1"/>
          <p:nvPr/>
        </p:nvSpPr>
        <p:spPr>
          <a:xfrm>
            <a:off x="5134356" y="7716622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</a:t>
            </a:r>
            <a:endParaRPr lang="en-US" sz="1200" dirty="0"/>
          </a:p>
        </p:txBody>
      </p:sp>
      <p:sp>
        <p:nvSpPr>
          <p:cNvPr id="83" name="Text 80"/>
          <p:cNvSpPr txBox="1"/>
          <p:nvPr/>
        </p:nvSpPr>
        <p:spPr>
          <a:xfrm>
            <a:off x="5305349" y="7973568"/>
            <a:ext cx="1400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ZTNA/SDP user-to-app</a:t>
            </a:r>
            <a:endParaRPr lang="en-US" sz="900" dirty="0"/>
          </a:p>
        </p:txBody>
      </p:sp>
      <p:sp>
        <p:nvSpPr>
          <p:cNvPr id="84" name="Text 81"/>
          <p:cNvSpPr txBox="1"/>
          <p:nvPr/>
        </p:nvSpPr>
        <p:spPr>
          <a:xfrm>
            <a:off x="5305349" y="8154619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Microsegmentation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5305349" y="8335670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 at campus/branch</a:t>
            </a:r>
            <a:endParaRPr lang="en-US" sz="900" dirty="0"/>
          </a:p>
        </p:txBody>
      </p:sp>
      <p:sp>
        <p:nvSpPr>
          <p:cNvPr id="86" name="Text 83"/>
          <p:cNvSpPr txBox="1"/>
          <p:nvPr/>
        </p:nvSpPr>
        <p:spPr>
          <a:xfrm>
            <a:off x="5305349" y="8516722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Egress controls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7162495" y="7612380"/>
            <a:ext cx="2133295" cy="1190549"/>
          </a:xfrm>
          <a:prstGeom prst="roundRect">
            <a:avLst>
              <a:gd name="adj" fmla="val 2458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 txBox="1"/>
          <p:nvPr/>
        </p:nvSpPr>
        <p:spPr>
          <a:xfrm>
            <a:off x="7267651" y="7716622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89" name="Text 86"/>
          <p:cNvSpPr txBox="1"/>
          <p:nvPr/>
        </p:nvSpPr>
        <p:spPr>
          <a:xfrm>
            <a:off x="7438644" y="7973568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identity &amp; mTLS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7438644" y="8154619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OPA/XACML for authZ</a:t>
            </a:r>
            <a:endParaRPr lang="en-US" sz="900" dirty="0"/>
          </a:p>
        </p:txBody>
      </p:sp>
      <p:sp>
        <p:nvSpPr>
          <p:cNvPr id="91" name="Text 88"/>
          <p:cNvSpPr txBox="1"/>
          <p:nvPr/>
        </p:nvSpPr>
        <p:spPr>
          <a:xfrm>
            <a:off x="7438644" y="8335670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CIAM for external users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7438644" y="8516722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gateways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9296705" y="7612380"/>
            <a:ext cx="2133295" cy="1190549"/>
          </a:xfrm>
          <a:prstGeom prst="roundRect">
            <a:avLst>
              <a:gd name="adj" fmla="val 2458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 txBox="1"/>
          <p:nvPr/>
        </p:nvSpPr>
        <p:spPr>
          <a:xfrm>
            <a:off x="9400946" y="7716622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200" dirty="0"/>
          </a:p>
        </p:txBody>
      </p:sp>
      <p:sp>
        <p:nvSpPr>
          <p:cNvPr id="95" name="Text 92"/>
          <p:cNvSpPr txBox="1"/>
          <p:nvPr/>
        </p:nvSpPr>
        <p:spPr>
          <a:xfrm>
            <a:off x="9572854" y="7973568"/>
            <a:ext cx="1438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&amp; labeling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9572854" y="8154619"/>
            <a:ext cx="1400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Encryption (KMS/HSM)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9572854" y="8335670"/>
            <a:ext cx="1552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DLP &amp; access governance</a:t>
            </a:r>
            <a:endParaRPr lang="en-US" sz="900" dirty="0"/>
          </a:p>
        </p:txBody>
      </p:sp>
      <p:sp>
        <p:nvSpPr>
          <p:cNvPr id="98" name="Text 95"/>
          <p:cNvSpPr txBox="1"/>
          <p:nvPr/>
        </p:nvSpPr>
        <p:spPr>
          <a:xfrm>
            <a:off x="9572854" y="8516722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Tokenization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72300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636422"/>
            <a:ext cx="52678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 Model Heatmap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71500" y="1579169"/>
            <a:ext cx="8143646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06256" y="1757477"/>
            <a:ext cx="15627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 Levels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06256" y="2302459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06256" y="2902306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906256" y="3503066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906256" y="4102913"/>
            <a:ext cx="190195" cy="190195"/>
          </a:xfrm>
          <a:prstGeom prst="roundRect">
            <a:avLst>
              <a:gd name="adj" fmla="val 72115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191549" y="2307031"/>
            <a:ext cx="667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Initial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91549" y="2907792"/>
            <a:ext cx="1153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Developing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91549" y="3507638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Advanced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91549" y="4107485"/>
            <a:ext cx="1105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Optimized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06256" y="501914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Markers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906256" y="5557723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116568" y="5581498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72346" y="6257239"/>
            <a:ext cx="1353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12-Month Target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906256" y="6233465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C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116007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23755" b="-23755"/>
          <a:stretch/>
        </p:blipFill>
        <p:spPr>
          <a:xfrm>
            <a:off x="0" y="0"/>
            <a:ext cx="12191695" cy="101160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877824"/>
            <a:ext cx="81061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Phased Rollout: 90/180/365 Days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2000707" y="2096719"/>
            <a:ext cx="12435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0-90 Days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50738" y="2096719"/>
            <a:ext cx="14529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90-180 Days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954719" y="2096719"/>
            <a:ext cx="15581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180-365 Days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1695" y="2639873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2A3C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2601468"/>
            <a:ext cx="152705" cy="152705"/>
          </a:xfrm>
          <a:prstGeom prst="ellipse">
            <a:avLst/>
          </a:prstGeom>
          <a:solidFill>
            <a:srgbClr val="1B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38244" y="2601468"/>
            <a:ext cx="152705" cy="152705"/>
          </a:xfrm>
          <a:prstGeom prst="ellipse">
            <a:avLst/>
          </a:prstGeom>
          <a:solidFill>
            <a:srgbClr val="1B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01661" y="2601468"/>
            <a:ext cx="152705" cy="152705"/>
          </a:xfrm>
          <a:prstGeom prst="ellipse">
            <a:avLst/>
          </a:prstGeom>
          <a:solidFill>
            <a:srgbClr val="1B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1354105" y="2601468"/>
            <a:ext cx="152705" cy="152705"/>
          </a:xfrm>
          <a:prstGeom prst="ellipse">
            <a:avLst/>
          </a:prstGeom>
          <a:solidFill>
            <a:srgbClr val="1B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752905" y="2601468"/>
            <a:ext cx="152705" cy="15270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52298" y="2316175"/>
            <a:ext cx="367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104742" y="2316175"/>
            <a:ext cx="367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90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668158" y="2316175"/>
            <a:ext cx="367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180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220602" y="2316175"/>
            <a:ext cx="367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365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68526" y="2316175"/>
            <a:ext cx="6574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30: MFA+SSO baseline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61695" y="3149194"/>
            <a:ext cx="724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1695" y="3816706"/>
            <a:ext cx="657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61695" y="4483303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" y="5149901"/>
            <a:ext cx="438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" y="5816498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733702" y="3001975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4285F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733702" y="3001975"/>
            <a:ext cx="38405" cy="47640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72507" y="3001975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4285F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972507" y="3001975"/>
            <a:ext cx="38405" cy="47640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210398" y="3001975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4285F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210398" y="3001975"/>
            <a:ext cx="38405" cy="47640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2277770" y="3168396"/>
            <a:ext cx="22384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SSO for top 20 apps; MFA for all users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295290" y="3168396"/>
            <a:ext cx="2686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Risk-based access; step-up for sensitive apps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897112" y="3168396"/>
            <a:ext cx="1953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 coverage; externalize authZ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733702" y="3668573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34A85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733702" y="3668573"/>
            <a:ext cx="38405" cy="47640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972507" y="3668573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34A85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972507" y="3668573"/>
            <a:ext cx="38405" cy="47640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10398" y="3668573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34A85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210398" y="3668573"/>
            <a:ext cx="38405" cy="47640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2428646" y="3834994"/>
            <a:ext cx="1943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devices; enroll in UEM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830214" y="3834994"/>
            <a:ext cx="1610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 posture enforcement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9127541" y="3834994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remediation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733702" y="4335170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1ABC9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733702" y="4335170"/>
            <a:ext cx="38405" cy="47640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972507" y="4335170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1ABC9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972507" y="4335170"/>
            <a:ext cx="38405" cy="47640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8210398" y="4335170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1ABC9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210398" y="4335170"/>
            <a:ext cx="38405" cy="47640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2421331" y="4502506"/>
            <a:ext cx="19531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ZTNA for 3 high-value apps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399532" y="4502506"/>
            <a:ext cx="2477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ZTNA to 50+ apps; microsegment Tier-0/1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9065362" y="4502506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Decommission broad VPN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733702" y="5001768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8E44A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733702" y="5001768"/>
            <a:ext cx="38405" cy="47640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4972507" y="5001768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8E44A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4972507" y="5001768"/>
            <a:ext cx="38405" cy="47640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8210398" y="5001768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8E44A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8210398" y="5001768"/>
            <a:ext cx="38405" cy="47640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2505456" y="5169103"/>
            <a:ext cx="1781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 up policy-as-code repo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5924398" y="5169103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SaaS tenant hardening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33942" y="5169103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Service-to-service mTLS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733702" y="5669280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F39C1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1733702" y="5669280"/>
            <a:ext cx="38405" cy="47640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4972507" y="5669280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F39C1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4972507" y="5669280"/>
            <a:ext cx="38405" cy="47640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8210398" y="5669280"/>
            <a:ext cx="3200400" cy="476402"/>
          </a:xfrm>
          <a:prstGeom prst="roundRect">
            <a:avLst>
              <a:gd name="adj" fmla="val 15355"/>
            </a:avLst>
          </a:prstGeom>
          <a:solidFill>
            <a:srgbClr val="F39C1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8210398" y="5669280"/>
            <a:ext cx="38405" cy="47640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2689250" y="5835701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 logging to SIEM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5604358" y="5835701"/>
            <a:ext cx="2067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 data; enable email/web DLP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8882482" y="5835701"/>
            <a:ext cx="1981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Encrypt sensitive data by default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761695" y="6430975"/>
            <a:ext cx="3429000" cy="3105302"/>
          </a:xfrm>
          <a:prstGeom prst="roundRect">
            <a:avLst>
              <a:gd name="adj" fmla="val 72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4381805" y="6430975"/>
            <a:ext cx="3429000" cy="3105302"/>
          </a:xfrm>
          <a:prstGeom prst="roundRect">
            <a:avLst>
              <a:gd name="adj" fmla="val 72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8001000" y="6430975"/>
            <a:ext cx="3429000" cy="3105302"/>
          </a:xfrm>
          <a:prstGeom prst="roundRect">
            <a:avLst>
              <a:gd name="adj" fmla="val 72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 txBox="1"/>
          <p:nvPr/>
        </p:nvSpPr>
        <p:spPr>
          <a:xfrm>
            <a:off x="952805" y="6621170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0–90 Days</a:t>
            </a:r>
            <a:endParaRPr lang="en-US" sz="1500" dirty="0"/>
          </a:p>
        </p:txBody>
      </p:sp>
      <p:sp>
        <p:nvSpPr>
          <p:cNvPr id="73" name="Text 70"/>
          <p:cNvSpPr txBox="1"/>
          <p:nvPr/>
        </p:nvSpPr>
        <p:spPr>
          <a:xfrm>
            <a:off x="4572000" y="6621170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90–180 Days</a:t>
            </a:r>
            <a:endParaRPr lang="en-US" sz="1500" dirty="0"/>
          </a:p>
        </p:txBody>
      </p:sp>
      <p:sp>
        <p:nvSpPr>
          <p:cNvPr id="74" name="Text 71"/>
          <p:cNvSpPr txBox="1"/>
          <p:nvPr/>
        </p:nvSpPr>
        <p:spPr>
          <a:xfrm>
            <a:off x="8191195" y="6621170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180–365 Days</a:t>
            </a:r>
            <a:endParaRPr lang="en-US" sz="1500" dirty="0"/>
          </a:p>
        </p:txBody>
      </p:sp>
      <p:sp>
        <p:nvSpPr>
          <p:cNvPr id="75" name="Text 72"/>
          <p:cNvSpPr txBox="1"/>
          <p:nvPr/>
        </p:nvSpPr>
        <p:spPr>
          <a:xfrm>
            <a:off x="1095451" y="7002475"/>
            <a:ext cx="25868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exec sponsor; form ZT steering committee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1095451" y="7470648"/>
            <a:ext cx="29580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identity: SSO for top 20 apps; MFA for all users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1095451" y="7939735"/>
            <a:ext cx="29196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devices; enroll corp endpoints in UEM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095451" y="8407908"/>
            <a:ext cx="22439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ZTNA for 3 high-value apps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1095451" y="8689543"/>
            <a:ext cx="26343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 up policy-as-code repo; CI tests; logging to SIEM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714646" y="7002475"/>
            <a:ext cx="27861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ZTNA to 50+ apps; retire VPN for pilot groups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4714646" y="7470648"/>
            <a:ext cx="28245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risk-based access and step-up for sensitive apps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4714646" y="7939735"/>
            <a:ext cx="294802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Microsegment Tier-0/1 assets; NAC posture for campus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714646" y="8407908"/>
            <a:ext cx="27486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 data; enable email/web DLP; start SaaS tenant hardening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4714646" y="8876081"/>
            <a:ext cx="27861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JIT/JEA for admins; session recording for break-glass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8334756" y="7002475"/>
            <a:ext cx="22146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 app coverage behind PEPs (ZTNA/SWG/API GW)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8334756" y="7470648"/>
            <a:ext cx="29196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Service-to-service mTLS; externalize authZ for key apps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8334756" y="7939735"/>
            <a:ext cx="28437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Encrypt sensitive data by default; enforce egress policies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8334756" y="8407908"/>
            <a:ext cx="24533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remediation (SOAR); drill incident tabletop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8334756" y="8876081"/>
            <a:ext cx="23289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Decommission broad VPN; codify exceptions with reviews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163556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24102" b="-24102"/>
          <a:stretch/>
        </p:blipFill>
        <p:spPr>
          <a:xfrm>
            <a:off x="0" y="0"/>
            <a:ext cx="12191695" cy="101635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744322"/>
            <a:ext cx="401513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Exemplar Policies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71500" y="1620317"/>
            <a:ext cx="3581705" cy="2676449"/>
          </a:xfrm>
          <a:prstGeom prst="roundRect">
            <a:avLst>
              <a:gd name="adj" fmla="val 486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620317"/>
            <a:ext cx="28346" cy="267644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3349" y="1906524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User-to-App Access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3349" y="2195474"/>
            <a:ext cx="33101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user.group == "Finance" AND device.managed == true AND risk &lt; "High"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3349" y="2645359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permit()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33349" y="2907792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step-up(MFA.phishing_resistant)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33349" y="3171139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deny()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3349" y="3510382"/>
            <a:ext cx="1695298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90956" y="3528670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IdP + ZTNA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04995" y="1620317"/>
            <a:ext cx="3581705" cy="2676449"/>
          </a:xfrm>
          <a:prstGeom prst="roundRect">
            <a:avLst>
              <a:gd name="adj" fmla="val 486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04995" y="1620317"/>
            <a:ext cx="28346" cy="2676449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466844" y="1906524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 Access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66844" y="219547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user.role == "Admin"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466844" y="2458822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require(JIT.elevation)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466844" y="2721254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ticket_id != null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466844" y="2984602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hardware_key == true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66844" y="3247034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session_logging == true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66844" y="3510382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max_time = "2h"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66844" y="3848710"/>
            <a:ext cx="1628546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524451" y="3867912"/>
            <a:ext cx="1600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PAM + IdP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39405" y="1620317"/>
            <a:ext cx="3581705" cy="2676449"/>
          </a:xfrm>
          <a:prstGeom prst="roundRect">
            <a:avLst>
              <a:gd name="adj" fmla="val 486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039405" y="1620317"/>
            <a:ext cx="28346" cy="267644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201254" y="1906524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Posture Gate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01254" y="2195474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device.patch_age &gt; 14 OR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201254" y="2458822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device.encryption == false OR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201254" y="2721254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device.edr_active == false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01254" y="298460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block()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201254" y="3247034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 remediation_portal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01254" y="3586277"/>
            <a:ext cx="2247595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8257946" y="3605479"/>
            <a:ext cx="22201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UEM/MDM + ZTNA/NAC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71500" y="4446727"/>
            <a:ext cx="3581705" cy="2676449"/>
          </a:xfrm>
          <a:prstGeom prst="roundRect">
            <a:avLst>
              <a:gd name="adj" fmla="val 486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71500" y="4446727"/>
            <a:ext cx="28346" cy="2676449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33349" y="4732934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Microsegmentation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33349" y="5022799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traffic.source == "Dev" AND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33349" y="5285232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traffic.destination == "Prod"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33349" y="5548579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deny(direct_access)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33349" y="5811012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via == "API_Gateway"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33349" y="6073445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service_identity == true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733349" y="6336792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mTLS == true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33349" y="6676034"/>
            <a:ext cx="2790749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790956" y="6694322"/>
            <a:ext cx="2762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SDN/Firewall + API Gateway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304995" y="4446727"/>
            <a:ext cx="3581705" cy="2676449"/>
          </a:xfrm>
          <a:prstGeom prst="roundRect">
            <a:avLst>
              <a:gd name="adj" fmla="val 486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304995" y="4446727"/>
            <a:ext cx="28346" cy="26764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4466844" y="4732934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466844" y="5022799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data.label == "Restricted"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4466844" y="5285232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prevent(external_sharing)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4466844" y="5548579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require(encryption)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4466844" y="5811012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block(upload)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4466844" y="6073445"/>
            <a:ext cx="3062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domain.status == "unsanctioned"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466844" y="6412687"/>
            <a:ext cx="2314346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4524451" y="6431890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CASB/SWG + SaaS DLP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039405" y="4446727"/>
            <a:ext cx="3581705" cy="2676449"/>
          </a:xfrm>
          <a:prstGeom prst="roundRect">
            <a:avLst>
              <a:gd name="adj" fmla="val 486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8039405" y="4446727"/>
            <a:ext cx="28346" cy="2676449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 txBox="1"/>
          <p:nvPr/>
        </p:nvSpPr>
        <p:spPr>
          <a:xfrm>
            <a:off x="8201254" y="4732934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Third-Party Access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8201254" y="5022799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user.type == "Contractor"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8201254" y="5285232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allow(assigned_apps)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8201254" y="5548579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in approved_countries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8201254" y="5811012"/>
            <a:ext cx="3062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device.managed || device.attested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8201254" y="6073445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access to "Tier-0"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8201254" y="6412687"/>
            <a:ext cx="1695298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 txBox="1"/>
          <p:nvPr/>
        </p:nvSpPr>
        <p:spPr>
          <a:xfrm>
            <a:off x="8257946" y="6431890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IdP + ZTNA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71500" y="7274052"/>
            <a:ext cx="3581705" cy="2419502"/>
          </a:xfrm>
          <a:prstGeom prst="roundRect">
            <a:avLst>
              <a:gd name="adj" fmla="val 595"/>
            </a:avLst>
          </a:prstGeom>
          <a:solidFill>
            <a:srgbClr val="13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571500" y="7274052"/>
            <a:ext cx="28346" cy="24195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 txBox="1"/>
          <p:nvPr/>
        </p:nvSpPr>
        <p:spPr>
          <a:xfrm>
            <a:off x="733349" y="7559345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Break-Glass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733349" y="7849210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offline_accounts = 2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733349" y="8111642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hardware_token == true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733349" y="8374990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ON_USE notify(security_team)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33349" y="8637422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auto_expiry = "8h"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733349" y="8900770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log(all_activities)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33349" y="9239098"/>
            <a:ext cx="2447849" cy="200254"/>
          </a:xfrm>
          <a:prstGeom prst="roundRect">
            <a:avLst>
              <a:gd name="adj" fmla="val 6523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 txBox="1"/>
          <p:nvPr/>
        </p:nvSpPr>
        <p:spPr>
          <a:xfrm>
            <a:off x="790956" y="9258300"/>
            <a:ext cx="2419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Enforcement: PAM/IdP with alerting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82205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636422"/>
            <a:ext cx="59728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 &amp; KPIs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579169"/>
            <a:ext cx="3562502" cy="3419856"/>
          </a:xfrm>
          <a:prstGeom prst="roundRect">
            <a:avLst>
              <a:gd name="adj" fmla="val 59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579169"/>
            <a:ext cx="28346" cy="34198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3407" y="1721815"/>
            <a:ext cx="2382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 Adoption by Population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46" r="-146"/>
          <a:stretch/>
        </p:blipFill>
        <p:spPr>
          <a:xfrm>
            <a:off x="743407" y="1997964"/>
            <a:ext cx="3247949" cy="2857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7797" y="1579169"/>
            <a:ext cx="3562502" cy="3419856"/>
          </a:xfrm>
          <a:prstGeom prst="roundRect">
            <a:avLst>
              <a:gd name="adj" fmla="val 59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17797" y="1579169"/>
            <a:ext cx="28346" cy="341985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89704" y="1721815"/>
            <a:ext cx="2371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Managed Devices Compliant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46" r="-146"/>
          <a:stretch/>
        </p:blipFill>
        <p:spPr>
          <a:xfrm>
            <a:off x="4489704" y="1997964"/>
            <a:ext cx="3247949" cy="2857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64094" y="1579169"/>
            <a:ext cx="3562502" cy="3419856"/>
          </a:xfrm>
          <a:prstGeom prst="roundRect">
            <a:avLst>
              <a:gd name="adj" fmla="val 59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64094" y="1579169"/>
            <a:ext cx="28346" cy="34198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8236001" y="1721815"/>
            <a:ext cx="1848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Decisions Split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16" b="-16"/>
          <a:stretch/>
        </p:blipFill>
        <p:spPr>
          <a:xfrm>
            <a:off x="8236001" y="1997964"/>
            <a:ext cx="2857500" cy="14292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1500" y="5189220"/>
            <a:ext cx="3562502" cy="2229307"/>
          </a:xfrm>
          <a:prstGeom prst="roundRect">
            <a:avLst>
              <a:gd name="adj" fmla="val 140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71500" y="5189220"/>
            <a:ext cx="28346" cy="2229307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743407" y="5331866"/>
            <a:ext cx="26106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Microsegment Coverage by Tier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 t="-16" b="-16"/>
          <a:stretch/>
        </p:blipFill>
        <p:spPr>
          <a:xfrm>
            <a:off x="743407" y="5608015"/>
            <a:ext cx="2857500" cy="142920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317797" y="5189220"/>
            <a:ext cx="3562502" cy="2229307"/>
          </a:xfrm>
          <a:prstGeom prst="roundRect">
            <a:avLst>
              <a:gd name="adj" fmla="val 140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317797" y="5189220"/>
            <a:ext cx="28346" cy="2229307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4489704" y="5331866"/>
            <a:ext cx="1972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Latency p95 (ms)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t="-16" b="-16"/>
          <a:stretch/>
        </p:blipFill>
        <p:spPr>
          <a:xfrm>
            <a:off x="4489704" y="5608015"/>
            <a:ext cx="2857500" cy="142920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64094" y="5189220"/>
            <a:ext cx="3562502" cy="2229307"/>
          </a:xfrm>
          <a:prstGeom prst="roundRect">
            <a:avLst>
              <a:gd name="adj" fmla="val 140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8064094" y="5189220"/>
            <a:ext cx="28346" cy="2229307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8236001" y="5331866"/>
            <a:ext cx="1591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Block Reasons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236001" y="5932627"/>
            <a:ext cx="1952244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10185502" y="5932627"/>
            <a:ext cx="657454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0842041" y="5932627"/>
            <a:ext cx="638251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8311896" y="5684825"/>
            <a:ext cx="614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0262311" y="5684825"/>
            <a:ext cx="5193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0918850" y="5684825"/>
            <a:ext cx="500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236001" y="6261811"/>
            <a:ext cx="1952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10185502" y="6261811"/>
            <a:ext cx="657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236001" y="6594653"/>
            <a:ext cx="1952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10185502" y="6594653"/>
            <a:ext cx="657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8236001" y="6928409"/>
            <a:ext cx="1952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10185502" y="6928409"/>
            <a:ext cx="657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8236001" y="7261250"/>
            <a:ext cx="1952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10185502" y="7261250"/>
            <a:ext cx="657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8311896" y="6017666"/>
            <a:ext cx="15956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non-compliant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10262311" y="6017666"/>
            <a:ext cx="3383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247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311896" y="6351422"/>
            <a:ext cx="1643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High-risk auth attempt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10262311" y="6351422"/>
            <a:ext cx="3191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189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8311896" y="6684264"/>
            <a:ext cx="15956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Unauthorized location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0262311" y="6684264"/>
            <a:ext cx="3099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143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8311896" y="7018020"/>
            <a:ext cx="14145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Failed step-up auth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10262311" y="7018020"/>
            <a:ext cx="2715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10842041" y="6261811"/>
            <a:ext cx="6382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10842041" y="7261250"/>
            <a:ext cx="6382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 txBox="1"/>
          <p:nvPr/>
        </p:nvSpPr>
        <p:spPr>
          <a:xfrm>
            <a:off x="10918850" y="6017666"/>
            <a:ext cx="4526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 12%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10918850" y="7018020"/>
            <a:ext cx="405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 5%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10842041" y="6594653"/>
            <a:ext cx="6382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7"/>
          <p:cNvSpPr/>
          <p:nvPr/>
        </p:nvSpPr>
        <p:spPr>
          <a:xfrm>
            <a:off x="10842041" y="6928409"/>
            <a:ext cx="63825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 txBox="1"/>
          <p:nvPr/>
        </p:nvSpPr>
        <p:spPr>
          <a:xfrm>
            <a:off x="10918850" y="6351422"/>
            <a:ext cx="4151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 8%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0918850" y="6684264"/>
            <a:ext cx="4526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 15%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571500" y="6532474"/>
            <a:ext cx="2152498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3422599" y="6532474"/>
            <a:ext cx="2533802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2"/>
          <p:cNvSpPr/>
          <p:nvPr/>
        </p:nvSpPr>
        <p:spPr>
          <a:xfrm>
            <a:off x="6661404" y="6532474"/>
            <a:ext cx="243870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3"/>
          <p:cNvSpPr/>
          <p:nvPr/>
        </p:nvSpPr>
        <p:spPr>
          <a:xfrm>
            <a:off x="9806940" y="6532474"/>
            <a:ext cx="1819656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4"/>
          <p:cNvSpPr/>
          <p:nvPr/>
        </p:nvSpPr>
        <p:spPr>
          <a:xfrm>
            <a:off x="761695" y="6722669"/>
            <a:ext cx="286207" cy="286207"/>
          </a:xfrm>
          <a:prstGeom prst="ellipse">
            <a:avLst/>
          </a:prstGeom>
          <a:solidFill>
            <a:srgbClr val="1BE8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5"/>
          <p:cNvSpPr/>
          <p:nvPr/>
        </p:nvSpPr>
        <p:spPr>
          <a:xfrm>
            <a:off x="3613709" y="6722669"/>
            <a:ext cx="286207" cy="286207"/>
          </a:xfrm>
          <a:prstGeom prst="ellipse">
            <a:avLst/>
          </a:prstGeom>
          <a:solidFill>
            <a:srgbClr val="1BE8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6"/>
          <p:cNvSpPr/>
          <p:nvPr/>
        </p:nvSpPr>
        <p:spPr>
          <a:xfrm>
            <a:off x="6851599" y="6722669"/>
            <a:ext cx="286207" cy="286207"/>
          </a:xfrm>
          <a:prstGeom prst="ellipse">
            <a:avLst/>
          </a:prstGeom>
          <a:solidFill>
            <a:srgbClr val="1BE8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57"/>
          <p:cNvSpPr/>
          <p:nvPr/>
        </p:nvSpPr>
        <p:spPr>
          <a:xfrm>
            <a:off x="9997135" y="6722669"/>
            <a:ext cx="286207" cy="286207"/>
          </a:xfrm>
          <a:prstGeom prst="ellipse">
            <a:avLst/>
          </a:prstGeom>
          <a:solidFill>
            <a:srgbClr val="1BE8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841248" y="6774790"/>
            <a:ext cx="247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Text 59"/>
          <p:cNvSpPr txBox="1"/>
          <p:nvPr/>
        </p:nvSpPr>
        <p:spPr>
          <a:xfrm>
            <a:off x="3692347" y="6774790"/>
            <a:ext cx="247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0"/>
          <p:cNvSpPr txBox="1"/>
          <p:nvPr/>
        </p:nvSpPr>
        <p:spPr>
          <a:xfrm>
            <a:off x="6931152" y="6774790"/>
            <a:ext cx="247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Text 61"/>
          <p:cNvSpPr txBox="1"/>
          <p:nvPr/>
        </p:nvSpPr>
        <p:spPr>
          <a:xfrm>
            <a:off x="10075774" y="6774790"/>
            <a:ext cx="247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Text 62"/>
          <p:cNvSpPr txBox="1"/>
          <p:nvPr/>
        </p:nvSpPr>
        <p:spPr>
          <a:xfrm>
            <a:off x="1162202" y="6780276"/>
            <a:ext cx="14721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 adoption ≥ 98%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4013302" y="6780276"/>
            <a:ext cx="18534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evaluation ≤ 250 ms</a:t>
            </a:r>
            <a:endParaRPr lang="en-US" sz="1000" dirty="0"/>
          </a:p>
        </p:txBody>
      </p:sp>
      <p:sp>
        <p:nvSpPr>
          <p:cNvPr id="71" name="Text 64"/>
          <p:cNvSpPr txBox="1"/>
          <p:nvPr/>
        </p:nvSpPr>
        <p:spPr>
          <a:xfrm>
            <a:off x="7252106" y="6780276"/>
            <a:ext cx="1757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Compliant devices ≥ 90%</a:t>
            </a:r>
            <a:endParaRPr lang="en-US" sz="1000" dirty="0"/>
          </a:p>
        </p:txBody>
      </p:sp>
      <p:sp>
        <p:nvSpPr>
          <p:cNvPr id="72" name="Text 65"/>
          <p:cNvSpPr txBox="1"/>
          <p:nvPr/>
        </p:nvSpPr>
        <p:spPr>
          <a:xfrm>
            <a:off x="10396728" y="6780276"/>
            <a:ext cx="11384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 usage ≥ 95%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449556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40769" b="-40769"/>
          <a:stretch/>
        </p:blipFill>
        <p:spPr>
          <a:xfrm>
            <a:off x="0" y="0"/>
            <a:ext cx="12191695" cy="1244955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t="-40769" b="-40769"/>
          <a:stretch/>
        </p:blipFill>
        <p:spPr>
          <a:xfrm>
            <a:off x="0" y="0"/>
            <a:ext cx="12191695" cy="1244955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1695" y="877824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Pitfalls (and Fixes)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761695" y="1811426"/>
            <a:ext cx="2809951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61695" y="18114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61695" y="3068726"/>
            <a:ext cx="2915107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61695" y="30687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1695" y="4326026"/>
            <a:ext cx="3219602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61695" y="43260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61695" y="5583326"/>
            <a:ext cx="2609698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61695" y="55833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61695" y="6840626"/>
            <a:ext cx="3886200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1695" y="68406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61695" y="8097926"/>
            <a:ext cx="2619756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61695" y="80979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61695" y="9355226"/>
            <a:ext cx="3247949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61695" y="93552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1695" y="10612526"/>
            <a:ext cx="2600554" cy="875995"/>
          </a:xfrm>
          <a:prstGeom prst="roundRect">
            <a:avLst>
              <a:gd name="adj" fmla="val 4538"/>
            </a:avLst>
          </a:prstGeom>
          <a:solidFill>
            <a:srgbClr val="FFA5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61695" y="10612526"/>
            <a:ext cx="38405" cy="875995"/>
          </a:xfrm>
          <a:prstGeom prst="rect">
            <a:avLst/>
          </a:prstGeom>
          <a:solidFill>
            <a:srgbClr val="FF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914400" y="19449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914400" y="32022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44595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914400" y="57168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" y="69741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14400" y="82314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14400" y="94887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14400" y="10746029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A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247242" y="2135124"/>
            <a:ext cx="235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Tech-first, identity-later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1247242" y="3392424"/>
            <a:ext cx="2457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Lifting VPN into ZTNA 1:1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247242" y="4649724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Overlooking device posture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247242" y="5907024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Ignoring legacy apps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247242" y="716432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exceptions that never expire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247242" y="8421624"/>
            <a:ext cx="2162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data classification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247242" y="9678924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Under-measured outcomes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1247242" y="10936224"/>
            <a:ext cx="2143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change comms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3659429" y="22256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3768242" y="34829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4075481" y="47402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3461004" y="59975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4738421" y="72548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Text 39"/>
          <p:cNvSpPr txBox="1"/>
          <p:nvPr/>
        </p:nvSpPr>
        <p:spPr>
          <a:xfrm>
            <a:off x="3476549" y="85121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4100170" y="97694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Text 41"/>
          <p:cNvSpPr txBox="1"/>
          <p:nvPr/>
        </p:nvSpPr>
        <p:spPr>
          <a:xfrm>
            <a:off x="3450031" y="11026750"/>
            <a:ext cx="400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3983126" y="1811426"/>
            <a:ext cx="5581498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3983126" y="18114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4091940" y="3068726"/>
            <a:ext cx="5429707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4091940" y="30687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4399178" y="4326026"/>
            <a:ext cx="6353251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4399178" y="43260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3784702" y="5583326"/>
            <a:ext cx="6124651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3784702" y="55833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5063033" y="6840626"/>
            <a:ext cx="5790895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5063033" y="68406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3800246" y="8097926"/>
            <a:ext cx="5477256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3800246" y="80979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4423867" y="9355226"/>
            <a:ext cx="5333695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423867" y="93552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3773729" y="10612526"/>
            <a:ext cx="5581498" cy="875995"/>
          </a:xfrm>
          <a:prstGeom prst="roundRect">
            <a:avLst>
              <a:gd name="adj" fmla="val 4538"/>
            </a:avLst>
          </a:prstGeom>
          <a:solidFill>
            <a:srgbClr val="0080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3773729" y="10612526"/>
            <a:ext cx="38405" cy="875995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 txBox="1"/>
          <p:nvPr/>
        </p:nvSpPr>
        <p:spPr>
          <a:xfrm>
            <a:off x="4150462" y="19449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3" name="Text 59"/>
          <p:cNvSpPr txBox="1"/>
          <p:nvPr/>
        </p:nvSpPr>
        <p:spPr>
          <a:xfrm>
            <a:off x="4260190" y="32022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4" name="Text 60"/>
          <p:cNvSpPr txBox="1"/>
          <p:nvPr/>
        </p:nvSpPr>
        <p:spPr>
          <a:xfrm>
            <a:off x="4566514" y="44595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5" name="Text 61"/>
          <p:cNvSpPr txBox="1"/>
          <p:nvPr/>
        </p:nvSpPr>
        <p:spPr>
          <a:xfrm>
            <a:off x="3952951" y="57168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6" name="Text 62"/>
          <p:cNvSpPr txBox="1"/>
          <p:nvPr/>
        </p:nvSpPr>
        <p:spPr>
          <a:xfrm>
            <a:off x="5230368" y="69741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7" name="Text 63"/>
          <p:cNvSpPr txBox="1"/>
          <p:nvPr/>
        </p:nvSpPr>
        <p:spPr>
          <a:xfrm>
            <a:off x="3967582" y="82314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8" name="Text 64"/>
          <p:cNvSpPr txBox="1"/>
          <p:nvPr/>
        </p:nvSpPr>
        <p:spPr>
          <a:xfrm>
            <a:off x="4592117" y="94887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69" name="Text 65"/>
          <p:cNvSpPr txBox="1"/>
          <p:nvPr/>
        </p:nvSpPr>
        <p:spPr>
          <a:xfrm>
            <a:off x="3941978" y="10746029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ECC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500" dirty="0"/>
          </a:p>
        </p:txBody>
      </p:sp>
      <p:sp>
        <p:nvSpPr>
          <p:cNvPr id="70" name="Text 66"/>
          <p:cNvSpPr txBox="1"/>
          <p:nvPr/>
        </p:nvSpPr>
        <p:spPr>
          <a:xfrm>
            <a:off x="4421124" y="2135124"/>
            <a:ext cx="5172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IdP hygiene, MFA, group/attribute cleanup</a:t>
            </a:r>
            <a:endParaRPr lang="en-US" sz="1500" dirty="0"/>
          </a:p>
        </p:txBody>
      </p:sp>
      <p:sp>
        <p:nvSpPr>
          <p:cNvPr id="71" name="Text 67"/>
          <p:cNvSpPr txBox="1"/>
          <p:nvPr/>
        </p:nvSpPr>
        <p:spPr>
          <a:xfrm>
            <a:off x="4530852" y="33924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app-by-app access on user/task, not subnets</a:t>
            </a:r>
            <a:endParaRPr lang="en-US" sz="1500" dirty="0"/>
          </a:p>
        </p:txBody>
      </p:sp>
      <p:sp>
        <p:nvSpPr>
          <p:cNvPr id="72" name="Text 68"/>
          <p:cNvSpPr txBox="1"/>
          <p:nvPr/>
        </p:nvSpPr>
        <p:spPr>
          <a:xfrm>
            <a:off x="4837176" y="464972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 access on UEM/EDR compliance; give remediation path</a:t>
            </a:r>
            <a:endParaRPr lang="en-US" sz="1500" dirty="0"/>
          </a:p>
        </p:txBody>
      </p:sp>
      <p:sp>
        <p:nvSpPr>
          <p:cNvPr id="73" name="Text 69"/>
          <p:cNvSpPr txBox="1"/>
          <p:nvPr/>
        </p:nvSpPr>
        <p:spPr>
          <a:xfrm>
            <a:off x="4222699" y="590702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 with ZTNA + header-based auth; plan modernization</a:t>
            </a:r>
            <a:endParaRPr lang="en-US" sz="1500" dirty="0"/>
          </a:p>
        </p:txBody>
      </p:sp>
      <p:sp>
        <p:nvSpPr>
          <p:cNvPr id="74" name="Text 70"/>
          <p:cNvSpPr txBox="1"/>
          <p:nvPr/>
        </p:nvSpPr>
        <p:spPr>
          <a:xfrm>
            <a:off x="5501030" y="7164324"/>
            <a:ext cx="5382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Time-bound approvals with owner and review cadence</a:t>
            </a:r>
            <a:endParaRPr lang="en-US" sz="1500" dirty="0"/>
          </a:p>
        </p:txBody>
      </p:sp>
      <p:sp>
        <p:nvSpPr>
          <p:cNvPr id="75" name="Text 71"/>
          <p:cNvSpPr txBox="1"/>
          <p:nvPr/>
        </p:nvSpPr>
        <p:spPr>
          <a:xfrm>
            <a:off x="4238244" y="8421624"/>
            <a:ext cx="5067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 3-tier labels; automate labeling in pipelines</a:t>
            </a:r>
            <a:endParaRPr lang="en-US" sz="1500" dirty="0"/>
          </a:p>
        </p:txBody>
      </p:sp>
      <p:sp>
        <p:nvSpPr>
          <p:cNvPr id="76" name="Text 72"/>
          <p:cNvSpPr txBox="1"/>
          <p:nvPr/>
        </p:nvSpPr>
        <p:spPr>
          <a:xfrm>
            <a:off x="4861865" y="9678924"/>
            <a:ext cx="4924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KPIs/SLOs; instrument PEPs; weekly review</a:t>
            </a:r>
            <a:endParaRPr lang="en-US" sz="1500" dirty="0"/>
          </a:p>
        </p:txBody>
      </p:sp>
      <p:sp>
        <p:nvSpPr>
          <p:cNvPr id="77" name="Text 73"/>
          <p:cNvSpPr txBox="1"/>
          <p:nvPr/>
        </p:nvSpPr>
        <p:spPr>
          <a:xfrm>
            <a:off x="4211726" y="10936224"/>
            <a:ext cx="5172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UX-first pilots, in-product prompts, helpdesk training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392656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54936" b="-54936"/>
          <a:stretch/>
        </p:blipFill>
        <p:spPr>
          <a:xfrm>
            <a:off x="0" y="0"/>
            <a:ext cx="12191695" cy="14392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877824"/>
            <a:ext cx="93918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Study: Global Manufacturer (40k employees)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2573122"/>
            <a:ext cx="8814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573122"/>
            <a:ext cx="7004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1695" y="2926080"/>
            <a:ext cx="5143500" cy="5029200"/>
          </a:xfrm>
          <a:prstGeom prst="roundRect">
            <a:avLst>
              <a:gd name="adj" fmla="val 27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952805" y="3116275"/>
            <a:ext cx="4381805" cy="22860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952805" y="5440680"/>
            <a:ext cx="4381805" cy="2286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8145475"/>
            <a:ext cx="49917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Baseline: Broad VPN access; legacy auth; limited MFA coverage. Flat east-west in datacenter; minimal device compliance gating.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286500" y="2926080"/>
            <a:ext cx="5143500" cy="5029200"/>
          </a:xfrm>
          <a:prstGeom prst="roundRect">
            <a:avLst>
              <a:gd name="adj" fmla="val 27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476695" y="3116275"/>
            <a:ext cx="4381805" cy="22860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6476695" y="5440680"/>
            <a:ext cx="4381805" cy="22860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286500" y="8145475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Approach: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6286500" y="8488375"/>
            <a:ext cx="49441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90d: MFA for all; SSO for top apps; ZTNA pilot; device inventory.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6286500" y="8764524"/>
            <a:ext cx="51435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180d: ZTNA 60 apps; microsegment Tier-0; email/web DLP; JIT for admins.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6286500" y="9269273"/>
            <a:ext cx="47914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365d: 90% apps behind PEPs; retire most VPN; service mTLS; automated remediation.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9993478"/>
            <a:ext cx="1143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Outcomes: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61695" y="10364724"/>
            <a:ext cx="3457346" cy="1647749"/>
          </a:xfrm>
          <a:prstGeom prst="roundRect">
            <a:avLst>
              <a:gd name="adj" fmla="val 25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4369003" y="10364724"/>
            <a:ext cx="3457346" cy="1647749"/>
          </a:xfrm>
          <a:prstGeom prst="roundRect">
            <a:avLst>
              <a:gd name="adj" fmla="val 25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4"/>
          <p:cNvSpPr/>
          <p:nvPr/>
        </p:nvSpPr>
        <p:spPr>
          <a:xfrm>
            <a:off x="7975397" y="10364724"/>
            <a:ext cx="3457346" cy="1647749"/>
          </a:xfrm>
          <a:prstGeom prst="roundRect">
            <a:avLst>
              <a:gd name="adj" fmla="val 25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761695" y="12165178"/>
            <a:ext cx="3457346" cy="1647749"/>
          </a:xfrm>
          <a:prstGeom prst="roundRect">
            <a:avLst>
              <a:gd name="adj" fmla="val 25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369003" y="12165178"/>
            <a:ext cx="3457346" cy="1647749"/>
          </a:xfrm>
          <a:prstGeom prst="roundRect">
            <a:avLst>
              <a:gd name="adj" fmla="val 25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7975397" y="12165178"/>
            <a:ext cx="3457346" cy="1647749"/>
          </a:xfrm>
          <a:prstGeom prst="roundRect">
            <a:avLst>
              <a:gd name="adj" fmla="val 25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 txBox="1"/>
          <p:nvPr/>
        </p:nvSpPr>
        <p:spPr>
          <a:xfrm>
            <a:off x="2243023" y="10746029"/>
            <a:ext cx="667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99%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809183" y="10746029"/>
            <a:ext cx="7525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-85%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459468" y="10746029"/>
            <a:ext cx="667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96%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2078431" y="12545568"/>
            <a:ext cx="1000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ms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5844845" y="12545568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412834" y="12545568"/>
            <a:ext cx="7525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-70%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2008937" y="11250778"/>
            <a:ext cx="1062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 Adoption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5480914" y="11250778"/>
            <a:ext cx="13386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Inbound Exposure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9122969" y="11250778"/>
            <a:ext cx="12627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 Admin Access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997050" y="13050317"/>
            <a:ext cx="10908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Eval p95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469026" y="13050317"/>
            <a:ext cx="13578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Devices Compliant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768182" y="13050317"/>
            <a:ext cx="1976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Lateral Movement Incidents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2133295" y="11555273"/>
            <a:ext cx="8147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EA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(from 62%)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011412" y="11555273"/>
            <a:ext cx="1491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EA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standing admin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5739689" y="13355726"/>
            <a:ext cx="8147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EA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(from 54%)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91449"/>
          </a:xfrm>
          <a:prstGeom prst="rect">
            <a:avLst/>
          </a:prstGeom>
          <a:solidFill>
            <a:srgbClr val="0D1C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-11182" b="-11182"/>
          <a:stretch/>
        </p:blipFill>
        <p:spPr>
          <a:xfrm>
            <a:off x="0" y="0"/>
            <a:ext cx="12191695" cy="83914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" y="782726"/>
            <a:ext cx="29242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2000707"/>
            <a:ext cx="2419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Immediate Actions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2500884"/>
            <a:ext cx="190195" cy="19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68089" y="2000707"/>
            <a:ext cx="2953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Workstreams &amp; Owners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75995" y="2648102"/>
            <a:ext cx="2634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sponsor, form steering committee, define KPIs/SLOs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3466490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5995" y="3614623"/>
            <a:ext cx="32534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Harden IdP: MFA for all, block legacy protocols, SSO top apps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433011"/>
            <a:ext cx="190195" cy="19019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64678" y="2000707"/>
            <a:ext cx="1677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E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Artifacts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875995" y="4580230"/>
            <a:ext cx="274868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 up policy-as-code repo; enable logging to SIEM; create break-glass SOP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368089" y="2467966"/>
            <a:ext cx="3457346" cy="780898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68089" y="3374136"/>
            <a:ext cx="3457346" cy="780898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368089" y="4281221"/>
            <a:ext cx="3457346" cy="780898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4368089" y="5188306"/>
            <a:ext cx="3457346" cy="780898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368089" y="6094476"/>
            <a:ext cx="3457346" cy="780898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368089" y="7001561"/>
            <a:ext cx="3457346" cy="780898"/>
          </a:xfrm>
          <a:prstGeom prst="roundRect">
            <a:avLst>
              <a:gd name="adj" fmla="val 85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463186" y="2721254"/>
            <a:ext cx="75895" cy="267005"/>
          </a:xfrm>
          <a:prstGeom prst="roundRect">
            <a:avLst>
              <a:gd name="adj" fmla="val 602411"/>
            </a:avLst>
          </a:prstGeom>
          <a:solidFill>
            <a:srgbClr val="428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463186" y="3627425"/>
            <a:ext cx="75895" cy="267005"/>
          </a:xfrm>
          <a:prstGeom prst="roundRect">
            <a:avLst>
              <a:gd name="adj" fmla="val 602411"/>
            </a:avLst>
          </a:prstGeom>
          <a:solidFill>
            <a:srgbClr val="42F5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463186" y="4534510"/>
            <a:ext cx="75895" cy="267005"/>
          </a:xfrm>
          <a:prstGeom prst="roundRect">
            <a:avLst>
              <a:gd name="adj" fmla="val 602411"/>
            </a:avLst>
          </a:prstGeom>
          <a:solidFill>
            <a:srgbClr val="42D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463186" y="5441594"/>
            <a:ext cx="75895" cy="267005"/>
          </a:xfrm>
          <a:prstGeom prst="roundRect">
            <a:avLst>
              <a:gd name="adj" fmla="val 602411"/>
            </a:avLst>
          </a:prstGeom>
          <a:solidFill>
            <a:srgbClr val="B34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463186" y="6347765"/>
            <a:ext cx="75895" cy="267005"/>
          </a:xfrm>
          <a:prstGeom prst="roundRect">
            <a:avLst>
              <a:gd name="adj" fmla="val 602411"/>
            </a:avLst>
          </a:prstGeom>
          <a:solidFill>
            <a:srgbClr val="F5A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463186" y="7254850"/>
            <a:ext cx="75895" cy="267005"/>
          </a:xfrm>
          <a:prstGeom prst="roundRect">
            <a:avLst>
              <a:gd name="adj" fmla="val 602411"/>
            </a:avLst>
          </a:prstGeom>
          <a:solidFill>
            <a:srgbClr val="F54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4654296" y="2744114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654296" y="3650285"/>
            <a:ext cx="7196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4654296" y="4557370"/>
            <a:ext cx="13962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Network/ZTNA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654296" y="5464454"/>
            <a:ext cx="12051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654296" y="6370625"/>
            <a:ext cx="5477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654296" y="7277710"/>
            <a:ext cx="20720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Telemetry/Automation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518758" y="2739542"/>
            <a:ext cx="12097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505956" y="3646627"/>
            <a:ext cx="122895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6412687" y="4553712"/>
            <a:ext cx="1324051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329477" y="5460797"/>
            <a:ext cx="139994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580937" y="6366967"/>
            <a:ext cx="1152144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6644030" y="7274052"/>
            <a:ext cx="1086307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6595567" y="2768803"/>
            <a:ext cx="1157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CISO + IAM lead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581851" y="3674974"/>
            <a:ext cx="11768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EUEM/EDR lead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488582" y="4582058"/>
            <a:ext cx="1271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Sec lead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405372" y="5489143"/>
            <a:ext cx="13478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AppSec + Platform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6656832" y="6395314"/>
            <a:ext cx="11009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Gov + Sec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720840" y="7302398"/>
            <a:ext cx="10341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SecOps/SOAR</a:t>
            </a:r>
            <a:endParaRPr lang="en-US" sz="10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4678" y="2659075"/>
            <a:ext cx="142646" cy="19019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421624" y="2648102"/>
            <a:ext cx="24533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architecture &amp; ADRs</a:t>
            </a:r>
            <a:endParaRPr lang="en-US" sz="13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64678" y="3375050"/>
            <a:ext cx="190195" cy="19019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8469173" y="3364992"/>
            <a:ext cx="31482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 heatmap with 12m targets</a:t>
            </a:r>
            <a:endParaRPr lang="en-US" sz="13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8164678" y="4091940"/>
            <a:ext cx="219456" cy="19019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498434" y="4080967"/>
            <a:ext cx="25100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90/180/365 roadmap &amp; RACI</a:t>
            </a:r>
            <a:endParaRPr lang="en-US" sz="13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64678" y="4807915"/>
            <a:ext cx="142646" cy="1901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8421624" y="4797857"/>
            <a:ext cx="29388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Exception policy with review SLA</a:t>
            </a:r>
            <a:endParaRPr lang="en-US" sz="13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64678" y="5523890"/>
            <a:ext cx="190195" cy="1901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8469173" y="5513832"/>
            <a:ext cx="2843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 plan &amp; training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</Words>
  <Application>Microsoft Office PowerPoint</Application>
  <PresentationFormat>Widescreen</PresentationFormat>
  <Paragraphs>320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2025-11-11T04:08:21Z</dcterms:created>
  <dcterms:modified xsi:type="dcterms:W3CDTF">2025-11-11T15:12:49Z</dcterms:modified>
</cp:coreProperties>
</file>