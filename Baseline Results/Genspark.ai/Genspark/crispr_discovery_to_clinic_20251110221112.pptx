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48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3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16" r="-16"/>
          <a:stretch/>
        </p:blipFill>
        <p:spPr>
          <a:xfrm>
            <a:off x="10573207" y="-1005840"/>
            <a:ext cx="1429207" cy="28575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525219" y="295351"/>
            <a:ext cx="95445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CRISPR: From Discovery to Clinic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2420417" y="1116482"/>
            <a:ext cx="75255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concise tour from bacterial immunity to first‑in‑class human therapies—science, delivery, safety, ethics, and markets.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C2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2845613" y="514807"/>
            <a:ext cx="687171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Programmable Medicine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2318918" y="1464869"/>
            <a:ext cx="7724851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Guided by a short RNA, CRISPR tools cut, nick, or rewrite DNA/RNA—turning sequence into a therapeutic address.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C2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514807"/>
            <a:ext cx="567385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Roadmap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449324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937614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424989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913278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400654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888029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376318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4863694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5351069"/>
            <a:ext cx="372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AC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1449324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 &amp; Key Figures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1937614"/>
            <a:ext cx="44293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CRISPR Works (mechanism diagram)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424989"/>
            <a:ext cx="2543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Breakthroughs Timeline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913278"/>
            <a:ext cx="39154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Modalities (AAV, LNP, ex vivo)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400654"/>
            <a:ext cx="3353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Therapeutic Pipeline Landscape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888029"/>
            <a:ext cx="35533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Outlook (size &amp; segments)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4376318"/>
            <a:ext cx="3525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 Risks, Ethics &amp; Regulation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4863694"/>
            <a:ext cx="1485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Studies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5351069"/>
            <a:ext cx="29434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What's Next: Future Outlook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C2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732934" y="362102"/>
            <a:ext cx="305409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Figures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304495" y="1173175"/>
            <a:ext cx="5562295" cy="4695444"/>
          </a:xfrm>
          <a:prstGeom prst="roundRect">
            <a:avLst>
              <a:gd name="adj" fmla="val 316"/>
            </a:avLst>
          </a:prstGeom>
          <a:solidFill>
            <a:srgbClr val="00143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27648" y="1173175"/>
            <a:ext cx="5562295" cy="4466844"/>
          </a:xfrm>
          <a:prstGeom prst="roundRect">
            <a:avLst>
              <a:gd name="adj" fmla="val 349"/>
            </a:avLst>
          </a:prstGeom>
          <a:solidFill>
            <a:srgbClr val="00143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22109" r="22109"/>
          <a:stretch/>
        </p:blipFill>
        <p:spPr>
          <a:xfrm>
            <a:off x="2227478" y="1401775"/>
            <a:ext cx="1714500" cy="17145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22109" r="22109"/>
          <a:stretch/>
        </p:blipFill>
        <p:spPr>
          <a:xfrm>
            <a:off x="8249717" y="1401775"/>
            <a:ext cx="1714500" cy="17145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24305" y="3383280"/>
            <a:ext cx="333024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Jennifer Doudna, PhD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6944868" y="3383280"/>
            <a:ext cx="45399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Emmanuelle Charpentier, PhD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533095" y="3966667"/>
            <a:ext cx="4858207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 Berkeley biochemist; co‑discovered programmable CRISPR‑Cas9 genome editing (2012). Pioneered governance and ethical discourse for genome editing. 2020 Nobel Prize in Chemistry (with Emmanuelle Charpentier).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56248" y="3966667"/>
            <a:ext cx="5191963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Microbiologist who identified tracrRNA and co‑invented the CRISPR‑Cas9 editing system. Founding and scientific leadership at the Max Planck Unit for the Science of Pathogens. 2020 Nobel Prize in Chemistry.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3095" y="5013655"/>
            <a:ext cx="38405" cy="629107"/>
          </a:xfrm>
          <a:prstGeom prst="rect">
            <a:avLst/>
          </a:pr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556248" y="4785055"/>
            <a:ext cx="38405" cy="629107"/>
          </a:xfrm>
          <a:prstGeom prst="rect">
            <a:avLst/>
          </a:prstGeom>
          <a:solidFill>
            <a:srgbClr val="4DB6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724205" y="5109667"/>
            <a:ext cx="471739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"This technology gives us a way to rewrite the code of life. With that power comes profound responsibility."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746443" y="4881067"/>
            <a:ext cx="460309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"CRISPR is a simple concept with transformative implications when directed with precision and care."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529" r="152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10287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04495" y="276149"/>
            <a:ext cx="41724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CRISPR Works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5181905"/>
            <a:ext cx="12191695" cy="1676095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81305" y="5429707"/>
            <a:ext cx="8315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selection: Cas9 scans DNA for a PAM (e.g., NGG) and the 20-nt guide RNA (gRNA) base-pairs with the protospacer.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5734202"/>
            <a:ext cx="7058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Cutting: Cas9's HNH and RuvC domains cleave opposite strands to create a double-strand break (DSB).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6038698"/>
            <a:ext cx="6743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Repair pathways: NHEJ (error-prone, introduces indels) or HDR (precise edits with donor template)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1305" y="6344107"/>
            <a:ext cx="9421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Editor variants: Base editors (ABE/CBE) for single-base conversions without DSB; Prime editor for small insertions/deletions/substitutions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529" r="152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10287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04495" y="276149"/>
            <a:ext cx="513435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Breakthroughs Timeline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5181905"/>
            <a:ext cx="12191695" cy="1676095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81305" y="5429707"/>
            <a:ext cx="7658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2012 — Programmable CRISPR‑Cas9: In vitro demonstration of RNA‑guided DNA cleavage (Jinek et al., Science)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5734202"/>
            <a:ext cx="7125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2013 — Mammalian cell editing: CRISPR‑Cas9 enables targeted gene disruption and HDR in human cells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6038698"/>
            <a:ext cx="9039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2016-2019: Base editing introduced (ABE/CBE for DSB-free editing); Prime editing unveiled (insertions/deletions without donor DNA)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1305" y="6344107"/>
            <a:ext cx="10268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2020-2024: Nobel Prize recognition; First in vivo infusion (ATTR); First in-human base editing (PCSK9); First approvals (exa-cel/CASGEVY for SCD/TDT)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529" r="152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10287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04495" y="276149"/>
            <a:ext cx="88971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Modalities: Getting Editors to Cells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4232758"/>
            <a:ext cx="12191695" cy="26289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81305" y="4489704"/>
            <a:ext cx="4599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AAV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76295" y="4489704"/>
            <a:ext cx="4498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LNP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4489704"/>
            <a:ext cx="1964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Electroporation (ex vivo)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068105" y="4489704"/>
            <a:ext cx="13075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Non-viral/Other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81305" y="4797857"/>
            <a:ext cx="239847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for: In vivo editing in tissues with suitable serotypes (eye, muscle, CNS)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81305" y="5258714"/>
            <a:ext cx="271302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Pros: Strong tropism, single-dose potential, long-term expression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81305" y="5718658"/>
            <a:ext cx="283738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Constraints: Capsid size limits (~4.7 kb), pre-existing immunity, integration risk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81305" y="6178601"/>
            <a:ext cx="235092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Notables: EDIT-101 (AAV5), dual-AAV systems, compact SaCas9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276295" y="4797857"/>
            <a:ext cx="268467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for: In vivo liver delivery; expanding to extrahepatic targets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276295" y="5258714"/>
            <a:ext cx="237012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Pros: Transient expression, manufacturability, modular chemistry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276295" y="5718658"/>
            <a:ext cx="241767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Constraints: Hepatocyte bias, infusion reactions, endosomal escape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276295" y="6178601"/>
            <a:ext cx="261792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Notables: NTLA-2001 (ATTR), VERVE-101 (PCSK9)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4797857"/>
            <a:ext cx="227502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for: Autologous/allogeneic cell therapies (HSPCs, T cells)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5258714"/>
            <a:ext cx="258958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Pros: Transient RNP delivery, high editing rates, multiplex capability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5718658"/>
            <a:ext cx="248442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Constraints: Manufacturing complexity, conditioning regimens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6178601"/>
            <a:ext cx="26371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Notables: Exa-cel/CASGEVY for SCD/TDT, multiplex CAR-T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068105" y="4797857"/>
            <a:ext cx="261792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for: Emerging systemic/extracellular targets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068105" y="5258714"/>
            <a:ext cx="280812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Pros: Targeted delivery potential, avoids viral immunity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068105" y="5718658"/>
            <a:ext cx="262707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Constraints: Lower efficiency, formulation challenges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068105" y="6178601"/>
            <a:ext cx="258958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Notables: VLPs, polymeric/ionizable lipid hybrids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24798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52044"/>
            <a:ext cx="66961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2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Therapeutic Pipeline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1405"/>
            <a:ext cx="11277295" cy="609905"/>
          </a:xfrm>
          <a:prstGeom prst="roundRect">
            <a:avLst>
              <a:gd name="adj" fmla="val 9370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276502"/>
            <a:ext cx="5568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200+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26510" y="1276502"/>
            <a:ext cx="4709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~40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63717" y="1276502"/>
            <a:ext cx="4709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26526" y="1276502"/>
            <a:ext cx="4142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067898" y="1276502"/>
            <a:ext cx="2423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3095" y="1550822"/>
            <a:ext cx="123444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Discovery/Preclinical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572561" y="1550822"/>
            <a:ext cx="53035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09767" y="1550822"/>
            <a:ext cx="53035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46059" y="1550822"/>
            <a:ext cx="53035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582351" y="1550822"/>
            <a:ext cx="116860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 (2023-24)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15007"/>
            <a:ext cx="14383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Disease Categories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00300"/>
            <a:ext cx="2781605" cy="88605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400300"/>
            <a:ext cx="38405" cy="88605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360420"/>
            <a:ext cx="2781605" cy="88605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360420"/>
            <a:ext cx="38405" cy="88605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320540"/>
            <a:ext cx="2781605" cy="69494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320540"/>
            <a:ext cx="38405" cy="69494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5086807"/>
            <a:ext cx="2781605" cy="88605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5086807"/>
            <a:ext cx="38405" cy="88605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6046927"/>
            <a:ext cx="2781605" cy="88605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6046927"/>
            <a:ext cx="38405" cy="88605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7395" y="2533802"/>
            <a:ext cx="1552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Hematology (ex vivo)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" y="3493922"/>
            <a:ext cx="2200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Cardio-metabolic (in vivo, liver)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7395" y="4454042"/>
            <a:ext cx="2210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Ophthalmology (in vivo, ocular)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" y="5220310"/>
            <a:ext cx="13624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Oncology (ex vivo)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" y="6180430"/>
            <a:ext cx="1600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Rare genetic (various)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7395" y="2762402"/>
            <a:ext cx="20217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Indications: Sickle cell disease, β-thalassemia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47395" y="3722522"/>
            <a:ext cx="231709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Indications: ATTR amyloidosis, PCSK9, Lp(a)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7395" y="4682642"/>
            <a:ext cx="20884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Indications: LCA10, Choroideremia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7395" y="5448910"/>
            <a:ext cx="22594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Indications: B-cell malignancies, Solid tumors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" y="6409030"/>
            <a:ext cx="225033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Indications: AATD, DMD, CNS/hearing targets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556102" y="2229307"/>
            <a:ext cx="14081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Discovery/Preclinical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27218" y="2229307"/>
            <a:ext cx="5989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295998" y="2229307"/>
            <a:ext cx="5989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2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965692" y="2229307"/>
            <a:ext cx="5989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87838" y="2229307"/>
            <a:ext cx="694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90595" y="2681935"/>
            <a:ext cx="1638605" cy="437998"/>
          </a:xfrm>
          <a:prstGeom prst="rect">
            <a:avLst/>
          </a:prstGeom>
          <a:solidFill>
            <a:srgbClr val="0369A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90595" y="3193085"/>
            <a:ext cx="1638605" cy="437998"/>
          </a:xfrm>
          <a:prstGeom prst="rect">
            <a:avLst/>
          </a:prstGeom>
          <a:solidFill>
            <a:srgbClr val="0369A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390595" y="3703320"/>
            <a:ext cx="1638605" cy="437998"/>
          </a:xfrm>
          <a:prstGeom prst="rect">
            <a:avLst/>
          </a:prstGeom>
          <a:solidFill>
            <a:srgbClr val="0369A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90595" y="4214470"/>
            <a:ext cx="1638605" cy="437998"/>
          </a:xfrm>
          <a:prstGeom prst="rect">
            <a:avLst/>
          </a:prstGeom>
          <a:solidFill>
            <a:srgbClr val="0369A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390595" y="4724705"/>
            <a:ext cx="1638605" cy="437998"/>
          </a:xfrm>
          <a:prstGeom prst="rect">
            <a:avLst/>
          </a:prstGeom>
          <a:solidFill>
            <a:srgbClr val="0369A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059375" y="4724705"/>
            <a:ext cx="1638605" cy="437998"/>
          </a:xfrm>
          <a:prstGeom prst="rect">
            <a:avLst/>
          </a:prstGeom>
          <a:solidFill>
            <a:srgbClr val="0369A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3731666" y="2815438"/>
            <a:ext cx="10561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HSPCs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3729838" y="3326587"/>
            <a:ext cx="10652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targets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677717" y="3836822"/>
            <a:ext cx="11603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Next-gen capsids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557016" y="4347972"/>
            <a:ext cx="14081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CAR designs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3622853" y="4858207"/>
            <a:ext cx="12746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Prime/base editors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424221" y="4858207"/>
            <a:ext cx="10085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LNPs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59375" y="2681935"/>
            <a:ext cx="1638605" cy="437998"/>
          </a:xfrm>
          <a:prstGeom prst="rect">
            <a:avLst/>
          </a:prstGeom>
          <a:solidFill>
            <a:srgbClr val="0369A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059375" y="3193085"/>
            <a:ext cx="1638605" cy="437998"/>
          </a:xfrm>
          <a:prstGeom prst="rect">
            <a:avLst/>
          </a:prstGeom>
          <a:solidFill>
            <a:srgbClr val="0369A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59375" y="3703320"/>
            <a:ext cx="1638605" cy="437998"/>
          </a:xfrm>
          <a:prstGeom prst="rect">
            <a:avLst/>
          </a:prstGeom>
          <a:solidFill>
            <a:srgbClr val="0369A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059375" y="4214470"/>
            <a:ext cx="1638605" cy="437998"/>
          </a:xfrm>
          <a:prstGeom prst="rect">
            <a:avLst/>
          </a:prstGeom>
          <a:solidFill>
            <a:srgbClr val="0369A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728155" y="4214470"/>
            <a:ext cx="1638605" cy="437998"/>
          </a:xfrm>
          <a:prstGeom prst="rect">
            <a:avLst/>
          </a:prstGeom>
          <a:solidFill>
            <a:srgbClr val="0369A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5554066" y="2815438"/>
            <a:ext cx="7507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BEAM-101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159045" y="3326587"/>
            <a:ext cx="15416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NTLA-2001, VERVE-101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606186" y="3836822"/>
            <a:ext cx="646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EDIT-101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5348326" y="4347972"/>
            <a:ext cx="11603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Allogeneic CAR-T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098487" y="4347972"/>
            <a:ext cx="9985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Multiplex edits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28155" y="2681935"/>
            <a:ext cx="1638605" cy="437998"/>
          </a:xfrm>
          <a:prstGeom prst="rect">
            <a:avLst/>
          </a:prstGeom>
          <a:solidFill>
            <a:srgbClr val="0369A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728155" y="3193085"/>
            <a:ext cx="1638605" cy="437998"/>
          </a:xfrm>
          <a:prstGeom prst="rect">
            <a:avLst/>
          </a:prstGeom>
          <a:solidFill>
            <a:srgbClr val="0369A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7099402" y="2815438"/>
            <a:ext cx="9985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HSC programs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210044" y="3326587"/>
            <a:ext cx="7799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ATTR trials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396935" y="2681935"/>
            <a:ext cx="1638605" cy="437998"/>
          </a:xfrm>
          <a:prstGeom prst="rect">
            <a:avLst/>
          </a:prstGeom>
          <a:solidFill>
            <a:srgbClr val="0369A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8996782" y="2815438"/>
            <a:ext cx="5413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exa-cel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065715" y="2681935"/>
            <a:ext cx="1638605" cy="437998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10580522" y="2815438"/>
            <a:ext cx="7132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CASGEVY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396935" y="3193085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065715" y="3193085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728155" y="3703320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396935" y="3703320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065715" y="3703320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396935" y="4214470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065715" y="4214470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728155" y="4724705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396935" y="4724705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065715" y="4724705"/>
            <a:ext cx="1638605" cy="437998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57200" y="7159752"/>
            <a:ext cx="11277295" cy="1657807"/>
          </a:xfrm>
          <a:prstGeom prst="roundRect">
            <a:avLst>
              <a:gd name="adj" fmla="val 2536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 txBox="1"/>
          <p:nvPr/>
        </p:nvSpPr>
        <p:spPr>
          <a:xfrm>
            <a:off x="619049" y="7349947"/>
            <a:ext cx="38679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52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Approved CRISPR Therapy</a:t>
            </a:r>
            <a:endParaRPr lang="en-US" sz="1800" dirty="0"/>
          </a:p>
        </p:txBody>
      </p:sp>
      <p:sp>
        <p:nvSpPr>
          <p:cNvPr id="83" name="Text 81"/>
          <p:cNvSpPr txBox="1"/>
          <p:nvPr/>
        </p:nvSpPr>
        <p:spPr>
          <a:xfrm>
            <a:off x="619049" y="7759598"/>
            <a:ext cx="3848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Name: Exagamglogene autotemcel (exa-cel/CASGEVY)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19049" y="7988198"/>
            <a:ext cx="5686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Modality: Ex vivo CRISPR/Cas9 RNP edit of autologous HSPCs (BCL11A enhancer)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19049" y="8216798"/>
            <a:ext cx="5287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Indications: Severe sickle cell disease; Transfusion-dependent β-thalassemia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19049" y="8445398"/>
            <a:ext cx="4677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522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First CRISPR therapy approved in multiple regions (2023-24)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10287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04495" y="276149"/>
            <a:ext cx="78108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Outlook: CRISPR Therapeutics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5181905"/>
            <a:ext cx="12191695" cy="1676095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81305" y="5429707"/>
            <a:ext cx="5658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Projected Revenue Growth (USD billions): 2024: $0.6B → 2027: $6B → 2030: $18B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5734202"/>
            <a:ext cx="9658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Breakdown: Ex vivo cell therapies (blue, largest segment); In vivo liver (teal); In vivo extrahepatic (green); Ocular therapies (light blue)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6038698"/>
            <a:ext cx="11420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Assumptions: Progressive approvals in hematology and liver indications; Manufacturing scale-up reduces costs; Extrahepatic delivery breakthroughs by late decade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1305" y="6344107"/>
            <a:ext cx="5915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For planning discussion only; directional and non-binding; not investment advice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C23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362102"/>
            <a:ext cx="818845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Risks, Ethics &amp; Regulation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173175"/>
            <a:ext cx="5486400" cy="4867351"/>
          </a:xfrm>
          <a:prstGeom prst="roundRect">
            <a:avLst>
              <a:gd name="adj" fmla="val 294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48095" y="1173175"/>
            <a:ext cx="5486400" cy="4867351"/>
          </a:xfrm>
          <a:prstGeom prst="roundRect">
            <a:avLst>
              <a:gd name="adj" fmla="val 294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09905" y="1354226"/>
            <a:ext cx="3191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Risks &amp; Mitigations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354226"/>
            <a:ext cx="3886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DD0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Ethics &amp; Regulatory Framework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1849831"/>
            <a:ext cx="1687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Risk: Off-target edits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703881"/>
            <a:ext cx="21076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Risk: On-target complexity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557016"/>
            <a:ext cx="21927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Risk: Vector-related toxicity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4411066"/>
            <a:ext cx="2383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Risk: Immunity to Cas/vectors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5058461"/>
            <a:ext cx="14977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Toolkit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" y="2129638"/>
            <a:ext cx="465612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High-fidelity nucleases (eSpCas9, HiFi Cas9); Guide optimization; Off-target mapping (GUIDE-seq, CIRCLE-seq); Dose minimization and transient delivery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61695" y="2983687"/>
            <a:ext cx="491307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Favor base/prime editors; Allele-aware design; Long-read sequencing; Functional assays for tumor suppressor pathways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61695" y="3836822"/>
            <a:ext cx="5037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doses with potent promoters; Integration site analysis; Patient selection and monitoring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61695" y="4690872"/>
            <a:ext cx="50657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Pre-screening for antibodies; Humanized enzymes; Transient exposure; Prophylaxis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61695" y="5339182"/>
            <a:ext cx="486552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Amplicon NGS/WGS; GUIDE-seq/CIRCLE-seq; Vector integration assays; Clinical labs; 15-year follow-up registries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49831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Ethics Topics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321101"/>
            <a:ext cx="16687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DD0E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Overview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53505" y="2129638"/>
            <a:ext cx="33512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Somatic vs. germline boundary—therapeutic use only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53505" y="2335378"/>
            <a:ext cx="25795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Informed consent and data stewardship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53505" y="2541118"/>
            <a:ext cx="22082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Equitable access and affordability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53505" y="2747772"/>
            <a:ext cx="27706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Pediatric/rare disease risk–benefit calculus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53505" y="2953512"/>
            <a:ext cx="26087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Avoiding enhancement uses and misuse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53505" y="3600907"/>
            <a:ext cx="460857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 FDA: CBER draft guidance (2022) for human genome editing; off-target assessment, CMC, long-term follow-up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553505" y="4012387"/>
            <a:ext cx="438912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EU EMA: ATMP framework; gene editing under gene therapy guidelines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53505" y="4218127"/>
            <a:ext cx="434157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UK MHRA: ILAP/Innovation pathways for accelerated access with risk management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53505" y="4630522"/>
            <a:ext cx="491307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WHO: 2021 recommendations for governance and oversight of human genome editing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rcRect l="418" r="41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C23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04495" y="352044"/>
            <a:ext cx="60204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Studies &amp; What's Next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04495" y="1104595"/>
            <a:ext cx="3476549" cy="3029407"/>
          </a:xfrm>
          <a:prstGeom prst="roundRect">
            <a:avLst>
              <a:gd name="adj" fmla="val 75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358945" y="1104595"/>
            <a:ext cx="3476549" cy="3029407"/>
          </a:xfrm>
          <a:prstGeom prst="roundRect">
            <a:avLst>
              <a:gd name="adj" fmla="val 75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412480" y="1104595"/>
            <a:ext cx="3476549" cy="3029407"/>
          </a:xfrm>
          <a:prstGeom prst="roundRect">
            <a:avLst>
              <a:gd name="adj" fmla="val 759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57200" y="1276502"/>
            <a:ext cx="281452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Exagamglogene autotemcel (exa-cel/CASGEVY)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10735" y="1276502"/>
            <a:ext cx="11283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NTLA-2001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565185" y="1276502"/>
            <a:ext cx="1109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VERVE-101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939442"/>
            <a:ext cx="29151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Modality: Ex vivo CRISPR/Cas9 RNP; autologous HSPC edit (BCL11A enhancer)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396642"/>
            <a:ext cx="26106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Indication: Severe sickle cell disease; transfusion-dependent β-thalassemia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853842"/>
            <a:ext cx="3134563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results: High rates of elimination of VOCs (SCD); Durable HbF induction; transfusion independence in many TDT patients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539642"/>
            <a:ext cx="32104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Requires myeloablation and specialized manufacturing/logistics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10735" y="1665122"/>
            <a:ext cx="32104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Modality: In vivo CRISPR/Cas9 via LNP (mRNA + gRNA)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10735" y="2122322"/>
            <a:ext cx="32488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Indication: Hereditary transthyretin amyloidosis (ATTR)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10735" y="2579522"/>
            <a:ext cx="30294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results: Single IV dose achieves dose-dependent TTR reductions (often &gt;80–90%)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10735" y="3036722"/>
            <a:ext cx="31153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Demonstrates systemic in vivo editing feasibility in humans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565185" y="1665122"/>
            <a:ext cx="31720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Modality: In vivo adenine base editor (ABE) via LNP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565185" y="2122322"/>
            <a:ext cx="22960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Indication: Heterozygous familial hypercholesterolemia (PCSK9)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65185" y="2579522"/>
            <a:ext cx="3143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results: Sustained LDL-C lowering in early clinical data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65185" y="3036722"/>
            <a:ext cx="32296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Notes: First clinical base editing program; long-term durability under observation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04495" y="4539996"/>
            <a:ext cx="171724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FC3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Next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304495" y="5029200"/>
            <a:ext cx="11582705" cy="1218895"/>
          </a:xfrm>
          <a:prstGeom prst="roundRect">
            <a:avLst>
              <a:gd name="adj" fmla="val 4689"/>
            </a:avLst>
          </a:prstGeom>
          <a:solidFill>
            <a:srgbClr val="00193C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57200" y="5201107"/>
            <a:ext cx="49149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Prime editing enters/approaches clinical testing for precise corrections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321247" y="5201107"/>
            <a:ext cx="5401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Targeted LNPs and next-gen capsids broaden beyond liver (lung, muscle, CNS)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5505602"/>
            <a:ext cx="5029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In vivo gene insertion and safe-harbor strategies for durable replacement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21247" y="5505602"/>
            <a:ext cx="4410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Multiplex editing for off-the-shelf cell therapies with logic gating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5810098"/>
            <a:ext cx="4219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CRISPRi/a and epigenome editing for reversible gene control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21247" y="5810098"/>
            <a:ext cx="4972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Manufacturing scale-out and outcomes-based pricing to expand access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Microsoft Office PowerPoint</Application>
  <PresentationFormat>Widescreen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Md Haque</cp:lastModifiedBy>
  <cp:revision>1</cp:revision>
  <dcterms:created xsi:type="dcterms:W3CDTF">2025-11-10T22:11:11Z</dcterms:created>
  <dcterms:modified xsi:type="dcterms:W3CDTF">2025-11-11T15:11:42Z</dcterms:modified>
</cp:coreProperties>
</file>