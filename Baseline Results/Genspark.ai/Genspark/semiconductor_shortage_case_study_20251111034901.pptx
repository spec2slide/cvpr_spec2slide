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881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44.png"/><Relationship Id="rId3" Type="http://schemas.openxmlformats.org/officeDocument/2006/relationships/image" Target="../media/image4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418" r="41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137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8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872070" y="286207"/>
            <a:ext cx="905256" cy="314554"/>
          </a:xfrm>
          <a:prstGeom prst="roundRect">
            <a:avLst>
              <a:gd name="adj" fmla="val 35236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8871509" y="286207"/>
            <a:ext cx="819302" cy="314554"/>
          </a:xfrm>
          <a:prstGeom prst="roundRect">
            <a:avLst>
              <a:gd name="adj" fmla="val 35236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9784080" y="286207"/>
            <a:ext cx="761695" cy="314554"/>
          </a:xfrm>
          <a:prstGeom prst="roundRect">
            <a:avLst>
              <a:gd name="adj" fmla="val 35236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0637215" y="286207"/>
            <a:ext cx="895198" cy="314554"/>
          </a:xfrm>
          <a:prstGeom prst="roundRect">
            <a:avLst>
              <a:gd name="adj" fmla="val 35236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7986370" y="342900"/>
            <a:ext cx="6437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985809" y="342900"/>
            <a:ext cx="5577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9898380" y="342900"/>
            <a:ext cx="4910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0751515" y="342900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8560613" y="362102"/>
            <a:ext cx="1673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9473184" y="362102"/>
            <a:ext cx="1673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326319" y="362102"/>
            <a:ext cx="1673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1821485"/>
            <a:ext cx="74112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</a:t>
            </a:r>
            <a:endParaRPr lang="en-US" sz="4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2535631"/>
            <a:ext cx="362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</a:t>
            </a:r>
            <a:endParaRPr lang="en-US" sz="450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3402482"/>
            <a:ext cx="14200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2020–2023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71500" y="3964838"/>
            <a:ext cx="7344461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 perfect storm of demand shifts, supply shocks, and geopolitics stretched lead times, idled factories, and reshaped industrial policy—and what resilient operators did differently.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71500" y="6105449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November 2023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28685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000"/>
          </a:blip>
          <a:srcRect t="-3128" b="-3128"/>
          <a:stretch/>
        </p:blipFill>
        <p:spPr>
          <a:xfrm>
            <a:off x="0" y="0"/>
            <a:ext cx="12191695" cy="728685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14807"/>
            <a:ext cx="2076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44906" y="1528877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3853282"/>
            <a:ext cx="324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40334" y="5014570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6501" y="5596128"/>
            <a:ext cx="333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8330" y="6176772"/>
            <a:ext cx="333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514246"/>
            <a:ext cx="14246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Causes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544300" y="1604772"/>
            <a:ext cx="75895" cy="7589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658600" y="1643177"/>
            <a:ext cx="3429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06501" y="2109521"/>
            <a:ext cx="333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" y="4433926"/>
            <a:ext cx="333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095805"/>
            <a:ext cx="4500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Anatomy + Fab Capacity Map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5000854"/>
            <a:ext cx="15389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Heatmap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5581498"/>
            <a:ext cx="21671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 Playbook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6163056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Timeline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1544300" y="2186330"/>
            <a:ext cx="75895" cy="75895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1658600" y="2223821"/>
            <a:ext cx="3429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07415" y="2691079"/>
            <a:ext cx="333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2676449"/>
            <a:ext cx="32433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Lead-Time Trend (2020–2023)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838651"/>
            <a:ext cx="1881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 Levers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1544300" y="2766974"/>
            <a:ext cx="75895" cy="75895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1658600" y="2805379"/>
            <a:ext cx="3429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04672" y="3271723"/>
            <a:ext cx="333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3258007"/>
            <a:ext cx="19193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Impacted Sectors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4419295"/>
            <a:ext cx="32058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Incentives (CHIPS Acts)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1544300" y="4509821"/>
            <a:ext cx="75895" cy="75895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658600" y="4548226"/>
            <a:ext cx="3429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544300" y="5091379"/>
            <a:ext cx="75895" cy="7589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1658600" y="5128870"/>
            <a:ext cx="3429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1544300" y="5672023"/>
            <a:ext cx="75895" cy="75895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1658600" y="5710428"/>
            <a:ext cx="3429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8705088" y="6801307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 Case Study (2020-2023)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457200"/>
            <a:ext cx="68964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Causes: A Convergence of Shocks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162202"/>
            <a:ext cx="5410505" cy="2495398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3886200"/>
            <a:ext cx="5410505" cy="2495398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0100" y="1390802"/>
            <a:ext cx="381305" cy="381305"/>
          </a:xfrm>
          <a:prstGeom prst="ellipse">
            <a:avLst/>
          </a:prstGeom>
          <a:solidFill>
            <a:srgbClr val="F8717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1505102"/>
            <a:ext cx="152705" cy="1527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10605" y="1162202"/>
            <a:ext cx="5410505" cy="2495398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210605" y="3886200"/>
            <a:ext cx="5410505" cy="2495398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1295705" y="1481328"/>
            <a:ext cx="2072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Pandemic &amp; Operations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933895" y="1481328"/>
            <a:ext cx="1595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Mix Shift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933895" y="4205326"/>
            <a:ext cx="17675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Geopolitics &amp; Policy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90295" y="1943100"/>
            <a:ext cx="45628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COVID demand whiplash: early auto cancellations, then sharp rebound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90295" y="2476195"/>
            <a:ext cx="46771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Factory disruptions: lockdowns; Texas freeze (2021); Japan fab fire; Malaysia OSAT lockdowns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2247595"/>
            <a:ext cx="44394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Automotive electrification/ADAS content up; consoles/GPUs cycles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39205" y="1390802"/>
            <a:ext cx="381305" cy="381305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53505" y="1505102"/>
            <a:ext cx="15270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29400" y="1943100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Work-from-home surge: PCs, networking, data center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00100" y="4114800"/>
            <a:ext cx="381305" cy="38130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905256" y="4229100"/>
            <a:ext cx="171907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95705" y="4205326"/>
            <a:ext cx="1643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Structure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90295" y="4667098"/>
            <a:ext cx="40672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 mature-node capacity: 90–28nm, 8-inch lines for MCUs/analog/power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90295" y="5201107"/>
            <a:ext cx="4782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equipment lead times; capex prioritized at advanced nodes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629400" y="4667098"/>
            <a:ext cx="2829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controls and licensing scrutiny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629400" y="4972507"/>
            <a:ext cx="4219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constraints and component allocation practices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439205" y="4114800"/>
            <a:ext cx="381305" cy="381305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53505" y="4229100"/>
            <a:ext cx="152705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05088" y="6372454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 Case Study (2020-2023)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457200"/>
            <a:ext cx="70683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Supply Chain at a Glance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676095" y="2872130"/>
            <a:ext cx="8839505" cy="95098"/>
          </a:xfrm>
          <a:prstGeom prst="roundRect">
            <a:avLst>
              <a:gd name="adj" fmla="val 480767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72107" y="2900477"/>
            <a:ext cx="8648395" cy="38405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2605126" y="2776118"/>
            <a:ext cx="123444" cy="1901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4891126" y="2776118"/>
            <a:ext cx="123444" cy="19019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7177126" y="2776118"/>
            <a:ext cx="123444" cy="190195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9463126" y="2776118"/>
            <a:ext cx="123444" cy="19019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571500" y="4990795"/>
            <a:ext cx="11676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Bottlenecks:</a:t>
            </a:r>
            <a:endParaRPr lang="en-US" sz="1300" dirty="0"/>
          </a:p>
        </p:txBody>
      </p:sp>
      <p:sp>
        <p:nvSpPr>
          <p:cNvPr id="12" name="Shape 5"/>
          <p:cNvSpPr/>
          <p:nvPr/>
        </p:nvSpPr>
        <p:spPr>
          <a:xfrm>
            <a:off x="571500" y="5372100"/>
            <a:ext cx="5447995" cy="428854"/>
          </a:xfrm>
          <a:prstGeom prst="roundRect">
            <a:avLst>
              <a:gd name="adj" fmla="val 18953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6"/>
          <p:cNvSpPr/>
          <p:nvPr/>
        </p:nvSpPr>
        <p:spPr>
          <a:xfrm>
            <a:off x="571500" y="5372100"/>
            <a:ext cx="38405" cy="42885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5519318"/>
            <a:ext cx="133502" cy="133502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6172200" y="5372100"/>
            <a:ext cx="5447995" cy="428854"/>
          </a:xfrm>
          <a:prstGeom prst="roundRect">
            <a:avLst>
              <a:gd name="adj" fmla="val 18953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8"/>
          <p:cNvSpPr/>
          <p:nvPr/>
        </p:nvSpPr>
        <p:spPr>
          <a:xfrm>
            <a:off x="6172200" y="5372100"/>
            <a:ext cx="38405" cy="42885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9"/>
          <p:cNvSpPr txBox="1"/>
          <p:nvPr/>
        </p:nvSpPr>
        <p:spPr>
          <a:xfrm>
            <a:off x="895198" y="5505602"/>
            <a:ext cx="32250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Mature-node fab capacity (8-inch, 200mm tools)</a:t>
            </a:r>
            <a:endParaRPr lang="en-US" sz="1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6362395" y="5519318"/>
            <a:ext cx="171907" cy="133502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571500" y="5952744"/>
            <a:ext cx="5447995" cy="428854"/>
          </a:xfrm>
          <a:prstGeom prst="roundRect">
            <a:avLst>
              <a:gd name="adj" fmla="val 18953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1"/>
          <p:cNvSpPr/>
          <p:nvPr/>
        </p:nvSpPr>
        <p:spPr>
          <a:xfrm>
            <a:off x="571500" y="5952744"/>
            <a:ext cx="38405" cy="42885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2"/>
          <p:cNvSpPr txBox="1"/>
          <p:nvPr/>
        </p:nvSpPr>
        <p:spPr>
          <a:xfrm>
            <a:off x="6534302" y="5505602"/>
            <a:ext cx="25484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OSAT throughput and labor availability</a:t>
            </a:r>
            <a:endParaRPr lang="en-US" sz="10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6100877"/>
            <a:ext cx="133502" cy="133502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6172200" y="5952744"/>
            <a:ext cx="5447995" cy="428854"/>
          </a:xfrm>
          <a:prstGeom prst="roundRect">
            <a:avLst>
              <a:gd name="adj" fmla="val 18953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4"/>
          <p:cNvSpPr/>
          <p:nvPr/>
        </p:nvSpPr>
        <p:spPr>
          <a:xfrm>
            <a:off x="6172200" y="5952744"/>
            <a:ext cx="38405" cy="42885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5"/>
          <p:cNvSpPr txBox="1"/>
          <p:nvPr/>
        </p:nvSpPr>
        <p:spPr>
          <a:xfrm>
            <a:off x="895198" y="6086246"/>
            <a:ext cx="34244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equipment/tool lead times (litho, test handlers)</a:t>
            </a:r>
            <a:endParaRPr lang="en-US" sz="1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6362395" y="6100877"/>
            <a:ext cx="105156" cy="133502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467551" y="6086246"/>
            <a:ext cx="3834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Qualification cycles for alternates (safety-critical domains)</a:t>
            </a:r>
            <a:endParaRPr lang="en-US" sz="1000" dirty="0"/>
          </a:p>
        </p:txBody>
      </p:sp>
      <p:sp>
        <p:nvSpPr>
          <p:cNvPr id="28" name="Text 17"/>
          <p:cNvSpPr txBox="1"/>
          <p:nvPr/>
        </p:nvSpPr>
        <p:spPr>
          <a:xfrm>
            <a:off x="8705088" y="6372454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 Case Study (2020-2023)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571500" y="1162202"/>
            <a:ext cx="1904695" cy="3419856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19"/>
          <p:cNvSpPr/>
          <p:nvPr/>
        </p:nvSpPr>
        <p:spPr>
          <a:xfrm>
            <a:off x="2857500" y="1162202"/>
            <a:ext cx="1904695" cy="3419856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0"/>
          <p:cNvSpPr/>
          <p:nvPr/>
        </p:nvSpPr>
        <p:spPr>
          <a:xfrm>
            <a:off x="5143500" y="1162202"/>
            <a:ext cx="1904695" cy="3419856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1"/>
          <p:cNvSpPr/>
          <p:nvPr/>
        </p:nvSpPr>
        <p:spPr>
          <a:xfrm>
            <a:off x="7429500" y="1162202"/>
            <a:ext cx="1904695" cy="3419856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2"/>
          <p:cNvSpPr/>
          <p:nvPr/>
        </p:nvSpPr>
        <p:spPr>
          <a:xfrm>
            <a:off x="9715500" y="1162202"/>
            <a:ext cx="1904695" cy="3419856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3"/>
          <p:cNvSpPr/>
          <p:nvPr/>
        </p:nvSpPr>
        <p:spPr>
          <a:xfrm>
            <a:off x="761695" y="1685239"/>
            <a:ext cx="1524305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4"/>
          <p:cNvSpPr/>
          <p:nvPr/>
        </p:nvSpPr>
        <p:spPr>
          <a:xfrm>
            <a:off x="3047695" y="1685239"/>
            <a:ext cx="1524305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5"/>
          <p:cNvSpPr/>
          <p:nvPr/>
        </p:nvSpPr>
        <p:spPr>
          <a:xfrm>
            <a:off x="5333695" y="1943100"/>
            <a:ext cx="1524305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6"/>
          <p:cNvSpPr/>
          <p:nvPr/>
        </p:nvSpPr>
        <p:spPr>
          <a:xfrm>
            <a:off x="7619695" y="1685239"/>
            <a:ext cx="1524305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27"/>
          <p:cNvSpPr/>
          <p:nvPr/>
        </p:nvSpPr>
        <p:spPr>
          <a:xfrm>
            <a:off x="9905695" y="1685239"/>
            <a:ext cx="1524305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8"/>
          <p:cNvSpPr txBox="1"/>
          <p:nvPr/>
        </p:nvSpPr>
        <p:spPr>
          <a:xfrm>
            <a:off x="1123798" y="1380744"/>
            <a:ext cx="929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Design/IP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3074213" y="1380744"/>
            <a:ext cx="16056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Wafer Fabrication</a:t>
            </a:r>
            <a:endParaRPr lang="en-US" sz="1300" dirty="0"/>
          </a:p>
        </p:txBody>
      </p:sp>
      <p:sp>
        <p:nvSpPr>
          <p:cNvPr id="41" name="Text 30"/>
          <p:cNvSpPr txBox="1"/>
          <p:nvPr/>
        </p:nvSpPr>
        <p:spPr>
          <a:xfrm>
            <a:off x="5479999" y="1380744"/>
            <a:ext cx="136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Assembly/Test (OSAT)</a:t>
            </a:r>
            <a:endParaRPr lang="en-US" sz="1300" dirty="0"/>
          </a:p>
        </p:txBody>
      </p:sp>
      <p:sp>
        <p:nvSpPr>
          <p:cNvPr id="42" name="Text 31"/>
          <p:cNvSpPr txBox="1"/>
          <p:nvPr/>
        </p:nvSpPr>
        <p:spPr>
          <a:xfrm>
            <a:off x="7899502" y="1380744"/>
            <a:ext cx="11009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10252253" y="1380744"/>
            <a:ext cx="9674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OEM/EMS</a:t>
            </a:r>
            <a:endParaRPr lang="en-US" sz="1300" dirty="0"/>
          </a:p>
        </p:txBody>
      </p:sp>
      <p:sp>
        <p:nvSpPr>
          <p:cNvPr id="44" name="Text 33"/>
          <p:cNvSpPr txBox="1"/>
          <p:nvPr/>
        </p:nvSpPr>
        <p:spPr>
          <a:xfrm>
            <a:off x="761695" y="1837944"/>
            <a:ext cx="153893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Players: IDMs, fabless, EDA, IP vendors</a:t>
            </a:r>
            <a:endParaRPr lang="en-US" sz="1000" dirty="0"/>
          </a:p>
        </p:txBody>
      </p:sp>
      <p:sp>
        <p:nvSpPr>
          <p:cNvPr id="45" name="Text 34"/>
          <p:cNvSpPr txBox="1"/>
          <p:nvPr/>
        </p:nvSpPr>
        <p:spPr>
          <a:xfrm>
            <a:off x="3047695" y="1837944"/>
            <a:ext cx="152887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Players: Foundries (TSMC, Samsung, UMC, GF, SMIC), IDMs</a:t>
            </a:r>
            <a:endParaRPr lang="en-US" sz="1000" dirty="0"/>
          </a:p>
        </p:txBody>
      </p:sp>
      <p:sp>
        <p:nvSpPr>
          <p:cNvPr id="46" name="Text 35"/>
          <p:cNvSpPr txBox="1"/>
          <p:nvPr/>
        </p:nvSpPr>
        <p:spPr>
          <a:xfrm>
            <a:off x="5333695" y="2095805"/>
            <a:ext cx="152887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Players: ASE, Amkor, JCET, SPIL; significant SEA footprint</a:t>
            </a:r>
            <a:endParaRPr lang="en-US" sz="1000" dirty="0"/>
          </a:p>
        </p:txBody>
      </p:sp>
      <p:sp>
        <p:nvSpPr>
          <p:cNvPr id="47" name="Text 36"/>
          <p:cNvSpPr txBox="1"/>
          <p:nvPr/>
        </p:nvSpPr>
        <p:spPr>
          <a:xfrm>
            <a:off x="7619695" y="1837944"/>
            <a:ext cx="161483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Players: Avnet, Arrow; franchised/independent channels</a:t>
            </a:r>
            <a:endParaRPr lang="en-US" sz="1000" dirty="0"/>
          </a:p>
        </p:txBody>
      </p:sp>
      <p:sp>
        <p:nvSpPr>
          <p:cNvPr id="48" name="Text 37"/>
          <p:cNvSpPr txBox="1"/>
          <p:nvPr/>
        </p:nvSpPr>
        <p:spPr>
          <a:xfrm>
            <a:off x="9905695" y="1837944"/>
            <a:ext cx="1443838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Players: Automotive, Consumer, Industrial, Telecom; EMS integrators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457200"/>
            <a:ext cx="64108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Fab Capacity Map (Indicative)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162202"/>
            <a:ext cx="11048695" cy="4839005"/>
          </a:xfrm>
          <a:prstGeom prst="roundRect">
            <a:avLst>
              <a:gd name="adj" fmla="val 298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779215" y="6210605"/>
            <a:ext cx="152705" cy="152705"/>
          </a:xfrm>
          <a:prstGeom prst="ellipse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007815" y="6200546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Logic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6200546"/>
            <a:ext cx="929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Mature Logic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770218" y="6200546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49540" y="6200546"/>
            <a:ext cx="7671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OSAT/Test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57800" y="6210605"/>
            <a:ext cx="152705" cy="152705"/>
          </a:xfrm>
          <a:prstGeom prst="ellipse">
            <a:avLst/>
          </a:prstGeom>
          <a:solidFill>
            <a:srgbClr val="5B9A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41618" y="6210605"/>
            <a:ext cx="152705" cy="152705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520940" y="6210605"/>
            <a:ext cx="152705" cy="152705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705088" y="6372454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 Case Study (2020-2023)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457200"/>
            <a:ext cx="67345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Lead-Time Trend (Weeks): 2020–2023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162202"/>
            <a:ext cx="11048695" cy="5219395"/>
          </a:xfrm>
          <a:prstGeom prst="roundRect">
            <a:avLst>
              <a:gd name="adj" fmla="val 256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800100" y="1390802"/>
            <a:ext cx="10591495" cy="417240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0100" y="5753405"/>
            <a:ext cx="228600" cy="2286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299" r="-299"/>
          <a:stretch/>
        </p:blipFill>
        <p:spPr>
          <a:xfrm>
            <a:off x="905256" y="5790895"/>
            <a:ext cx="19202" cy="1527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381805" y="5753405"/>
            <a:ext cx="228600" cy="2286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1104595" y="5772607"/>
            <a:ext cx="28437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 shocks amplified constraints (weather events, fires, OSAT lockdowns)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4438498" y="5790895"/>
            <a:ext cx="114300" cy="1527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962595" y="5753405"/>
            <a:ext cx="228600" cy="2286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4686300" y="5772607"/>
            <a:ext cx="267187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Mature-node categories peaked highest; memory cycled sooner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301" b="-301"/>
          <a:stretch/>
        </p:blipFill>
        <p:spPr>
          <a:xfrm>
            <a:off x="8039405" y="5790895"/>
            <a:ext cx="75895" cy="1527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268005" y="5772607"/>
            <a:ext cx="322508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late 2023, normalization underway but uneven across categories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8705088" y="6372454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 Case Study (2020-2023)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457200"/>
            <a:ext cx="39529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Was Hit and How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162202"/>
            <a:ext cx="3562502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64094" y="1162202"/>
            <a:ext cx="3562502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0100" y="1390802"/>
            <a:ext cx="381305" cy="381305"/>
          </a:xfrm>
          <a:prstGeom prst="ellipse">
            <a:avLst/>
          </a:prstGeom>
          <a:solidFill>
            <a:srgbClr val="DC262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1505102"/>
            <a:ext cx="152705" cy="1527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17797" y="1162202"/>
            <a:ext cx="3562502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71500" y="3866998"/>
            <a:ext cx="3562502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317797" y="3866998"/>
            <a:ext cx="3562502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1295705" y="1481328"/>
            <a:ext cx="10908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Automotive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042002" y="1481328"/>
            <a:ext cx="12243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Industrial/IoT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788298" y="1481328"/>
            <a:ext cx="1957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Electronics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295705" y="4186123"/>
            <a:ext cx="18717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Telecom/Networking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042002" y="4186123"/>
            <a:ext cx="1500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Devices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00100" y="1933956"/>
            <a:ext cx="28767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MCU/analog scarcity halted assembly lines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546397" y="1933956"/>
            <a:ext cx="26197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Long-tail components constrained product ramps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00100" y="4638751"/>
            <a:ext cx="3086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times slowed infrastructure rollouts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546397" y="4638751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Requalification cycles for alternates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00100" y="2446020"/>
            <a:ext cx="3105302" cy="352044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00100" y="2446020"/>
            <a:ext cx="28346" cy="3520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546397" y="2446020"/>
            <a:ext cx="3105302" cy="352044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546397" y="2446020"/>
            <a:ext cx="28346" cy="3520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942746" y="2541118"/>
            <a:ext cx="28337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ECU shortages; delayed EV/ADAS launches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46397" y="1390802"/>
            <a:ext cx="381305" cy="381305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4651553" y="1505102"/>
            <a:ext cx="171907" cy="15270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292694" y="1933956"/>
            <a:ext cx="2220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Allocation and price volatility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292694" y="2232965"/>
            <a:ext cx="3105302" cy="552298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8292694" y="2232965"/>
            <a:ext cx="28346" cy="55229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800100" y="4937760"/>
            <a:ext cx="3105302" cy="352044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800100" y="4937760"/>
            <a:ext cx="28346" cy="3520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546397" y="4937760"/>
            <a:ext cx="3105302" cy="352044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4546397" y="4937760"/>
            <a:ext cx="28346" cy="3520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4689043" y="2541118"/>
            <a:ext cx="2157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PLC/controllers; sensor modules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8436254" y="2328062"/>
            <a:ext cx="289133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Consoles/GPUs stock-outs; smartphone mix shifts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4689043" y="5032858"/>
            <a:ext cx="2414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delays on critical devices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8292694" y="1390802"/>
            <a:ext cx="381305" cy="38130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8388706" y="1505102"/>
            <a:ext cx="190195" cy="152705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800100" y="4095598"/>
            <a:ext cx="381305" cy="38130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895198" y="4209898"/>
            <a:ext cx="190195" cy="15270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942746" y="5032858"/>
            <a:ext cx="2167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Switches/optical modules delays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4546397" y="4095598"/>
            <a:ext cx="381305" cy="38130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60697" y="4209898"/>
            <a:ext cx="152705" cy="152705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8064094" y="3866998"/>
            <a:ext cx="3562502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 txBox="1"/>
          <p:nvPr/>
        </p:nvSpPr>
        <p:spPr>
          <a:xfrm>
            <a:off x="8468258" y="4914900"/>
            <a:ext cx="28675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Severity Production stoppages Price volatility Launch delays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705088" y="6372454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 Case Study (2020-2023)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5445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19588" b="-19588"/>
          <a:stretch/>
        </p:blipFill>
        <p:spPr>
          <a:xfrm>
            <a:off x="0" y="0"/>
            <a:ext cx="12191695" cy="95445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457200"/>
            <a:ext cx="53913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 Levers That Worked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162202"/>
            <a:ext cx="11048695" cy="156179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162202"/>
            <a:ext cx="75895" cy="1561795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0100" y="1390802"/>
            <a:ext cx="476402" cy="476402"/>
          </a:xfrm>
          <a:prstGeom prst="ellipse">
            <a:avLst/>
          </a:prstGeom>
          <a:solidFill>
            <a:srgbClr val="2C5F7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989999" r="-989999"/>
          <a:stretch/>
        </p:blipFill>
        <p:spPr>
          <a:xfrm>
            <a:off x="942746" y="1623974"/>
            <a:ext cx="190195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29207" y="1419149"/>
            <a:ext cx="2529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Respins/Qualification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581290" y="1390802"/>
            <a:ext cx="3819449" cy="314554"/>
          </a:xfrm>
          <a:prstGeom prst="roundRect">
            <a:avLst>
              <a:gd name="adj" fmla="val 14094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7695590" y="1490472"/>
            <a:ext cx="142646" cy="1143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839151" y="1466698"/>
            <a:ext cx="35487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Tradeoffs: NRE cost; validation time; regulatory requal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1619402" y="1790395"/>
            <a:ext cx="18507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Pin-compatible alternates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619402" y="2048256"/>
            <a:ext cx="198424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Firmware abstraction layers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619402" y="2305202"/>
            <a:ext cx="17364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Relax non-critical specs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71500" y="2876702"/>
            <a:ext cx="11048695" cy="1304849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71500" y="2876702"/>
            <a:ext cx="75895" cy="1304849"/>
          </a:xfrm>
          <a:prstGeom prst="rect">
            <a:avLst/>
          </a:prstGeom>
          <a:solidFill>
            <a:srgbClr val="4A90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00100" y="3105302"/>
            <a:ext cx="476402" cy="476402"/>
          </a:xfrm>
          <a:prstGeom prst="ellipse">
            <a:avLst/>
          </a:prstGeom>
          <a:solidFill>
            <a:srgbClr val="4A90A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989999" r="-989999"/>
          <a:stretch/>
        </p:blipFill>
        <p:spPr>
          <a:xfrm>
            <a:off x="942746" y="3338474"/>
            <a:ext cx="190195" cy="91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29207" y="3133649"/>
            <a:ext cx="18050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Dual/Multi-Sourcing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391095" y="3105302"/>
            <a:ext cx="4009644" cy="314554"/>
          </a:xfrm>
          <a:prstGeom prst="roundRect">
            <a:avLst>
              <a:gd name="adj" fmla="val 14094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7505395" y="3204972"/>
            <a:ext cx="142646" cy="1143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648042" y="3181198"/>
            <a:ext cx="37389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Tradeoffs: Die/package differences; performance spread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1619402" y="3504895"/>
            <a:ext cx="18315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Second-source contracts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1619402" y="3762756"/>
            <a:ext cx="30604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Multi-foundry strategies for standard nodes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71500" y="4334256"/>
            <a:ext cx="11048695" cy="156179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571500" y="4334256"/>
            <a:ext cx="75895" cy="1561795"/>
          </a:xfrm>
          <a:prstGeom prst="rect">
            <a:avLst/>
          </a:prstGeom>
          <a:solidFill>
            <a:srgbClr val="5B9A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800100" y="4562856"/>
            <a:ext cx="476402" cy="476402"/>
          </a:xfrm>
          <a:prstGeom prst="ellipse">
            <a:avLst/>
          </a:prstGeom>
          <a:solidFill>
            <a:srgbClr val="5B9AA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rcRect l="-989999" r="-989999"/>
          <a:stretch/>
        </p:blipFill>
        <p:spPr>
          <a:xfrm>
            <a:off x="918972" y="4796028"/>
            <a:ext cx="237744" cy="91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29207" y="4591202"/>
            <a:ext cx="16724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Strategy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8232343" y="4562856"/>
            <a:ext cx="3161995" cy="314554"/>
          </a:xfrm>
          <a:prstGeom prst="roundRect">
            <a:avLst>
              <a:gd name="adj" fmla="val 14094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8346643" y="4662526"/>
            <a:ext cx="142646" cy="1143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489290" y="4638751"/>
            <a:ext cx="28913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Tradeoffs: Carrying cost; obsolescence risk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1619402" y="4962449"/>
            <a:ext cx="16605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safety stocks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1619402" y="5219395"/>
            <a:ext cx="14987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 banking at OSAT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1619402" y="5477256"/>
            <a:ext cx="24313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VMI/consignment with distributors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571500" y="6048756"/>
            <a:ext cx="11048695" cy="1304849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571500" y="6048756"/>
            <a:ext cx="75895" cy="130484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800100" y="6277356"/>
            <a:ext cx="476402" cy="476402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rcRect l="-989999" r="-989999"/>
          <a:stretch/>
        </p:blipFill>
        <p:spPr>
          <a:xfrm>
            <a:off x="966521" y="6510528"/>
            <a:ext cx="142646" cy="914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429207" y="6305702"/>
            <a:ext cx="21771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Agreements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8022031" y="6277356"/>
            <a:ext cx="3372307" cy="314554"/>
          </a:xfrm>
          <a:prstGeom prst="roundRect">
            <a:avLst>
              <a:gd name="adj" fmla="val 14094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8136331" y="6377026"/>
            <a:ext cx="142646" cy="1143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8279892" y="6353251"/>
            <a:ext cx="31007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Tradeoffs: Prepay exposure; take-or-pay terms</a:t>
            </a:r>
            <a:endParaRPr lang="en-US" sz="1000" dirty="0"/>
          </a:p>
        </p:txBody>
      </p:sp>
      <p:sp>
        <p:nvSpPr>
          <p:cNvPr id="45" name="Text 34"/>
          <p:cNvSpPr txBox="1"/>
          <p:nvPr/>
        </p:nvSpPr>
        <p:spPr>
          <a:xfrm>
            <a:off x="1619402" y="6676949"/>
            <a:ext cx="164134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LTAs with CTB clauses</a:t>
            </a:r>
            <a:endParaRPr lang="en-US" sz="1100" dirty="0"/>
          </a:p>
        </p:txBody>
      </p:sp>
      <p:sp>
        <p:nvSpPr>
          <p:cNvPr id="46" name="Text 35"/>
          <p:cNvSpPr txBox="1"/>
          <p:nvPr/>
        </p:nvSpPr>
        <p:spPr>
          <a:xfrm>
            <a:off x="1619402" y="6933895"/>
            <a:ext cx="26791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reservations; prepaid wafers</a:t>
            </a:r>
            <a:endParaRPr lang="en-US" sz="1100" dirty="0"/>
          </a:p>
        </p:txBody>
      </p:sp>
      <p:sp>
        <p:nvSpPr>
          <p:cNvPr id="47" name="Shape 36"/>
          <p:cNvSpPr/>
          <p:nvPr/>
        </p:nvSpPr>
        <p:spPr>
          <a:xfrm>
            <a:off x="571500" y="7505395"/>
            <a:ext cx="11048695" cy="156179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7"/>
          <p:cNvSpPr/>
          <p:nvPr/>
        </p:nvSpPr>
        <p:spPr>
          <a:xfrm>
            <a:off x="571500" y="7505395"/>
            <a:ext cx="75895" cy="1561795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38"/>
          <p:cNvSpPr/>
          <p:nvPr/>
        </p:nvSpPr>
        <p:spPr>
          <a:xfrm>
            <a:off x="800100" y="7733995"/>
            <a:ext cx="476402" cy="476402"/>
          </a:xfrm>
          <a:prstGeom prst="ellipse">
            <a:avLst/>
          </a:prstGeom>
          <a:solidFill>
            <a:srgbClr val="D9770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9"/>
          <a:srcRect l="-989999" r="-989999"/>
          <a:stretch/>
        </p:blipFill>
        <p:spPr>
          <a:xfrm>
            <a:off x="942746" y="7968082"/>
            <a:ext cx="190195" cy="9144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1429207" y="7763256"/>
            <a:ext cx="15480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Shaping</a:t>
            </a:r>
            <a:endParaRPr lang="en-US" sz="1300" dirty="0"/>
          </a:p>
        </p:txBody>
      </p:sp>
      <p:sp>
        <p:nvSpPr>
          <p:cNvPr id="52" name="Shape 40"/>
          <p:cNvSpPr/>
          <p:nvPr/>
        </p:nvSpPr>
        <p:spPr>
          <a:xfrm>
            <a:off x="7628839" y="7733995"/>
            <a:ext cx="3771900" cy="314554"/>
          </a:xfrm>
          <a:prstGeom prst="roundRect">
            <a:avLst>
              <a:gd name="adj" fmla="val 14094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7743139" y="7834579"/>
            <a:ext cx="142646" cy="114300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7885786" y="7810805"/>
            <a:ext cx="35012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Tradeoffs: Revenue mix impact; change management</a:t>
            </a:r>
            <a:endParaRPr lang="en-US" sz="1000" dirty="0"/>
          </a:p>
        </p:txBody>
      </p:sp>
      <p:sp>
        <p:nvSpPr>
          <p:cNvPr id="55" name="Text 42"/>
          <p:cNvSpPr txBox="1"/>
          <p:nvPr/>
        </p:nvSpPr>
        <p:spPr>
          <a:xfrm>
            <a:off x="1619402" y="8134502"/>
            <a:ext cx="13935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rationalization</a:t>
            </a:r>
            <a:endParaRPr lang="en-US" sz="1100" dirty="0"/>
          </a:p>
        </p:txBody>
      </p:sp>
      <p:sp>
        <p:nvSpPr>
          <p:cNvPr id="56" name="Text 43"/>
          <p:cNvSpPr txBox="1"/>
          <p:nvPr/>
        </p:nvSpPr>
        <p:spPr>
          <a:xfrm>
            <a:off x="1619402" y="8391449"/>
            <a:ext cx="152704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de-optioning</a:t>
            </a:r>
            <a:endParaRPr lang="en-US" sz="1100" dirty="0"/>
          </a:p>
        </p:txBody>
      </p:sp>
      <p:sp>
        <p:nvSpPr>
          <p:cNvPr id="57" name="Text 44"/>
          <p:cNvSpPr txBox="1"/>
          <p:nvPr/>
        </p:nvSpPr>
        <p:spPr>
          <a:xfrm>
            <a:off x="1619402" y="8648395"/>
            <a:ext cx="24606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Build-ahead critical subassemblies</a:t>
            </a:r>
            <a:endParaRPr lang="en-US" sz="1100" dirty="0"/>
          </a:p>
        </p:txBody>
      </p:sp>
      <p:sp>
        <p:nvSpPr>
          <p:cNvPr id="58" name="Text 45"/>
          <p:cNvSpPr txBox="1"/>
          <p:nvPr/>
        </p:nvSpPr>
        <p:spPr>
          <a:xfrm>
            <a:off x="8705088" y="9058046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 Case Study (2020-2023)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6402" y="362102"/>
            <a:ext cx="78208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Response and Incentives (2022–2023)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76402" y="990295"/>
            <a:ext cx="3619195" cy="2848356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707" y="990295"/>
            <a:ext cx="3619195" cy="2848356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7395" y="1309421"/>
            <a:ext cx="342900" cy="3429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07" y="1404518"/>
            <a:ext cx="152705" cy="152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4595" y="1190549"/>
            <a:ext cx="12435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United States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04595" y="1476756"/>
            <a:ext cx="2343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CHIPS and Science Act (2022)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rcRect t="-100" b="-100"/>
          <a:stretch/>
        </p:blipFill>
        <p:spPr>
          <a:xfrm>
            <a:off x="11734495" y="114300"/>
            <a:ext cx="114300" cy="15270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96098" y="990295"/>
            <a:ext cx="3619195" cy="2848356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476402" y="4027932"/>
            <a:ext cx="3619195" cy="2457907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4914900" y="1190549"/>
            <a:ext cx="1452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European Union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8725205" y="1190549"/>
            <a:ext cx="6437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Japan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914900" y="1476756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Chips Act (2023)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725205" y="1476756"/>
            <a:ext cx="1239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METI Subsidies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7395" y="1933956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4457700" y="1933956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00100" y="2180844"/>
            <a:ext cx="1700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incentives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00100" y="2405786"/>
            <a:ext cx="11009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R&amp;D investment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800100" y="2630729"/>
            <a:ext cx="16148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Workforce development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610405" y="2180844"/>
            <a:ext cx="13478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expansion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610405" y="2405786"/>
            <a:ext cx="1176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platforms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647395" y="3007462"/>
            <a:ext cx="3246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Grants/tax credits; new fabs (logic, memory); supplier ecosystems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457700" y="1309421"/>
            <a:ext cx="342900" cy="3429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4581144" y="1404518"/>
            <a:ext cx="95098" cy="152705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rcRect t="-100" b="-100"/>
          <a:stretch/>
        </p:blipFill>
        <p:spPr>
          <a:xfrm>
            <a:off x="11734495" y="114300"/>
            <a:ext cx="114300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610405" y="2630729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Crisis monitoring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457700" y="3007462"/>
            <a:ext cx="283646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aid for 'first-of-a-kind' fabs; coordination mechanism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8268005" y="1309421"/>
            <a:ext cx="342900" cy="34290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63102" y="1404518"/>
            <a:ext cx="152705" cy="152705"/>
          </a:xfrm>
          <a:prstGeom prst="rect">
            <a:avLst/>
          </a:prstGeom>
        </p:spPr>
      </p:pic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 t="-100" b="-100"/>
          <a:stretch/>
        </p:blipFill>
        <p:spPr>
          <a:xfrm>
            <a:off x="11734495" y="114300"/>
            <a:ext cx="114300" cy="152705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4286707" y="4027932"/>
            <a:ext cx="3619195" cy="2457907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6"/>
          <p:cNvSpPr/>
          <p:nvPr/>
        </p:nvSpPr>
        <p:spPr>
          <a:xfrm>
            <a:off x="8096098" y="4027932"/>
            <a:ext cx="3619195" cy="2457907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 txBox="1"/>
          <p:nvPr/>
        </p:nvSpPr>
        <p:spPr>
          <a:xfrm>
            <a:off x="1104595" y="4228186"/>
            <a:ext cx="11484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 Korea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914900" y="4228186"/>
            <a:ext cx="5385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8725205" y="4228186"/>
            <a:ext cx="6144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1104595" y="4513478"/>
            <a:ext cx="743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K-CHIPS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4914900" y="4513478"/>
            <a:ext cx="1143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 India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8725205" y="4513478"/>
            <a:ext cx="2220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'Big Fund' (Phase II)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8268005" y="1933956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647395" y="4970678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4457700" y="4970678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8268005" y="4970678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8419795" y="2180844"/>
            <a:ext cx="1205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TSMC Kumamoto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8419795" y="2405786"/>
            <a:ext cx="21963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and specialty processes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800100" y="5218481"/>
            <a:ext cx="1004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 incentives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800100" y="5443423"/>
            <a:ext cx="12335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expansion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4610405" y="5218481"/>
            <a:ext cx="1709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Greenfield manufacturing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4610405" y="5443423"/>
            <a:ext cx="31674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Assembly, Testing, Marking &amp; Packaging (ATMP)</a:t>
            </a:r>
            <a:endParaRPr lang="en-US" sz="1000" dirty="0"/>
          </a:p>
        </p:txBody>
      </p:sp>
      <p:sp>
        <p:nvSpPr>
          <p:cNvPr id="52" name="Text 43"/>
          <p:cNvSpPr txBox="1"/>
          <p:nvPr/>
        </p:nvSpPr>
        <p:spPr>
          <a:xfrm>
            <a:off x="8419795" y="5218481"/>
            <a:ext cx="1624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Domestic capacity build</a:t>
            </a:r>
            <a:endParaRPr lang="en-US" sz="1000" dirty="0"/>
          </a:p>
        </p:txBody>
      </p:sp>
      <p:sp>
        <p:nvSpPr>
          <p:cNvPr id="53" name="Text 44"/>
          <p:cNvSpPr txBox="1"/>
          <p:nvPr/>
        </p:nvSpPr>
        <p:spPr>
          <a:xfrm>
            <a:off x="8268005" y="2783434"/>
            <a:ext cx="32653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focus on resiliency and advanced packaging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647395" y="4347058"/>
            <a:ext cx="342900" cy="3429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733349" y="4442155"/>
            <a:ext cx="171907" cy="152705"/>
          </a:xfrm>
          <a:prstGeom prst="rect">
            <a:avLst/>
          </a:prstGeom>
        </p:spPr>
      </p:pic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>
            <a:alphaModFix amt="70000"/>
          </a:blip>
          <a:srcRect t="-100" b="-100"/>
          <a:stretch/>
        </p:blipFill>
        <p:spPr>
          <a:xfrm>
            <a:off x="11734495" y="114300"/>
            <a:ext cx="114300" cy="152705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647395" y="5820156"/>
            <a:ext cx="1902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+ logic cluster scaling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4457700" y="4347058"/>
            <a:ext cx="342900" cy="3429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52798" y="4442155"/>
            <a:ext cx="152705" cy="152705"/>
          </a:xfrm>
          <a:prstGeom prst="rect">
            <a:avLst/>
          </a:prstGeom>
        </p:spPr>
      </p:pic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3">
            <a:alphaModFix amt="70000"/>
          </a:blip>
          <a:srcRect t="-100" b="-100"/>
          <a:stretch/>
        </p:blipFill>
        <p:spPr>
          <a:xfrm>
            <a:off x="11734495" y="114300"/>
            <a:ext cx="114300" cy="152705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4457700" y="5820156"/>
            <a:ext cx="19604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Fabrication and OSAT attraction</a:t>
            </a:r>
            <a:endParaRPr lang="en-US" sz="900" dirty="0"/>
          </a:p>
        </p:txBody>
      </p:sp>
      <p:sp>
        <p:nvSpPr>
          <p:cNvPr id="62" name="Shape 49"/>
          <p:cNvSpPr/>
          <p:nvPr/>
        </p:nvSpPr>
        <p:spPr>
          <a:xfrm>
            <a:off x="8268005" y="4347058"/>
            <a:ext cx="342900" cy="342900"/>
          </a:xfrm>
          <a:prstGeom prst="ellipse">
            <a:avLst/>
          </a:prstGeom>
          <a:solidFill>
            <a:srgbClr val="DC262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14"/>
          <a:srcRect l="-33" r="-33"/>
          <a:stretch/>
        </p:blipFill>
        <p:spPr>
          <a:xfrm>
            <a:off x="8353044" y="4442155"/>
            <a:ext cx="171907" cy="152705"/>
          </a:xfrm>
          <a:prstGeom prst="rect">
            <a:avLst/>
          </a:prstGeom>
        </p:spPr>
      </p:pic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5">
            <a:alphaModFix amt="70000"/>
          </a:blip>
          <a:srcRect t="-100" b="-100"/>
          <a:stretch/>
        </p:blipFill>
        <p:spPr>
          <a:xfrm>
            <a:off x="11734495" y="114300"/>
            <a:ext cx="114300" cy="152705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8268005" y="5596128"/>
            <a:ext cx="30742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Mature-node expansion; export control constraints</a:t>
            </a:r>
            <a:endParaRPr lang="en-US" sz="900" dirty="0"/>
          </a:p>
        </p:txBody>
      </p:sp>
      <p:sp>
        <p:nvSpPr>
          <p:cNvPr id="66" name="Text 51"/>
          <p:cNvSpPr txBox="1"/>
          <p:nvPr/>
        </p:nvSpPr>
        <p:spPr>
          <a:xfrm>
            <a:off x="8705088" y="6448349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 Case Study (2020-2023)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0564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6181" b="-6181"/>
          <a:stretch/>
        </p:blipFill>
        <p:spPr>
          <a:xfrm>
            <a:off x="0" y="0"/>
            <a:ext cx="12191695" cy="770564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457200"/>
            <a:ext cx="62490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Heatmap: Where It Breaks First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2949854" y="1190549"/>
            <a:ext cx="710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1500" y="1495044"/>
            <a:ext cx="5333695" cy="4972507"/>
          </a:xfrm>
          <a:prstGeom prst="roundRect">
            <a:avLst>
              <a:gd name="adj" fmla="val 2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533449" y="1505102"/>
            <a:ext cx="4362602" cy="571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533449" y="2067458"/>
            <a:ext cx="4362602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018995" y="1690726"/>
            <a:ext cx="715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586277" y="1690726"/>
            <a:ext cx="457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99355" y="1690726"/>
            <a:ext cx="629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" y="2076602"/>
            <a:ext cx="952805" cy="438180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524305" y="2076602"/>
            <a:ext cx="9144" cy="438180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228954" y="4114800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" y="3969410"/>
            <a:ext cx="3054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90449" y="4095598"/>
            <a:ext cx="305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0644" y="1505102"/>
            <a:ext cx="952805" cy="57150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533449" y="2076602"/>
            <a:ext cx="1457554" cy="1466698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987345" y="2076602"/>
            <a:ext cx="1457554" cy="1466698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442155" y="2076602"/>
            <a:ext cx="1457554" cy="1466698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533449" y="3536899"/>
            <a:ext cx="1457554" cy="1466698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987345" y="3536899"/>
            <a:ext cx="1457554" cy="1466698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442155" y="3536899"/>
            <a:ext cx="1457554" cy="1466698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533449" y="4997196"/>
            <a:ext cx="1457554" cy="1466698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987345" y="4997196"/>
            <a:ext cx="1457554" cy="1466698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126894" y="2673706"/>
            <a:ext cx="267005" cy="267005"/>
          </a:xfrm>
          <a:prstGeom prst="ellipse">
            <a:avLst/>
          </a:prstGeom>
          <a:solidFill>
            <a:srgbClr val="F59E0B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35601" y="2673706"/>
            <a:ext cx="267005" cy="267005"/>
          </a:xfrm>
          <a:prstGeom prst="ellipse">
            <a:avLst/>
          </a:prstGeom>
          <a:solidFill>
            <a:srgbClr val="F59E0B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035601" y="4134002"/>
            <a:ext cx="267005" cy="267005"/>
          </a:xfrm>
          <a:prstGeom prst="ellipse">
            <a:avLst/>
          </a:prstGeom>
          <a:solidFill>
            <a:srgbClr val="F59E0B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2217420" y="2706624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127955" y="2706624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124298" y="4166921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126894" y="4134002"/>
            <a:ext cx="267005" cy="267005"/>
          </a:xfrm>
          <a:prstGeom prst="ellipse">
            <a:avLst/>
          </a:prstGeom>
          <a:solidFill>
            <a:srgbClr val="EF4444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581705" y="4134002"/>
            <a:ext cx="267005" cy="267005"/>
          </a:xfrm>
          <a:prstGeom prst="ellipse">
            <a:avLst/>
          </a:prstGeom>
          <a:solidFill>
            <a:srgbClr val="EF4444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3581705" y="5594299"/>
            <a:ext cx="267005" cy="267005"/>
          </a:xfrm>
          <a:prstGeom prst="ellipse">
            <a:avLst/>
          </a:prstGeom>
          <a:solidFill>
            <a:srgbClr val="EF4444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2218334" y="4166921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3673145" y="4166921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3685946" y="5627218"/>
            <a:ext cx="1572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2809037" y="6572707"/>
            <a:ext cx="9957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1687068" y="7053682"/>
            <a:ext cx="152705" cy="15270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1915668" y="7048195"/>
            <a:ext cx="6620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Risk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2934310" y="7048195"/>
            <a:ext cx="9098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Risk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4198925" y="7048195"/>
            <a:ext cx="7004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705710" y="7053682"/>
            <a:ext cx="152705" cy="152705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3970325" y="7053682"/>
            <a:ext cx="152705" cy="15270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286500" y="1086307"/>
            <a:ext cx="5333695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6286500" y="2210105"/>
            <a:ext cx="5333695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6286500" y="3133649"/>
            <a:ext cx="5333695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286500" y="4257446"/>
            <a:ext cx="5333695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6286500" y="5181905"/>
            <a:ext cx="5333695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286500" y="6305702"/>
            <a:ext cx="5333695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6439205" y="1257300"/>
            <a:ext cx="190195" cy="19019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6439205" y="2381098"/>
            <a:ext cx="190195" cy="19019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6439205" y="3305556"/>
            <a:ext cx="190195" cy="19019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 txBox="1"/>
          <p:nvPr/>
        </p:nvSpPr>
        <p:spPr>
          <a:xfrm>
            <a:off x="6509614" y="1266444"/>
            <a:ext cx="143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6498641" y="2391156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6497726" y="3314700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6743700" y="1257300"/>
            <a:ext cx="3086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Single-sourced MCU (40nm, AEC-Q100)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6743700" y="2381098"/>
            <a:ext cx="2591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OSAT lockdown or labor shortage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6743700" y="3305556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control change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6743700" y="4429354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8-inch tool scarcity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6743700" y="5352898"/>
            <a:ext cx="1686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bottlenecks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6743700" y="6476695"/>
            <a:ext cx="2220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excursion at supplier</a:t>
            </a:r>
            <a:endParaRPr lang="en-US" sz="1200" dirty="0"/>
          </a:p>
        </p:txBody>
      </p:sp>
      <p:sp>
        <p:nvSpPr>
          <p:cNvPr id="63" name="Text 60"/>
          <p:cNvSpPr txBox="1"/>
          <p:nvPr/>
        </p:nvSpPr>
        <p:spPr>
          <a:xfrm>
            <a:off x="6743700" y="1561795"/>
            <a:ext cx="4443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likelihood, Severe impact — 12–18 month requalification; safety-critical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6743700" y="2686507"/>
            <a:ext cx="45482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likelihood, High impact — Throughput shock across packages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743700" y="3610051"/>
            <a:ext cx="43296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likelihood, High impact — Sudden BOM redesign or supply rerouting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6743700" y="4733849"/>
            <a:ext cx="45299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likelihood, Medium impact — Prolonged mature-node constraints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6743700" y="5658307"/>
            <a:ext cx="41102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likelihood, Medium impact — Regional shutdowns; port congestion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6743700" y="6782105"/>
            <a:ext cx="37773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likelihood, High impact — Field actions; scrap, rework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6439205" y="4429354"/>
            <a:ext cx="190195" cy="190195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6439205" y="5352898"/>
            <a:ext cx="190195" cy="190195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6439205" y="6476695"/>
            <a:ext cx="190195" cy="190195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 txBox="1"/>
          <p:nvPr/>
        </p:nvSpPr>
        <p:spPr>
          <a:xfrm>
            <a:off x="6495898" y="443849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6498641" y="5362956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sp>
        <p:nvSpPr>
          <p:cNvPr id="74" name="Text 71"/>
          <p:cNvSpPr txBox="1"/>
          <p:nvPr/>
        </p:nvSpPr>
        <p:spPr>
          <a:xfrm>
            <a:off x="6497726" y="6486754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  <p:sp>
        <p:nvSpPr>
          <p:cNvPr id="75" name="Text 72"/>
          <p:cNvSpPr txBox="1"/>
          <p:nvPr/>
        </p:nvSpPr>
        <p:spPr>
          <a:xfrm>
            <a:off x="8705088" y="7220102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 Case Study (2020-2023)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6402" y="381305"/>
            <a:ext cx="72914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 Playbook: From Firefighting to Foresight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76402" y="952805"/>
            <a:ext cx="3619195" cy="3534156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76402" y="952805"/>
            <a:ext cx="3619195" cy="38405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96098" y="952805"/>
            <a:ext cx="3619195" cy="3534156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96098" y="952805"/>
            <a:ext cx="3619195" cy="38405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66598" y="1638605"/>
            <a:ext cx="323880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6598" y="1181405"/>
            <a:ext cx="342900" cy="3429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276502"/>
            <a:ext cx="152705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286707" y="952805"/>
            <a:ext cx="3619195" cy="3534156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286707" y="952805"/>
            <a:ext cx="3619195" cy="38405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476902" y="1638605"/>
            <a:ext cx="323880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87207" y="1638605"/>
            <a:ext cx="323880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1123798" y="1257300"/>
            <a:ext cx="1534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Data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934102" y="1257300"/>
            <a:ext cx="1696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&amp; Commercial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57707" y="1819656"/>
            <a:ext cx="2886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BOM risk registry with part-to-node mapping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57707" y="2352751"/>
            <a:ext cx="28675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Allocation cockpit: confirmed-to-book (CTB), PPV, lead-time telemetry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57707" y="2885846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risk reviews with exec steering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667098" y="2885846"/>
            <a:ext cx="30769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segmentation and joint recovery drills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476902" y="1181405"/>
            <a:ext cx="342900" cy="3429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4552798" y="1276502"/>
            <a:ext cx="190195" cy="15270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744407" y="1257300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&amp; Product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667098" y="1819656"/>
            <a:ext cx="30385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LTA and capacity reservations for top 50 risk parts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667098" y="2352751"/>
            <a:ext cx="27532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Second-source roadmap; dual OSAT where feasible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477402" y="1819656"/>
            <a:ext cx="3048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Alternate-approved parts list (AAPL) and design abstraction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8477402" y="2352751"/>
            <a:ext cx="23052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DFM standards for package/pinout/voltage agility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8477402" y="2885846"/>
            <a:ext cx="28291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Qualification fast lanes for non-safety critical SKUs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287207" y="1181405"/>
            <a:ext cx="342900" cy="3429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82305" y="1276502"/>
            <a:ext cx="152705" cy="15270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476402" y="4677156"/>
            <a:ext cx="11239805" cy="828446"/>
          </a:xfrm>
          <a:prstGeom prst="roundRect">
            <a:avLst>
              <a:gd name="adj" fmla="val 10149"/>
            </a:avLst>
          </a:prstGeom>
          <a:solidFill>
            <a:srgbClr val="F59E0B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76402" y="4677156"/>
            <a:ext cx="38405" cy="82844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705002" y="4839005"/>
            <a:ext cx="8979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Wins</a:t>
            </a:r>
            <a:endParaRPr lang="en-US" sz="11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5002" y="5158130"/>
            <a:ext cx="152705" cy="15270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57707" y="5119726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rationalization of low-velocity variants</a:t>
            </a:r>
            <a:endParaRPr lang="en-US" sz="12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42232" y="5158130"/>
            <a:ext cx="152705" cy="15270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294937" y="511972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stock tiers by criticality</a:t>
            </a:r>
            <a:endParaRPr lang="en-US" sz="12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5918" y="5158130"/>
            <a:ext cx="152705" cy="15270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807708" y="5119726"/>
            <a:ext cx="293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EAU forecasts to suppliers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76402" y="5652821"/>
            <a:ext cx="11239805" cy="828446"/>
          </a:xfrm>
          <a:prstGeom prst="roundRect">
            <a:avLst>
              <a:gd name="adj" fmla="val 10149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3"/>
          <p:cNvSpPr/>
          <p:nvPr/>
        </p:nvSpPr>
        <p:spPr>
          <a:xfrm>
            <a:off x="476402" y="5652821"/>
            <a:ext cx="38405" cy="828446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 txBox="1"/>
          <p:nvPr/>
        </p:nvSpPr>
        <p:spPr>
          <a:xfrm>
            <a:off x="705002" y="5814670"/>
            <a:ext cx="10030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Foundational</a:t>
            </a:r>
            <a:endParaRPr lang="en-US" sz="11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705002" y="6133795"/>
            <a:ext cx="171907" cy="152705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875995" y="6096305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Node-diversified platforms</a:t>
            </a:r>
            <a:endParaRPr lang="en-US" sz="12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2999232" y="6133795"/>
            <a:ext cx="190195" cy="15270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3189427" y="6096305"/>
            <a:ext cx="26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AP-enabled planning (event-driven)</a:t>
            </a:r>
            <a:endParaRPr lang="en-US" sz="12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5949086" y="6133795"/>
            <a:ext cx="190195" cy="152705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6139282" y="6096305"/>
            <a:ext cx="2371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test capacity buffers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8705088" y="6524244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 Case Study (2020-2023)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457200"/>
            <a:ext cx="8192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Timeline: Shock, Squeeze, Response, Recovery</a:t>
            </a:r>
            <a:endParaRPr lang="en-US" sz="2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525378" r="-525378"/>
          <a:stretch/>
        </p:blipFill>
        <p:spPr>
          <a:xfrm>
            <a:off x="571500" y="3810305"/>
            <a:ext cx="11048695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14807" y="3676802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086100" y="3676802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658307" y="3676802"/>
            <a:ext cx="114300" cy="114300"/>
          </a:xfrm>
          <a:prstGeom prst="ellipse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8229600" y="3676802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0801807" y="3676802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71500" y="1943100"/>
            <a:ext cx="2381098" cy="1333195"/>
          </a:xfrm>
          <a:prstGeom prst="roundRect">
            <a:avLst>
              <a:gd name="adj" fmla="val 5879"/>
            </a:avLst>
          </a:prstGeom>
          <a:solidFill>
            <a:srgbClr val="EF444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71500" y="1943100"/>
            <a:ext cx="38405" cy="133319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0100" y="2109521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785001" r="-785001"/>
          <a:stretch/>
        </p:blipFill>
        <p:spPr>
          <a:xfrm>
            <a:off x="838505" y="2219249"/>
            <a:ext cx="152705" cy="91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04595" y="2124151"/>
            <a:ext cx="652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Shock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0100" y="2447849"/>
            <a:ext cx="6336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H1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525000" r="-525000"/>
          <a:stretch/>
        </p:blipFill>
        <p:spPr>
          <a:xfrm>
            <a:off x="800100" y="2885846"/>
            <a:ext cx="105156" cy="91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00100" y="2762402"/>
            <a:ext cx="206288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demand collapse, order cancellations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 l="-525000" r="-525000"/>
          <a:stretch/>
        </p:blipFill>
        <p:spPr>
          <a:xfrm>
            <a:off x="800100" y="3362249"/>
            <a:ext cx="105156" cy="91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42746" y="3238805"/>
            <a:ext cx="18050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fab/OSAT disruptions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143707" y="1943100"/>
            <a:ext cx="2381098" cy="1429207"/>
          </a:xfrm>
          <a:prstGeom prst="roundRect">
            <a:avLst>
              <a:gd name="adj" fmla="val 5118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3143707" y="1943100"/>
            <a:ext cx="38405" cy="1429207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3372307" y="2109521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 l="-785001" r="-785001"/>
          <a:stretch/>
        </p:blipFill>
        <p:spPr>
          <a:xfrm>
            <a:off x="3409798" y="2219249"/>
            <a:ext cx="152705" cy="91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676802" y="2124151"/>
            <a:ext cx="8531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Squeeze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3372307" y="2447849"/>
            <a:ext cx="11009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H2 – 2021</a:t>
            </a:r>
            <a:endParaRPr lang="en-US" sz="1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rcRect l="-525000" r="-525000"/>
          <a:stretch/>
        </p:blipFill>
        <p:spPr>
          <a:xfrm>
            <a:off x="3372307" y="2885846"/>
            <a:ext cx="105156" cy="91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3372307" y="2762402"/>
            <a:ext cx="171998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Rebound + WFH surge; double-booking</a:t>
            </a:r>
            <a:endParaRPr lang="en-US" sz="10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rcRect l="-525000" r="-525000"/>
          <a:stretch/>
        </p:blipFill>
        <p:spPr>
          <a:xfrm>
            <a:off x="3372307" y="3362249"/>
            <a:ext cx="105156" cy="9144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372307" y="3238805"/>
            <a:ext cx="174833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Weather/fire/lockdowns amplify shortages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5715000" y="1943100"/>
            <a:ext cx="2381098" cy="1333195"/>
          </a:xfrm>
          <a:prstGeom prst="roundRect">
            <a:avLst>
              <a:gd name="adj" fmla="val 5879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2"/>
          <p:cNvSpPr/>
          <p:nvPr/>
        </p:nvSpPr>
        <p:spPr>
          <a:xfrm>
            <a:off x="5715000" y="1943100"/>
            <a:ext cx="38405" cy="1333195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3"/>
          <p:cNvSpPr/>
          <p:nvPr/>
        </p:nvSpPr>
        <p:spPr>
          <a:xfrm>
            <a:off x="5943600" y="2109521"/>
            <a:ext cx="228600" cy="228600"/>
          </a:xfrm>
          <a:prstGeom prst="ellipse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rcRect l="-785001" r="-785001"/>
          <a:stretch/>
        </p:blipFill>
        <p:spPr>
          <a:xfrm>
            <a:off x="5982005" y="2219249"/>
            <a:ext cx="152705" cy="9144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248095" y="2124151"/>
            <a:ext cx="9482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5943600" y="2447849"/>
            <a:ext cx="433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endParaRPr lang="en-US" sz="10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0"/>
          <a:srcRect l="-525000" r="-525000"/>
          <a:stretch/>
        </p:blipFill>
        <p:spPr>
          <a:xfrm>
            <a:off x="5943600" y="2885846"/>
            <a:ext cx="105156" cy="9144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5943600" y="2762402"/>
            <a:ext cx="18909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announcements; policy incentives</a:t>
            </a:r>
            <a:endParaRPr lang="en-US" sz="10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0"/>
          <a:srcRect l="-525000" r="-525000"/>
          <a:stretch/>
        </p:blipFill>
        <p:spPr>
          <a:xfrm>
            <a:off x="5943600" y="3362249"/>
            <a:ext cx="105156" cy="9144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943600" y="3238805"/>
            <a:ext cx="187177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lead times at mature nodes</a:t>
            </a:r>
            <a:endParaRPr lang="en-US" sz="1000" dirty="0"/>
          </a:p>
        </p:txBody>
      </p:sp>
      <p:sp>
        <p:nvSpPr>
          <p:cNvPr id="41" name="Shape 28"/>
          <p:cNvSpPr/>
          <p:nvPr/>
        </p:nvSpPr>
        <p:spPr>
          <a:xfrm>
            <a:off x="8287207" y="1943100"/>
            <a:ext cx="2381098" cy="1238098"/>
          </a:xfrm>
          <a:prstGeom prst="roundRect">
            <a:avLst>
              <a:gd name="adj" fmla="val 6817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29"/>
          <p:cNvSpPr/>
          <p:nvPr/>
        </p:nvSpPr>
        <p:spPr>
          <a:xfrm>
            <a:off x="8287207" y="1943100"/>
            <a:ext cx="38405" cy="123809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0"/>
          <p:cNvSpPr/>
          <p:nvPr/>
        </p:nvSpPr>
        <p:spPr>
          <a:xfrm>
            <a:off x="8515807" y="2109521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1"/>
          <a:srcRect l="-784285" r="-784285"/>
          <a:stretch/>
        </p:blipFill>
        <p:spPr>
          <a:xfrm>
            <a:off x="8563356" y="2219249"/>
            <a:ext cx="133502" cy="9144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8820302" y="2124151"/>
            <a:ext cx="9198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</a:t>
            </a:r>
            <a:endParaRPr lang="en-US" sz="1300" dirty="0"/>
          </a:p>
        </p:txBody>
      </p:sp>
      <p:sp>
        <p:nvSpPr>
          <p:cNvPr id="46" name="Text 32"/>
          <p:cNvSpPr txBox="1"/>
          <p:nvPr/>
        </p:nvSpPr>
        <p:spPr>
          <a:xfrm>
            <a:off x="8515807" y="2447849"/>
            <a:ext cx="443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10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2"/>
          <a:srcRect l="-525000" r="-525000"/>
          <a:stretch/>
        </p:blipFill>
        <p:spPr>
          <a:xfrm>
            <a:off x="8515807" y="2885846"/>
            <a:ext cx="105156" cy="9144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8515807" y="2762402"/>
            <a:ext cx="15956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times normalize unevenly</a:t>
            </a:r>
            <a:endParaRPr lang="en-US" sz="100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2"/>
          <a:srcRect l="-525000" r="-525000"/>
          <a:stretch/>
        </p:blipFill>
        <p:spPr>
          <a:xfrm>
            <a:off x="8515807" y="3362249"/>
            <a:ext cx="105156" cy="9144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8515807" y="3238805"/>
            <a:ext cx="194858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cycles down; auto still tight early</a:t>
            </a:r>
            <a:endParaRPr lang="en-US" sz="1000" dirty="0"/>
          </a:p>
        </p:txBody>
      </p:sp>
      <p:sp>
        <p:nvSpPr>
          <p:cNvPr id="51" name="Shape 35"/>
          <p:cNvSpPr/>
          <p:nvPr/>
        </p:nvSpPr>
        <p:spPr>
          <a:xfrm>
            <a:off x="847649" y="4800600"/>
            <a:ext cx="4972507" cy="1181405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37844" y="4977079"/>
            <a:ext cx="152705" cy="152705"/>
          </a:xfrm>
          <a:prstGeom prst="rect">
            <a:avLst/>
          </a:prstGeom>
        </p:spPr>
      </p:pic>
      <p:sp>
        <p:nvSpPr>
          <p:cNvPr id="53" name="Shape 36"/>
          <p:cNvSpPr/>
          <p:nvPr/>
        </p:nvSpPr>
        <p:spPr>
          <a:xfrm>
            <a:off x="6372454" y="4800600"/>
            <a:ext cx="4972507" cy="1181405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37"/>
          <p:cNvSpPr txBox="1"/>
          <p:nvPr/>
        </p:nvSpPr>
        <p:spPr>
          <a:xfrm>
            <a:off x="1266444" y="4972507"/>
            <a:ext cx="23865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Phase: Embed Resilience</a:t>
            </a:r>
            <a:endParaRPr lang="en-US" sz="1000" dirty="0"/>
          </a:p>
        </p:txBody>
      </p:sp>
      <p:sp>
        <p:nvSpPr>
          <p:cNvPr id="55" name="Text 38"/>
          <p:cNvSpPr txBox="1"/>
          <p:nvPr/>
        </p:nvSpPr>
        <p:spPr>
          <a:xfrm>
            <a:off x="1037844" y="5248656"/>
            <a:ext cx="449153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(Alternate-Approved Parts List), LTAs (Long-Term Agreements), and dual-source plans implemented during Response phase to build long-term stability</a:t>
            </a:r>
            <a:endParaRPr lang="en-US" sz="10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562649" y="4977079"/>
            <a:ext cx="152705" cy="152705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6791249" y="4972507"/>
            <a:ext cx="25200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Phase: Regular Risk Review</a:t>
            </a:r>
            <a:endParaRPr lang="en-US" sz="1000" dirty="0"/>
          </a:p>
        </p:txBody>
      </p:sp>
      <p:sp>
        <p:nvSpPr>
          <p:cNvPr id="58" name="Text 40"/>
          <p:cNvSpPr txBox="1"/>
          <p:nvPr/>
        </p:nvSpPr>
        <p:spPr>
          <a:xfrm>
            <a:off x="6562649" y="5248656"/>
            <a:ext cx="43388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Revisit risk heatmap quarterly during Recovery phase to maintain visibility on emerging constraints and optimize mitigation strategies</a:t>
            </a:r>
            <a:endParaRPr lang="en-US" sz="1000" dirty="0"/>
          </a:p>
        </p:txBody>
      </p:sp>
      <p:sp>
        <p:nvSpPr>
          <p:cNvPr id="59" name="Text 41"/>
          <p:cNvSpPr txBox="1"/>
          <p:nvPr/>
        </p:nvSpPr>
        <p:spPr>
          <a:xfrm>
            <a:off x="8705088" y="6372454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Semiconductor Shortage Case Study (2020-2023)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1130</Words>
  <Application>Microsoft Office PowerPoint</Application>
  <PresentationFormat>Widescreen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Md Haque</cp:lastModifiedBy>
  <cp:revision>1</cp:revision>
  <dcterms:created xsi:type="dcterms:W3CDTF">2025-11-11T03:49:01Z</dcterms:created>
  <dcterms:modified xsi:type="dcterms:W3CDTF">2025-11-11T15:12:37Z</dcterms:modified>
</cp:coreProperties>
</file>