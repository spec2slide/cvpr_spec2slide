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20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8" b="3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1500" y="2196389"/>
            <a:ext cx="7925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AI Regulation Briefing</a:t>
            </a:r>
            <a:endParaRPr lang="en-US" sz="39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2790749"/>
            <a:ext cx="33247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(2016–2025)</a:t>
            </a:r>
            <a:endParaRPr lang="en-US" sz="39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3652114"/>
            <a:ext cx="77724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leaders need to know: US, EU AI Act, UK, and China—risk frameworks, obligations by role, controls, enforcement, and how to operationalize compliance.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698126" y="571500"/>
            <a:ext cx="1923898" cy="418795"/>
          </a:xfrm>
          <a:prstGeom prst="roundRect">
            <a:avLst>
              <a:gd name="adj" fmla="val 119095"/>
            </a:avLst>
          </a:prstGeom>
          <a:solidFill>
            <a:srgbClr val="2E5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850831" y="676656"/>
            <a:ext cx="17483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 • EU • UK • CN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39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523951"/>
            <a:ext cx="39054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695" y="1429207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1695" y="1952244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1695" y="2476195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1695" y="3000146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1695" y="3524098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1695" y="4048049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1695" y="4572000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1695" y="5095951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1695" y="5619902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1695" y="6143854"/>
            <a:ext cx="304495" cy="304495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85139" y="1466698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9594" y="19906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9594" y="2514600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2279" y="3038551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" y="3562502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6851" y="408645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7766" y="46104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5022" y="513435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6851" y="5658307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3933" y="6181344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18895" y="1485900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Glossary: Shared language for speed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18895" y="2009851"/>
            <a:ext cx="6039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Timeline (2016–2025): What happened, what's next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18895" y="2533802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Matrix: US, EU AI Act, UK, China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18895" y="3057754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Obligations by Role: Developer vs. Deployer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18895" y="3581705"/>
            <a:ext cx="3791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Taxonomy: Mapping use‑case risk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18895" y="4105656"/>
            <a:ext cx="5353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Operating Model: Who decides, who signs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18895" y="4629607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Data/ML Lifecycle Controls: Build‑to‑operate gates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18895" y="5152644"/>
            <a:ext cx="430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Enforcement Caselets: Patterns and lessons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218895" y="567659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Adoption Roadmap: 0–18 months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218895" y="620054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Dashboard: What to track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715500" y="1429207"/>
            <a:ext cx="9144" cy="523859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915754" y="3076956"/>
            <a:ext cx="152705" cy="152705"/>
          </a:xfrm>
          <a:prstGeom prst="ellipse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915754" y="3305556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915754" y="3495751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915754" y="3685946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915754" y="3877056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915754" y="4067251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915754" y="4257446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915754" y="4448556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915754" y="4638751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915754" y="4828946"/>
            <a:ext cx="114300" cy="11430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228" r="-228"/>
          <a:stretch/>
        </p:blipFill>
        <p:spPr>
          <a:xfrm>
            <a:off x="5086807" y="6172200"/>
            <a:ext cx="352044" cy="40050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5820156" y="6172200"/>
            <a:ext cx="400507" cy="40050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l="-411" r="-411"/>
          <a:stretch/>
        </p:blipFill>
        <p:spPr>
          <a:xfrm>
            <a:off x="6601054" y="6172200"/>
            <a:ext cx="504749" cy="400507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 txBox="1"/>
          <p:nvPr/>
        </p:nvSpPr>
        <p:spPr>
          <a:xfrm>
            <a:off x="761695" y="428854"/>
            <a:ext cx="32388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Rapid Glossary</a:t>
            </a:r>
            <a:endParaRPr lang="en-US" sz="3000" dirty="0"/>
          </a:p>
        </p:txBody>
      </p:sp>
      <p:sp>
        <p:nvSpPr>
          <p:cNvPr id="7" name="Text 2"/>
          <p:cNvSpPr txBox="1"/>
          <p:nvPr/>
        </p:nvSpPr>
        <p:spPr>
          <a:xfrm>
            <a:off x="761695" y="1257300"/>
            <a:ext cx="1110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SYSTEM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761695" y="2447849"/>
            <a:ext cx="19010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HIGH‑RISK SYSTEM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3409798"/>
            <a:ext cx="24341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PROVIDER / DEVELOPER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4371746"/>
            <a:ext cx="18150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DEPLOYER / USER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096305" y="1257300"/>
            <a:ext cx="27770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GPAI / FOUNDATION MODEL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096305" y="2219249"/>
            <a:ext cx="26910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CONFORMITY ASSESSMENT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096305" y="3181198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FILING (CN)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096305" y="4143146"/>
            <a:ext cx="21387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ASSESSMENT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1571854"/>
            <a:ext cx="49149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machine‑based system that infers or outputs predictions, content, or decisions influencing environments (EU/US‑aligned summary).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2762402"/>
            <a:ext cx="50484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AI Act category for systems with significant impact on health, safety, or fundamental rights; triggers strict obligations.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3724351"/>
            <a:ext cx="48198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that develops or places an AI system on the market (EU 'provider'); roughly 'developer' in US/UK usage.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4686300"/>
            <a:ext cx="49249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that uses an AI system under its authority (EU 'deployer'); 'operator'/'user' elsewhere.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096305" y="1571854"/>
            <a:ext cx="47722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General‑purpose model capable of a wide range of tasks (e.g., large language models), sometimes with extra obligations.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096305" y="2533802"/>
            <a:ext cx="46488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pre‑market checks for high‑risk systems (QMS, technical documentation, testing, CE marking).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096305" y="3495751"/>
            <a:ext cx="44010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China CAC record‑filing and security assessment for recommendation/generative/deep synthesis algorithms.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096305" y="4457700"/>
            <a:ext cx="46296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assessment focusing on safety, bias, privacy, and rights (AIA/'AIIA', DPIA, US agency assessments).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87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428854"/>
            <a:ext cx="66961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Timeline (2016–2025)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238098"/>
            <a:ext cx="11048695" cy="6219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7648956"/>
            <a:ext cx="405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317797" y="7648956"/>
            <a:ext cx="405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064094" y="7648956"/>
            <a:ext cx="405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8379562"/>
            <a:ext cx="405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317797" y="8379562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64094" y="8379562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8924544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317797" y="8924544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64094" y="8924544"/>
            <a:ext cx="424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" y="9469526"/>
            <a:ext cx="4334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317797" y="9469526"/>
            <a:ext cx="4334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64094" y="9469526"/>
            <a:ext cx="8147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2023–2025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20801" y="7648956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413394" y="7648956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14400" y="8379562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434426" y="8924544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99102" y="9469526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977494" y="7648956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471002" y="7648956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72007" y="8379562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492033" y="8924544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755794" y="9469526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278331" y="7648956"/>
            <a:ext cx="271942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GDPR adopted — Privacy and data governance bedrock for AI training and deployment.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030114" y="7648956"/>
            <a:ext cx="26910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Cybersecurity Law effective — Security, data localization foundations.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770925" y="7648956"/>
            <a:ext cx="260512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Ethics Guidelines — Trustworthy AI principles.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271930" y="8379562"/>
            <a:ext cx="23289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AI Act proposed — Risk‑based framework draft (Apr).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052974" y="8379562"/>
            <a:ext cx="29196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Recommendation Provisions — Filing, transparency, fairness (Mar).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787384" y="8379562"/>
            <a:ext cx="22338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NIST AI RMF 1.0 — Voluntary risk framework (Jan).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294790" y="8924544"/>
            <a:ext cx="26910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Order 14110 — Safety, testing, reporting; agency actions (Oct).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052060" y="8924544"/>
            <a:ext cx="27861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Pro‑Innovation Approach + AI Safety Summit — UK AI Safety Institute launch.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791956" y="8924544"/>
            <a:ext cx="258683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Political agreement on AI Act — Final trilogue deal (Dec).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304849" y="9469526"/>
            <a:ext cx="27294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OMB M‑24‑10 — Federal inventories, impact assessments, governance (Mar).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056632" y="9469526"/>
            <a:ext cx="26151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Act adopted; phased application — Bans/GPAI first; high‑risk 2025–2026.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186977" y="9469526"/>
            <a:ext cx="242498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Synthesis/GenAI Measures — Labeling, security review, filing for generative services.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64354" y="7648956"/>
            <a:ext cx="295351" cy="161849"/>
          </a:xfrm>
          <a:prstGeom prst="roundRect">
            <a:avLst>
              <a:gd name="adj" fmla="val 99701"/>
            </a:avLst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688129" y="8379562"/>
            <a:ext cx="295351" cy="161849"/>
          </a:xfrm>
          <a:prstGeom prst="roundRect">
            <a:avLst>
              <a:gd name="adj" fmla="val 99701"/>
            </a:avLst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822131" y="9469526"/>
            <a:ext cx="295351" cy="161849"/>
          </a:xfrm>
          <a:prstGeom prst="roundRect">
            <a:avLst>
              <a:gd name="adj" fmla="val 99701"/>
            </a:avLst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4721962" y="764895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4744822" y="8379562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8878824" y="946952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434426" y="8379562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941832" y="8924544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952805" y="9469526"/>
            <a:ext cx="286207" cy="161849"/>
          </a:xfrm>
          <a:prstGeom prst="roundRect">
            <a:avLst>
              <a:gd name="adj" fmla="val 99701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8492033" y="8379562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998525" y="8924544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1009498" y="9469526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88129" y="8924544"/>
            <a:ext cx="295351" cy="161849"/>
          </a:xfrm>
          <a:prstGeom prst="roundRect">
            <a:avLst>
              <a:gd name="adj" fmla="val 99701"/>
            </a:avLst>
          </a:prstGeom>
          <a:solidFill>
            <a:srgbClr val="7BA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4744822" y="8924544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25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333756"/>
            <a:ext cx="73152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Matrix — US, EU, UK, China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71500" y="990295"/>
            <a:ext cx="1657807" cy="428854"/>
          </a:xfrm>
          <a:prstGeom prst="roundRect">
            <a:avLst>
              <a:gd name="adj" fmla="val 37906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29307" y="990295"/>
            <a:ext cx="2286000" cy="428854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08906" y="990295"/>
            <a:ext cx="2590495" cy="428854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94830" y="990295"/>
            <a:ext cx="2038198" cy="428854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32113" y="990295"/>
            <a:ext cx="2495398" cy="428854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4146" y="1114654"/>
            <a:ext cx="7287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71954" y="1114654"/>
            <a:ext cx="10341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United States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51553" y="1114654"/>
            <a:ext cx="1757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European Union (AI Act)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237476" y="1114654"/>
            <a:ext cx="12435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275674" y="1114654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" y="1419149"/>
            <a:ext cx="1657807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29307" y="1419149"/>
            <a:ext cx="2286000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08906" y="1419149"/>
            <a:ext cx="2590495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94830" y="1419149"/>
            <a:ext cx="2038198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32113" y="1419149"/>
            <a:ext cx="2495398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" y="2609698"/>
            <a:ext cx="1657807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29307" y="2609698"/>
            <a:ext cx="2286000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08906" y="2609698"/>
            <a:ext cx="2590495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94830" y="2609698"/>
            <a:ext cx="2038198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32113" y="2609698"/>
            <a:ext cx="2495398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" y="3400654"/>
            <a:ext cx="1657807" cy="990295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29307" y="3400654"/>
            <a:ext cx="2286000" cy="990295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08906" y="3400654"/>
            <a:ext cx="2590495" cy="990295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94830" y="3400654"/>
            <a:ext cx="2038198" cy="990295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32113" y="3400654"/>
            <a:ext cx="2495398" cy="990295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" y="4390949"/>
            <a:ext cx="1657807" cy="11905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29307" y="4390949"/>
            <a:ext cx="2286000" cy="11905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08906" y="4390949"/>
            <a:ext cx="2590495" cy="11905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94830" y="4390949"/>
            <a:ext cx="2038198" cy="11905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32113" y="4390949"/>
            <a:ext cx="2495398" cy="11905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1500" y="5581498"/>
            <a:ext cx="1657807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29307" y="5581498"/>
            <a:ext cx="2286000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08906" y="5581498"/>
            <a:ext cx="2590495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94830" y="5581498"/>
            <a:ext cx="2038198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132113" y="5581498"/>
            <a:ext cx="2495398" cy="1190549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1500" y="6772046"/>
            <a:ext cx="1657807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29307" y="6772046"/>
            <a:ext cx="2286000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08906" y="6772046"/>
            <a:ext cx="2590495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94830" y="6772046"/>
            <a:ext cx="2038198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32113" y="6772046"/>
            <a:ext cx="2495398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71500" y="7563002"/>
            <a:ext cx="1657807" cy="790956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229307" y="7563002"/>
            <a:ext cx="2286000" cy="790956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08906" y="7563002"/>
            <a:ext cx="2590495" cy="790956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94830" y="7563002"/>
            <a:ext cx="2038198" cy="790956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132113" y="7563002"/>
            <a:ext cx="2495398" cy="790956"/>
          </a:xfrm>
          <a:prstGeom prst="rect">
            <a:avLst/>
          </a:prstGeom>
          <a:solidFill>
            <a:srgbClr val="F5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71500" y="8353044"/>
            <a:ext cx="1657807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229307" y="8353044"/>
            <a:ext cx="2286000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508906" y="8353044"/>
            <a:ext cx="2590495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94830" y="8353044"/>
            <a:ext cx="2038198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132113" y="8353044"/>
            <a:ext cx="2495398" cy="790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714146" y="1524305"/>
            <a:ext cx="12435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Scope/Approach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2371954" y="1524305"/>
            <a:ext cx="194858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Sectoral + executive/agency actions; risk management guidance (NIST AI RMF)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651553" y="1524305"/>
            <a:ext cx="223387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Horizontal risk‑based regulation across the single market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237476" y="1524305"/>
            <a:ext cx="1462126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Principles‑based, regulator‑led (safety, security, fairness, accountability, contestability)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9275674" y="1524305"/>
            <a:ext cx="21387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Content/security‑focused measures for algorithms, deep synthesis, and generative AI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14146" y="2714854"/>
            <a:ext cx="758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Tiers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2371954" y="2714854"/>
            <a:ext cx="18626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singular statutory tiers; agency/context‑based risk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651553" y="2714854"/>
            <a:ext cx="23765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Unacceptable (banned), High‑risk, Limited‑risk, Minimal‑risk; GPAI duties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237476" y="2714854"/>
            <a:ext cx="1672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statutory tiers; risk‑proportional guidance via regulators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9275674" y="2714854"/>
            <a:ext cx="22247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managed via security assessments, content rules, and filings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714146" y="3504895"/>
            <a:ext cx="11960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Prohibited Uses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2371954" y="3504895"/>
            <a:ext cx="198607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national AI‑specific bans; constraints via existing laws (UDAP, civil rights, safety)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4651553" y="3504895"/>
            <a:ext cx="232897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Manipulative, social scoring, certain biometric uses (subject to narrow exceptions)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7237476" y="3504895"/>
            <a:ext cx="156728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Case‑by‑case under existing laws (data protection, consumer, competition, safety)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9275674" y="3504895"/>
            <a:ext cx="23006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that endangers national security, social order, or violates public policy/law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14146" y="4496105"/>
            <a:ext cx="11960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Obligations (Provider)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714146" y="5686654"/>
            <a:ext cx="11960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Obligations (Deployer)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714146" y="6877202"/>
            <a:ext cx="1004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Enforcement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2371954" y="6877202"/>
            <a:ext cx="19860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FTC, DOJ, EEOC, CFPB, FDA, NHTSA, state AGs, others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651553" y="6877202"/>
            <a:ext cx="20528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National market surveillance authorities + EU coordination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7237476" y="6877202"/>
            <a:ext cx="1700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regulators (ICO, CMA, FCA, MHRA, HSE) with coordination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9275674" y="6877202"/>
            <a:ext cx="200527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 (primary), with MIIT and other authorities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714146" y="7667244"/>
            <a:ext cx="7388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Penalties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2371954" y="7667244"/>
            <a:ext cx="20528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law penalties (UDAP, discrimination, safety)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4651553" y="7667244"/>
            <a:ext cx="23198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administrative fines (multi‑million EUR and/or % of global turnover, by infringement)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7237476" y="7667244"/>
            <a:ext cx="175747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existing regimes (e.g., UK GDPR fines, consumer law remedies)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9275674" y="7667244"/>
            <a:ext cx="229148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Administrative fines, rectification orders, suspension of services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714146" y="8458200"/>
            <a:ext cx="538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2371954" y="8458200"/>
            <a:ext cx="208208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via EO/agency guidance; legislation evolving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4651553" y="8458200"/>
            <a:ext cx="238658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Adopted 2024; phased application 2025–2026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7237476" y="8458200"/>
            <a:ext cx="18242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Principles in force; further guidance and evaluations ongoing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9275674" y="8458200"/>
            <a:ext cx="225308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force; filings and rectifications ongoing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2371954" y="4496105"/>
            <a:ext cx="203362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testing/red‑teaming and reporting for powerful models per EO; transparency claims scrutiny (FTC)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4651553" y="4496105"/>
            <a:ext cx="2405786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QMS, data governance, risk mgmt, technical docs, logging, human oversight, CE marking for high‑risk; GPAI model transparency/diligence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7237476" y="4496105"/>
            <a:ext cx="1834286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 adherence to principles; engage with regulators; UK AI Safety Institute evaluations for frontier models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9275674" y="4496105"/>
            <a:ext cx="188183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filing, security assessments, training data provenance, content moderation, watermarking/labeling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2371954" y="5686654"/>
            <a:ext cx="2052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Agency impact assessments (OMB) for federal uses; sector rules (EEOC, CFPB, FDA, etc.)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4651553" y="5686654"/>
            <a:ext cx="2405786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High‑risk use‑case risk mgmt, competent human oversight, logs, transparency to users; fundamental‑rights impact assessments in some contexts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7237476" y="5686654"/>
            <a:ext cx="172913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assessments, transparency, DPIAs where relevant; sector regulator guidance (ICO, FCA, CMA, MHRA)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9275674" y="5686654"/>
            <a:ext cx="19577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Real‑name verification, user notice, complaint handling, moderation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428854"/>
            <a:ext cx="89821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Obligations by Role: Developer vs. Deployer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695" y="1238098"/>
            <a:ext cx="286207" cy="286207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809244" y="1304849"/>
            <a:ext cx="190195" cy="152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24598" y="1238098"/>
            <a:ext cx="286207" cy="286207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90549" y="1676095"/>
            <a:ext cx="2286000" cy="19202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953451" y="1676095"/>
            <a:ext cx="1686154" cy="19202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190549" y="1266444"/>
            <a:ext cx="24579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Developer/Provider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953451" y="1266444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Deployer/User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048256"/>
            <a:ext cx="15316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 AI QMS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2681021"/>
            <a:ext cx="15508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governance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3514954"/>
            <a:ext cx="21790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risk management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4347972"/>
            <a:ext cx="22558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documentation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5181905"/>
            <a:ext cx="21223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High-risk/GPAI specifics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524598" y="2048256"/>
            <a:ext cx="22457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Use‑case risk assessment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524598" y="2881274"/>
            <a:ext cx="21890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oversight design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524598" y="3514954"/>
            <a:ext cx="18361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controls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524598" y="4347972"/>
            <a:ext cx="23317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Transparency to end‑users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524598" y="5181905"/>
            <a:ext cx="18169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Sectoral compliance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61695" y="2328977"/>
            <a:ext cx="29077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Policies, roles, training, documentation.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" y="2962656"/>
            <a:ext cx="26316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Provenance, consent/rights, quality, representativeness.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" y="3795674"/>
            <a:ext cx="30412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(safety, security, bias, robustness), adversarial/red-team exercises.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61695" y="4629607"/>
            <a:ext cx="37462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cards, data sheets, evaluation reports, usage constraints.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61695" y="5462626"/>
            <a:ext cx="397489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conformity approach, GPAI transparency/diligence; US EO reporting for powerful models; CN algorithm filing/security review.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524598" y="2328977"/>
            <a:ext cx="322234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Context, impact on individuals/rights, safety dependencies.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524598" y="3161995"/>
            <a:ext cx="39556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Competence, escalation/override, fallback procedures.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524598" y="3795674"/>
            <a:ext cx="36036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Logging, monitoring, incident reporting, rollback plans.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524598" y="4629607"/>
            <a:ext cx="35935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Notices, labeling (e.g., synthetic content), records retention.</a:t>
            </a:r>
            <a:endParaRPr lang="en-US" sz="11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rcRect l="214" r="214"/>
          <a:stretch/>
        </p:blipFill>
        <p:spPr>
          <a:xfrm>
            <a:off x="4858207" y="3065069"/>
            <a:ext cx="2476195" cy="1399946"/>
          </a:xfrm>
          <a:prstGeom prst="rect">
            <a:avLst/>
          </a:prstGeom>
        </p:spPr>
      </p:pic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91349" y="1304849"/>
            <a:ext cx="152705" cy="15270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524598" y="5462626"/>
            <a:ext cx="37270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Employment, credit, health, safety; public sector IA (OMB/UK, where applicable).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333756"/>
            <a:ext cx="56007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Taxonomy and Examples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34" r="34"/>
          <a:stretch/>
        </p:blipFill>
        <p:spPr>
          <a:xfrm>
            <a:off x="761695" y="2248510"/>
            <a:ext cx="5191049" cy="29242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38951" y="942746"/>
            <a:ext cx="12838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Unacceptable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38951" y="1205179"/>
            <a:ext cx="52916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Examples: Manipulative or social‑scoring systems; Real‑time remote biometric ID in public (narrow exceptions)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238951" y="2107692"/>
            <a:ext cx="52340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Examples: Employment screening; Creditworthiness; Medical devices; Critical infrastructure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238951" y="3011119"/>
            <a:ext cx="49578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Examples: Chatbots requiring disclosure; AI that interacts with the public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38951" y="3740810"/>
            <a:ext cx="2948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Examples: Spam filters; AI‑assisted spelling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238951" y="1570939"/>
            <a:ext cx="36274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Treatment: Prohibited (EU) or highly restricted elsewhere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238951" y="2473452"/>
            <a:ext cx="50465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Treatment: QMS, testing, documentation, registration/marking, strong oversight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238951" y="3203143"/>
            <a:ext cx="32744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Treatment: Transparency obligations; basic controls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238951" y="3932834"/>
            <a:ext cx="3474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Treatment: Good‑practice controls; minimal regulation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238951" y="1846174"/>
            <a:ext cx="9317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High‑Risk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38951" y="2749601"/>
            <a:ext cx="11695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10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Limited‑Risk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238951" y="3479292"/>
            <a:ext cx="12079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57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Minimal‑Risk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38951" y="4265676"/>
            <a:ext cx="5191049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238951" y="4399178"/>
            <a:ext cx="15462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Crosswalk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38951" y="4679899"/>
            <a:ext cx="381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EU: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38951" y="4966106"/>
            <a:ext cx="3721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US: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38951" y="5344668"/>
            <a:ext cx="391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UK: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238951" y="5630875"/>
            <a:ext cx="391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CN: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81851" y="4660697"/>
            <a:ext cx="19504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mapping to tiers above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581851" y="4946904"/>
            <a:ext cx="479877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Context‑based; align 'high‑risk' to safety‑, rights‑, or critical‑function contexts (OMB/NIST)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581851" y="5326380"/>
            <a:ext cx="41605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Principles‑proportionate; treat higher potential harm as 'high‑risk'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581851" y="5611673"/>
            <a:ext cx="44942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via security/content impact; uses triggering filing/review treated as high‑risk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281" r="-281"/>
          <a:stretch/>
        </p:blipFill>
        <p:spPr>
          <a:xfrm>
            <a:off x="5100523" y="6305702"/>
            <a:ext cx="409651" cy="36210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5891479" y="6305702"/>
            <a:ext cx="362102" cy="36210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l="-505" r="-505"/>
          <a:stretch/>
        </p:blipFill>
        <p:spPr>
          <a:xfrm>
            <a:off x="6633972" y="6305702"/>
            <a:ext cx="457200" cy="36210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"/>
          <p:cNvSpPr txBox="1"/>
          <p:nvPr/>
        </p:nvSpPr>
        <p:spPr>
          <a:xfrm>
            <a:off x="666598" y="333756"/>
            <a:ext cx="5534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Operating Model</a:t>
            </a:r>
            <a:endParaRPr lang="en-US" sz="27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100" b="100"/>
          <a:stretch/>
        </p:blipFill>
        <p:spPr>
          <a:xfrm>
            <a:off x="3981298" y="895198"/>
            <a:ext cx="4238244" cy="2381098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666598" y="3514954"/>
            <a:ext cx="21479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Lines of Defense</a:t>
            </a:r>
            <a:endParaRPr lang="en-US" sz="1300" dirty="0"/>
          </a:p>
        </p:txBody>
      </p:sp>
      <p:sp>
        <p:nvSpPr>
          <p:cNvPr id="9" name="Text 3"/>
          <p:cNvSpPr txBox="1"/>
          <p:nvPr/>
        </p:nvSpPr>
        <p:spPr>
          <a:xfrm>
            <a:off x="666598" y="4732020"/>
            <a:ext cx="19677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RACI – Key Decisions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705002" y="3828593"/>
            <a:ext cx="3543300" cy="714146"/>
          </a:xfrm>
          <a:prstGeom prst="roundRect">
            <a:avLst>
              <a:gd name="adj" fmla="val 6829"/>
            </a:avLst>
          </a:prstGeom>
          <a:solidFill>
            <a:srgbClr val="4A90E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4324198" y="3828593"/>
            <a:ext cx="3543300" cy="714146"/>
          </a:xfrm>
          <a:prstGeom prst="roundRect">
            <a:avLst>
              <a:gd name="adj" fmla="val 6829"/>
            </a:avLst>
          </a:prstGeom>
          <a:solidFill>
            <a:srgbClr val="4A90E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7944307" y="3828593"/>
            <a:ext cx="3543300" cy="714146"/>
          </a:xfrm>
          <a:prstGeom prst="roundRect">
            <a:avLst>
              <a:gd name="adj" fmla="val 6829"/>
            </a:avLst>
          </a:prstGeom>
          <a:solidFill>
            <a:srgbClr val="4A90E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780898" y="3914546"/>
            <a:ext cx="28913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1st line: Product/Engineering/Operations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4401007" y="3914546"/>
            <a:ext cx="24249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2nd line: Risk/Compliance/Privacy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8020202" y="3914546"/>
            <a:ext cx="16340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3rd line: Internal Audit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780898" y="4143146"/>
            <a:ext cx="34363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 controls; Implement policies; Execute day-to-day risk management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4401007" y="4143146"/>
            <a:ext cx="32461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policy; Review and challenge; Provide expertise and guidance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8020202" y="4143146"/>
            <a:ext cx="334121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Independently assure; Validate control effectiveness; Report to board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66598" y="5122469"/>
            <a:ext cx="3258007" cy="304495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924605" y="5122469"/>
            <a:ext cx="2714854" cy="304495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638544" y="5122469"/>
            <a:ext cx="1628546" cy="304495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8268005" y="5122469"/>
            <a:ext cx="1628546" cy="304495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9896551" y="5122469"/>
            <a:ext cx="1628546" cy="304495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761695" y="5189220"/>
            <a:ext cx="6556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019702" y="5189220"/>
            <a:ext cx="8933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Responsible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734556" y="5189220"/>
            <a:ext cx="9217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363102" y="5189220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Consulted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9991649" y="5189220"/>
            <a:ext cx="703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Informed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66598" y="5713171"/>
            <a:ext cx="10858500" cy="29535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66598" y="5708599"/>
            <a:ext cx="3258007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924605" y="5708599"/>
            <a:ext cx="2714854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638544" y="5708599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8268005" y="5708599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9896551" y="5708599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666598" y="5999378"/>
            <a:ext cx="3258007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924605" y="5999378"/>
            <a:ext cx="2714854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6638544" y="5999378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268005" y="5999378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9896551" y="5999378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666598" y="6290158"/>
            <a:ext cx="3258007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3924605" y="6290158"/>
            <a:ext cx="2714854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6638544" y="6290158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8268005" y="6290158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9896551" y="6290158"/>
            <a:ext cx="1628546" cy="9144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 txBox="1"/>
          <p:nvPr/>
        </p:nvSpPr>
        <p:spPr>
          <a:xfrm>
            <a:off x="761695" y="5479999"/>
            <a:ext cx="13697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 use‑case risk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4019702" y="5479999"/>
            <a:ext cx="5980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6734556" y="5479999"/>
            <a:ext cx="9317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 Sponsor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8363102" y="5479999"/>
            <a:ext cx="8366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Risk/Privacy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9991649" y="5479999"/>
            <a:ext cx="4361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761695" y="5769864"/>
            <a:ext cx="19888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high‑risk deployment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4019702" y="5769864"/>
            <a:ext cx="12454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Risk Committee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6734556" y="5769864"/>
            <a:ext cx="11411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Board/Risk Cttee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8363102" y="5769864"/>
            <a:ext cx="8074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Legal/MRM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9991649" y="5769864"/>
            <a:ext cx="3502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Ops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761695" y="6060643"/>
            <a:ext cx="20080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Incident disclosure/notification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4019702" y="6060643"/>
            <a:ext cx="8842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Ops/Security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6734556" y="6060643"/>
            <a:ext cx="9217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Legal/Privacy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8363102" y="6060643"/>
            <a:ext cx="5888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Comms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9991649" y="6060643"/>
            <a:ext cx="4453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333756"/>
            <a:ext cx="5058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Data/ML Lifecycle Controls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26" b="26"/>
          <a:stretch/>
        </p:blipFill>
        <p:spPr>
          <a:xfrm>
            <a:off x="3896258" y="847649"/>
            <a:ext cx="4401007" cy="2476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8350" y="3476549"/>
            <a:ext cx="1155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831897" y="3476549"/>
            <a:ext cx="11173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785970" y="3476549"/>
            <a:ext cx="8887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87007" y="3476549"/>
            <a:ext cx="7744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Approval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99678" y="3476549"/>
            <a:ext cx="10314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291572" y="3476549"/>
            <a:ext cx="927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6150" y="3719779"/>
            <a:ext cx="135971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Provenance/consent checks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46150" y="4067251"/>
            <a:ext cx="9601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Sensitive data minimization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46150" y="4414723"/>
            <a:ext cx="11795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 SLAs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587752" y="3719779"/>
            <a:ext cx="15883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Documented objectives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587752" y="3936492"/>
            <a:ext cx="15983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Training/validation splits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587752" y="4153205"/>
            <a:ext cx="16367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training pipelines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429354" y="3719779"/>
            <a:ext cx="136977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Accuracy/robustness tests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429354" y="4067251"/>
            <a:ext cx="13789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Bias/fairness metrics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429354" y="4283964"/>
            <a:ext cx="13121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Red-team exercises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270955" y="3719779"/>
            <a:ext cx="13030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assessment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270955" y="3936492"/>
            <a:ext cx="16367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oversight design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270955" y="4153205"/>
            <a:ext cx="13414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sign-offs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112557" y="3719779"/>
            <a:ext cx="15700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flags/kill-switch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112557" y="3936492"/>
            <a:ext cx="14081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notices/labeling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112557" y="4153205"/>
            <a:ext cx="1055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954158" y="3719779"/>
            <a:ext cx="10076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Drift detection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954158" y="3936492"/>
            <a:ext cx="15316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Incident logging/triage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9954158" y="4153205"/>
            <a:ext cx="14173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Periodic re-validation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031797" y="4717390"/>
            <a:ext cx="82277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Gates: Gate 1 (Build complete), Gate 2 (Risk/Privacy review), Gate 3 (Independent validation), Gate 4 (Go-live), Gate 5 (Periodic review)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333756"/>
            <a:ext cx="64584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Enforcement Caselets (Illustrative)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1695" y="942746"/>
            <a:ext cx="10668305" cy="82844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1695" y="942746"/>
            <a:ext cx="38405" cy="828446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1695" y="1843430"/>
            <a:ext cx="10668305" cy="82844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1695" y="1843430"/>
            <a:ext cx="38405" cy="828446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1695" y="2743200"/>
            <a:ext cx="10668305" cy="82844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1695" y="2743200"/>
            <a:ext cx="38405" cy="828446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1695" y="3642970"/>
            <a:ext cx="10668305" cy="82844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1695" y="3642970"/>
            <a:ext cx="38405" cy="828446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1695" y="4543654"/>
            <a:ext cx="10668305" cy="82844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1695" y="4543654"/>
            <a:ext cx="38405" cy="828446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95198" y="1047902"/>
            <a:ext cx="11173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5198" y="1947672"/>
            <a:ext cx="7836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(Italy)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5198" y="2848356"/>
            <a:ext cx="7644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 (NYC)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5198" y="3748126"/>
            <a:ext cx="13459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United Kingdom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5198" y="4647895"/>
            <a:ext cx="5458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China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95198" y="1281074"/>
            <a:ext cx="3886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5198" y="2180844"/>
            <a:ext cx="3886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95198" y="3081528"/>
            <a:ext cx="7507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2023–2024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5198" y="3981298"/>
            <a:ext cx="7406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2022–2023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5198" y="4881982"/>
            <a:ext cx="7507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2023–2024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5198" y="1485900"/>
            <a:ext cx="341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FTC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95198" y="2385670"/>
            <a:ext cx="5980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5198" y="3286354"/>
            <a:ext cx="522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DCWP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95198" y="4186123"/>
            <a:ext cx="3218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5198" y="5086807"/>
            <a:ext cx="369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1047902"/>
            <a:ext cx="5843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Issue: Retail facial recognition harms (accuracy, false positives, inadequate controls)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1947672"/>
            <a:ext cx="37005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Issue: LLM transparency, age-gating, and data rights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514600" y="2848356"/>
            <a:ext cx="48536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Issue: Automated employment decision tools (bias audit and notices)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3748126"/>
            <a:ext cx="37581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Issue: Facial recognition and web-scraped biometrics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514600" y="4647895"/>
            <a:ext cx="41010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Issue: Generative/deep synthesis services (labeling, filings)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514600" y="1276502"/>
            <a:ext cx="71323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Outcome: Order restricting use; mandated safeguards and assessments; highlights UDAP risk for AI deployments.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514600" y="2176272"/>
            <a:ext cx="73417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Outcome: Temporary restrictions lifted after remedial measures; signals strong transparency/data rights expectations.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3076956"/>
            <a:ext cx="71890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Outcome: Enforcement of bias audit and candidate disclosure requirements; employers adjust hiring AI workflows.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514600" y="3976726"/>
            <a:ext cx="76754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Outcome: Orders and fines under data protection; subsequent appeals tested jurisdiction—signals scrutiny of biometric AI.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514600" y="4876495"/>
            <a:ext cx="73325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Outcome: Rectification and filing requirements before/after launch; emphasizes security review and content controls.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52805" y="5471770"/>
            <a:ext cx="94375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Note: Examples reflect applicable legal regimes (consumer protection, data protection, sector safety) used to police AI before/alongside AI-specific laws.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333756"/>
            <a:ext cx="6315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Adoption Roadmap (0–18 Months)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9" b="19"/>
          <a:stretch/>
        </p:blipFill>
        <p:spPr>
          <a:xfrm>
            <a:off x="4234586" y="923544"/>
            <a:ext cx="3724351" cy="20958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05356" y="3181198"/>
            <a:ext cx="896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0–90 days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304995" y="3181198"/>
            <a:ext cx="1028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3–6 months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944868" y="3181198"/>
            <a:ext cx="1086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6–12 months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581998" y="3181198"/>
            <a:ext cx="1153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12–18 months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8505" y="3457346"/>
            <a:ext cx="7077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8505" y="4781398"/>
            <a:ext cx="10506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Deliverables: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504895" y="3457346"/>
            <a:ext cx="7077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504895" y="4781398"/>
            <a:ext cx="10506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457346"/>
            <a:ext cx="7077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781398"/>
            <a:ext cx="10506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839505" y="3457346"/>
            <a:ext cx="7077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839505" y="4942332"/>
            <a:ext cx="10506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90295" y="3690518"/>
            <a:ext cx="23225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Appoint accountable exec; stand up AI Risk Committee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90295" y="4041648"/>
            <a:ext cx="224576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AI use-cases and models (incl. vendor/GPAI)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90295" y="4391863"/>
            <a:ext cx="1950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 into risk tiers; freeze unclassified high-impact uses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90295" y="5014570"/>
            <a:ext cx="1169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policy baseline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90295" y="5203850"/>
            <a:ext cx="11603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Use-case registry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90295" y="5393131"/>
            <a:ext cx="1512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 risk classification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657600" y="3690518"/>
            <a:ext cx="23317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lifecycle gates, AIA/DPIA templates, and model cards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0" y="4041648"/>
            <a:ext cx="22174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 up monitoring and incident playbooks; enable kill-switches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391863"/>
            <a:ext cx="221742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EU high-risk candidates; plan CE/technical documentation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5014570"/>
            <a:ext cx="19979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 checklist + evidence pack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657600" y="5203850"/>
            <a:ext cx="14081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runbooks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0" y="5393131"/>
            <a:ext cx="16075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technical doc outline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324905" y="3690518"/>
            <a:ext cx="21890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Independent validation (MRM) for high-risk; bias/security testing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324905" y="4041648"/>
            <a:ext cx="211226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US: align with NIST AI RMF; OMB requirements for public sector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324905" y="4391863"/>
            <a:ext cx="224576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CN: prepare/submit filings; implement labeling/watermarking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324905" y="5014570"/>
            <a:ext cx="11978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reports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324905" y="5203850"/>
            <a:ext cx="17026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NIST RMF alignment map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324905" y="5393131"/>
            <a:ext cx="1102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 filing dossier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991295" y="3690518"/>
            <a:ext cx="223662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EU: complete conformity assessments/marking for high-risk systems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8991295" y="4202582"/>
            <a:ext cx="237012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Third-party assurance (internal audit; external attestations)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991295" y="4552798"/>
            <a:ext cx="174101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KPIs; continuous improvement loop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8991295" y="5175504"/>
            <a:ext cx="18937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marking (where required)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991295" y="5364785"/>
            <a:ext cx="1217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Assurance reports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8991295" y="5554980"/>
            <a:ext cx="12554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Quarterly KPI pack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61695" y="333756"/>
            <a:ext cx="66870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Dashboard (Executive View)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102766"/>
            <a:ext cx="5477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Filters: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02106" y="1047902"/>
            <a:ext cx="914400" cy="286207"/>
          </a:xfrm>
          <a:prstGeom prst="roundRect">
            <a:avLst>
              <a:gd name="adj" fmla="val 170394"/>
            </a:avLst>
          </a:prstGeom>
          <a:solidFill>
            <a:srgbClr val="2E509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302459" y="1047902"/>
            <a:ext cx="428854" cy="286207"/>
          </a:xfrm>
          <a:prstGeom prst="roundRect">
            <a:avLst>
              <a:gd name="adj" fmla="val 170394"/>
            </a:avLst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20010" y="1047902"/>
            <a:ext cx="428854" cy="286207"/>
          </a:xfrm>
          <a:prstGeom prst="roundRect">
            <a:avLst>
              <a:gd name="adj" fmla="val 170394"/>
            </a:avLst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43961" y="1047902"/>
            <a:ext cx="437998" cy="286207"/>
          </a:xfrm>
          <a:prstGeom prst="roundRect">
            <a:avLst>
              <a:gd name="adj" fmla="val 170394"/>
            </a:avLst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73398" y="1047902"/>
            <a:ext cx="437998" cy="286207"/>
          </a:xfrm>
          <a:prstGeom prst="roundRect">
            <a:avLst>
              <a:gd name="adj" fmla="val 170394"/>
            </a:avLst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04665" y="1047902"/>
            <a:ext cx="771754" cy="286207"/>
          </a:xfrm>
          <a:prstGeom prst="roundRect">
            <a:avLst>
              <a:gd name="adj" fmla="val 170394"/>
            </a:avLst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66030" y="1047902"/>
            <a:ext cx="1095451" cy="286207"/>
          </a:xfrm>
          <a:prstGeom prst="roundRect">
            <a:avLst>
              <a:gd name="adj" fmla="val 170394"/>
            </a:avLst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425550" y="1104595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Region: All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26818" y="1104595"/>
            <a:ext cx="2743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943454" y="1104595"/>
            <a:ext cx="2743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67405" y="1104595"/>
            <a:ext cx="2834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96842" y="1104595"/>
            <a:ext cx="2834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28109" y="1104595"/>
            <a:ext cx="6172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Tier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389474" y="1104595"/>
            <a:ext cx="9409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Unit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646920" y="1057046"/>
            <a:ext cx="1890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Last updated: Nov 10, 2025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1695" y="1471270"/>
            <a:ext cx="3429000" cy="2314346"/>
          </a:xfrm>
          <a:prstGeom prst="roundRect">
            <a:avLst>
              <a:gd name="adj" fmla="val 1301"/>
            </a:avLst>
          </a:prstGeom>
          <a:solidFill>
            <a:srgbClr val="F7F9FC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1805" y="1471270"/>
            <a:ext cx="3429000" cy="2314346"/>
          </a:xfrm>
          <a:prstGeom prst="roundRect">
            <a:avLst>
              <a:gd name="adj" fmla="val 1301"/>
            </a:avLst>
          </a:prstGeom>
          <a:solidFill>
            <a:srgbClr val="F7F9FC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01000" y="1471270"/>
            <a:ext cx="3429000" cy="2314346"/>
          </a:xfrm>
          <a:prstGeom prst="roundRect">
            <a:avLst>
              <a:gd name="adj" fmla="val 1301"/>
            </a:avLst>
          </a:prstGeom>
          <a:solidFill>
            <a:srgbClr val="F7F9FC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1695" y="3976726"/>
            <a:ext cx="3429000" cy="2314346"/>
          </a:xfrm>
          <a:prstGeom prst="roundRect">
            <a:avLst>
              <a:gd name="adj" fmla="val 1301"/>
            </a:avLst>
          </a:prstGeom>
          <a:solidFill>
            <a:srgbClr val="F7F9FC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81805" y="3976726"/>
            <a:ext cx="3429000" cy="2314346"/>
          </a:xfrm>
          <a:prstGeom prst="roundRect">
            <a:avLst>
              <a:gd name="adj" fmla="val 1301"/>
            </a:avLst>
          </a:prstGeom>
          <a:solidFill>
            <a:srgbClr val="F7F9FC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01000" y="3976726"/>
            <a:ext cx="3429000" cy="2314346"/>
          </a:xfrm>
          <a:prstGeom prst="roundRect">
            <a:avLst>
              <a:gd name="adj" fmla="val 1301"/>
            </a:avLst>
          </a:prstGeom>
          <a:solidFill>
            <a:srgbClr val="F7F9FC"/>
          </a:solidFill>
          <a:ln/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14400" y="1633118"/>
            <a:ext cx="19266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AI Inventory Complete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33595" y="1633118"/>
            <a:ext cx="17556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High-Risk Approved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53705" y="1633118"/>
            <a:ext cx="22411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Bias/Security Tests Pass Rate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138574"/>
            <a:ext cx="23362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to Incident Containment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33595" y="4138574"/>
            <a:ext cx="24789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Technical Doc Completeness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53705" y="4138574"/>
            <a:ext cx="28602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Vendor/GPAI Due Diligence Coverage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43807" y="1671523"/>
            <a:ext cx="95098" cy="9509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182198" y="1671523"/>
            <a:ext cx="95098" cy="9509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43807" y="4176979"/>
            <a:ext cx="95098" cy="9509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63002" y="4176979"/>
            <a:ext cx="95098" cy="9509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182198" y="4176979"/>
            <a:ext cx="95098" cy="9509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14400" y="1962302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Inventoried AI uses / known uses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33595" y="1962302"/>
            <a:ext cx="2943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Approved high-risk uses / total high-risk identified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153705" y="1962302"/>
            <a:ext cx="2190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Passed required tests / total required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4466844"/>
            <a:ext cx="2686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hours from detection to containment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533595" y="4466844"/>
            <a:ext cx="2991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Required artifacts present for EU high-risk systems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153705" y="4466844"/>
            <a:ext cx="2563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Vendors with completed DD / total vendors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" y="2200046"/>
            <a:ext cx="3124505" cy="381305"/>
          </a:xfrm>
          <a:prstGeom prst="roundRect">
            <a:avLst>
              <a:gd name="adj" fmla="val 23981"/>
            </a:avLst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2200046"/>
            <a:ext cx="2971800" cy="381305"/>
          </a:xfrm>
          <a:prstGeom prst="roundRect">
            <a:avLst>
              <a:gd name="adj" fmla="val 23981"/>
            </a:avLst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33595" y="2200046"/>
            <a:ext cx="2667305" cy="57150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195414" y="2371954"/>
            <a:ext cx="304495" cy="400507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491679" y="2542946"/>
            <a:ext cx="171907" cy="22860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619902" y="4705502"/>
            <a:ext cx="952805" cy="952805"/>
          </a:xfrm>
          <a:prstGeom prst="ellipse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3467405" y="2295144"/>
            <a:ext cx="438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697626" y="2391156"/>
            <a:ext cx="457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" y="2676449"/>
            <a:ext cx="191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614830" y="2676449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2391156" y="2676449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3449117" y="2676449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533595" y="2866644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Approved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896966" y="2866644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Pending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7193585" y="2866644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Blocked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104949" y="3471977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≥ 95%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5718658" y="3471977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≥ 90%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9339682" y="3471977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≥ 98%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2142439" y="5976518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≤ 4h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725058" y="5976518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≥ 95%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337853" y="5976518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 ≥ 90%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63002" y="1671523"/>
            <a:ext cx="95098" cy="95098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7257593" y="2495398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7%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7491679" y="2581351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3%</a:t>
            </a:r>
            <a:endParaRPr lang="en-US" sz="900" dirty="0"/>
          </a:p>
        </p:txBody>
      </p:sp>
      <p:pic>
        <p:nvPicPr>
          <p:cNvPr id="67" name="Image 0" descr="preencoded.png"/>
          <p:cNvPicPr>
            <a:picLocks noChangeAspect="1"/>
          </p:cNvPicPr>
          <p:nvPr/>
        </p:nvPicPr>
        <p:blipFill>
          <a:blip r:embed="rId3"/>
          <a:srcRect l="-4744" r="-4744"/>
          <a:stretch/>
        </p:blipFill>
        <p:spPr>
          <a:xfrm>
            <a:off x="8153705" y="2545690"/>
            <a:ext cx="2085746" cy="571500"/>
          </a:xfrm>
          <a:prstGeom prst="rect">
            <a:avLst/>
          </a:prstGeom>
        </p:spPr>
      </p:pic>
      <p:sp>
        <p:nvSpPr>
          <p:cNvPr id="68" name="Text 65"/>
          <p:cNvSpPr txBox="1"/>
          <p:nvPr/>
        </p:nvSpPr>
        <p:spPr>
          <a:xfrm>
            <a:off x="10449763" y="2649931"/>
            <a:ext cx="8339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99%</a:t>
            </a:r>
            <a:endParaRPr lang="en-US" sz="2200" dirty="0"/>
          </a:p>
        </p:txBody>
      </p:sp>
      <p:sp>
        <p:nvSpPr>
          <p:cNvPr id="69" name="Text 66"/>
          <p:cNvSpPr txBox="1"/>
          <p:nvPr/>
        </p:nvSpPr>
        <p:spPr>
          <a:xfrm>
            <a:off x="2067458" y="5098694"/>
            <a:ext cx="11055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5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3.2h</a:t>
            </a:r>
            <a:endParaRPr lang="en-US" sz="3000" dirty="0"/>
          </a:p>
        </p:txBody>
      </p:sp>
      <p:sp>
        <p:nvSpPr>
          <p:cNvPr id="70" name="Text 67"/>
          <p:cNvSpPr txBox="1"/>
          <p:nvPr/>
        </p:nvSpPr>
        <p:spPr>
          <a:xfrm>
            <a:off x="5852160" y="5038344"/>
            <a:ext cx="667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97%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5619902" y="4705502"/>
            <a:ext cx="952805" cy="952805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9098" y="4705502"/>
            <a:ext cx="952805" cy="952805"/>
          </a:xfrm>
          <a:prstGeom prst="rect">
            <a:avLst/>
          </a:prstGeom>
        </p:spPr>
      </p:pic>
      <p:sp>
        <p:nvSpPr>
          <p:cNvPr id="73" name="Text 69"/>
          <p:cNvSpPr txBox="1"/>
          <p:nvPr/>
        </p:nvSpPr>
        <p:spPr>
          <a:xfrm>
            <a:off x="761695" y="6491326"/>
            <a:ext cx="3302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Cadence: Monthly review; quarterly board summary</a:t>
            </a:r>
            <a:endParaRPr lang="en-US" sz="900" dirty="0"/>
          </a:p>
        </p:txBody>
      </p:sp>
      <p:sp>
        <p:nvSpPr>
          <p:cNvPr id="74" name="Text 70"/>
          <p:cNvSpPr txBox="1"/>
          <p:nvPr/>
        </p:nvSpPr>
        <p:spPr>
          <a:xfrm>
            <a:off x="9343339" y="6491326"/>
            <a:ext cx="21890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AI Governance Office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5715000" y="4800600"/>
            <a:ext cx="761695" cy="76169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2160</Words>
  <Application>Microsoft Office PowerPoint</Application>
  <PresentationFormat>Widescreen</PresentationFormat>
  <Paragraphs>345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Md Haque</cp:lastModifiedBy>
  <cp:revision>1</cp:revision>
  <dcterms:created xsi:type="dcterms:W3CDTF">2025-11-10T22:58:43Z</dcterms:created>
  <dcterms:modified xsi:type="dcterms:W3CDTF">2025-11-11T15:12:22Z</dcterms:modified>
</cp:coreProperties>
</file>