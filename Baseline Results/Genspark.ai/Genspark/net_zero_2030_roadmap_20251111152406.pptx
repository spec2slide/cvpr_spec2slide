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29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E3C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2939796" y="276149"/>
            <a:ext cx="671535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NET-ZERO 2030 ROADMAP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4752137" y="948233"/>
            <a:ext cx="294711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(MANUFACTURER)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2005279" y="1822399"/>
            <a:ext cx="834207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practical path to decarbonize a mid-size manufacturer by 2030: 90 ktCO2e abatement, 60 ktCO2e neutralized residuals, resilient economics, and clear execution.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523951"/>
            <a:ext cx="17337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067105" y="1476756"/>
            <a:ext cx="202722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and Target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67105" y="1986991"/>
            <a:ext cx="31802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Abatement Levers + MAC Curve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67105" y="2497226"/>
            <a:ext cx="36557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Procurement (PPAs / On-site)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7105" y="3008376"/>
            <a:ext cx="22841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Electrification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3518611"/>
            <a:ext cx="339882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Economics: Capex, Opex, Payback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67105" y="4029761"/>
            <a:ext cx="21131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Incentives by Region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67105" y="4539996"/>
            <a:ext cx="21991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Risks and Mitigations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67105" y="5051146"/>
            <a:ext cx="31610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 and KPI Dashboard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7105" y="5561381"/>
            <a:ext cx="25127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6-Quarter Execution Plan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67105" y="6071616"/>
            <a:ext cx="14273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 to Action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8395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523951"/>
            <a:ext cx="4668012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Baseline Emissions and 2030 Target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2162556"/>
            <a:ext cx="20747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Year: 2023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4204411"/>
            <a:ext cx="31034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2030 (Post-Abatement)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595067"/>
            <a:ext cx="705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1: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899562"/>
            <a:ext cx="1867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2 (location-based):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204058"/>
            <a:ext cx="705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3: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3509467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4636922"/>
            <a:ext cx="705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1: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4941418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2 (market-based):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5246827"/>
            <a:ext cx="705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3: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5551322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64485" y="2595067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ktCO₂e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64485" y="2899562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ktCO₂e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64485" y="3204058"/>
            <a:ext cx="886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105 ktCO₂e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64485" y="3509467"/>
            <a:ext cx="886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 ktCO₂e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964485" y="4636922"/>
            <a:ext cx="715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ktCO₂e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964485" y="4941418"/>
            <a:ext cx="715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ktCO₂e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964485" y="5246827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 ktCO₂e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64485" y="5551322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 ktCO₂e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905" y="6446520"/>
            <a:ext cx="4714646" cy="1123798"/>
          </a:xfrm>
          <a:prstGeom prst="rect">
            <a:avLst/>
          </a:prstGeom>
          <a:solidFill>
            <a:srgbClr val="F2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9905" y="6446520"/>
            <a:ext cx="38405" cy="1123798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30275" y="6657746"/>
            <a:ext cx="438363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Neutralization Plan: Neutralize residual 60 ktCO₂e in 2030 with high-durability removals (mineralization/BECCS) via phased offtake contracts starting 2026.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09905" y="7738567"/>
            <a:ext cx="476128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2 shown location-based for baseline; market-based will reach ~0 kt by 2027 with 100% renewable electricity.</a:t>
            </a:r>
            <a:endParaRPr lang="en-US" sz="10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 l="-88" r="-88"/>
          <a:stretch/>
        </p:blipFill>
        <p:spPr>
          <a:xfrm>
            <a:off x="6234379" y="304495"/>
            <a:ext cx="5658307" cy="82296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10858500" y="7315200"/>
            <a:ext cx="1143000" cy="571500"/>
          </a:xfrm>
          <a:prstGeom prst="rect">
            <a:avLst/>
          </a:prstGeom>
          <a:noFill/>
          <a:ln w="254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0858500" y="7315200"/>
            <a:ext cx="1143000" cy="571500"/>
          </a:xfrm>
          <a:prstGeom prst="rect">
            <a:avLst/>
          </a:prstGeom>
          <a:noFill/>
          <a:ln w="254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10657332" y="7925105"/>
            <a:ext cx="16294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Neutralized withhigh-durability removals:60 ktCO₂e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657332" y="7925105"/>
            <a:ext cx="16294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Neutralized withhigh-durability removals:60 ktCO₂e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523951"/>
            <a:ext cx="4439412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Abatement Levers and MAC Curve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2162556"/>
            <a:ext cx="379476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Twelve prioritized levers deliver 90 ktCO2e/yr abatement by 2030.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747772"/>
            <a:ext cx="4090111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62% of abatement volume is cost-saving or near-zero cost, creating immediate economic benefits while reducing emissions.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4072738"/>
            <a:ext cx="12673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Levers by scope: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905" y="4625035"/>
            <a:ext cx="123444" cy="152705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01014" y="4491533"/>
            <a:ext cx="41632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1: Compressed air optimization, Waste heat recovery, Fleet electrification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38505" y="5063033"/>
            <a:ext cx="3477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2: Renewable PPAs, On-site solar + storage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38505" y="5405933"/>
            <a:ext cx="3629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1+2: Process electrification, Energy efficiency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1754" y="5748833"/>
            <a:ext cx="39154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3: Supplier decarbonization, Material substitution, Logistics optimization, Waste reduction, Packaging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905" y="5082235"/>
            <a:ext cx="152705" cy="152705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9905" y="5882335"/>
            <a:ext cx="95098" cy="152705"/>
          </a:xfrm>
          <a:prstGeom prst="ellipse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5639105" y="809244"/>
            <a:ext cx="6400800" cy="52385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514807"/>
            <a:ext cx="4582058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100% Renewable Electricity: PPAs + On-site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2085746"/>
            <a:ext cx="25795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Electricity Demand (GWh/yr)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848356"/>
            <a:ext cx="2065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Procurement Portfolio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463394"/>
            <a:ext cx="49149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2024: 58 | 2025: 55 | 2026: 50 | 2027: 60 | 2028: 70 | 2029: 74 | 2030: 75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5405018"/>
            <a:ext cx="49249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Achievement: 100% renewable electricity by 2027 through strategic mix of on-site generation, virtual PPAs, and EACs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3254350"/>
            <a:ext cx="152705" cy="152705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9905" y="3794760"/>
            <a:ext cx="152705" cy="152705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9905" y="4336085"/>
            <a:ext cx="152705" cy="152705"/>
          </a:xfrm>
          <a:prstGeom prst="ellipse">
            <a:avLst/>
          </a:prstGeom>
          <a:solidFill>
            <a:srgbClr val="8BC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9905" y="4877410"/>
            <a:ext cx="152705" cy="152705"/>
          </a:xfrm>
          <a:prstGeom prst="ellipse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75995" y="3225089"/>
            <a:ext cx="47155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On-site PV: 5 MWdc rooftop/ground-mount, ~6.5 GWh/yr from 2026; 2 MWh/1 MW battery for peak shaving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5995" y="3766414"/>
            <a:ext cx="46104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VPPA: 50 GWh/yr solar/wind VPPA from 2027; tenor 10 years; hub-settled, baseload-shaped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75995" y="4307738"/>
            <a:ext cx="47247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Green Tariff/EACs: Top-up to 100% from 2027 (3.5-18.5 GWh/yr); 30-70% prior to VPPA start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75995" y="4849063"/>
            <a:ext cx="3363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Brown Grid: Decreasing from 70% to 0% by 2027</a:t>
            </a:r>
            <a:endParaRPr lang="en-US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6096305" y="304495"/>
            <a:ext cx="5943600" cy="3047695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27012" b="27012"/>
          <a:stretch/>
        </p:blipFill>
        <p:spPr>
          <a:xfrm>
            <a:off x="6096305" y="3733495"/>
            <a:ext cx="5943600" cy="1524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96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523951"/>
            <a:ext cx="629655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Process Electrification Roadmap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1371600"/>
            <a:ext cx="5257800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905" y="6782105"/>
            <a:ext cx="5257800" cy="24094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09905" y="6782105"/>
            <a:ext cx="38405" cy="2409444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905" y="9342425"/>
            <a:ext cx="5257800" cy="19431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905" y="9342425"/>
            <a:ext cx="38405" cy="1943100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0100" y="6963156"/>
            <a:ext cx="1316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Equipment Plan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" y="9523476"/>
            <a:ext cx="7452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0100" y="7262165"/>
            <a:ext cx="2876702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0100" y="7733995"/>
            <a:ext cx="3124505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0100" y="8206740"/>
            <a:ext cx="3200400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0100" y="8679485"/>
            <a:ext cx="2905049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0100" y="9822485"/>
            <a:ext cx="3514954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0100" y="10295230"/>
            <a:ext cx="2971800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00100" y="10767974"/>
            <a:ext cx="3810305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14400" y="7357262"/>
            <a:ext cx="27514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× 3 MW electric boilers (steam/hot water)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7830007"/>
            <a:ext cx="29992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× 1.2 MW industrial heat pumps (COP 2.5-3.0)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8301838"/>
            <a:ext cx="30751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× electric IR/convective ovens (1.5-2 MW each)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8774582"/>
            <a:ext cx="27797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Thermal storage (4 MWhth) for load shifting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620317" y="9917582"/>
            <a:ext cx="26846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 studies, pilots, utility interconnection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620317" y="10390327"/>
            <a:ext cx="21415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 (2 boilers, 3 heat pumps)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620317" y="10863072"/>
            <a:ext cx="2980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 (remaining units, IR ovens, waste heat)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9917582"/>
            <a:ext cx="8174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CC8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2024-2025: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10390327"/>
            <a:ext cx="8174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CC8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2026-2027: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10863072"/>
            <a:ext cx="8174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CC8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2028-2030: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324905" y="1399946"/>
            <a:ext cx="518373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process heat: 400,000 MMBtu2030 target: Electrify 60% of low/medium-temp heat; pilot one high-temp line; integrate 20k MMBtu/yr recovered waste heat</a:t>
            </a:r>
            <a:endParaRPr lang="en-US" sz="13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24905" y="2278685"/>
            <a:ext cx="5257800" cy="285750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6324905" y="5288890"/>
            <a:ext cx="5257800" cy="24094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324905" y="5288890"/>
            <a:ext cx="38405" cy="2409444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6515100" y="5469026"/>
            <a:ext cx="1078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515100" y="5768950"/>
            <a:ext cx="3305556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515100" y="6240780"/>
            <a:ext cx="2523744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515100" y="6713525"/>
            <a:ext cx="4334256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515100" y="7186270"/>
            <a:ext cx="4058107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6629400" y="5864047"/>
            <a:ext cx="31802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60% reduction in natural gas consumption by 2030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6629400" y="6336792"/>
            <a:ext cx="23984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ktCO2e annual abatement by 2030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6629400" y="6808622"/>
            <a:ext cx="42089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Thermal storage enables load shifting for demand charge reduction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6629400" y="7281367"/>
            <a:ext cx="39319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 heat recovery improves overall system efficiency by 15%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9633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523951"/>
            <a:ext cx="4944161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Economics: Capex, Opex, Payback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2162556"/>
            <a:ext cx="15197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Assumptions: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572207"/>
            <a:ext cx="5532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WACC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605126" y="2572207"/>
            <a:ext cx="1562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Carbon shadow price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952598"/>
            <a:ext cx="9244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price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05126" y="2952598"/>
            <a:ext cx="8293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3333902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Gas price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46834" y="2572207"/>
            <a:ext cx="314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8%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72077" y="2572207"/>
            <a:ext cx="4864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$75/t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46834" y="2952598"/>
            <a:ext cx="790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$55/MWh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72077" y="2952598"/>
            <a:ext cx="8961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2% per year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46834" y="3333902"/>
            <a:ext cx="8485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$6/MMBtu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9905" y="4028846"/>
            <a:ext cx="12435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Initiatives: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905" y="5191049"/>
            <a:ext cx="1248156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54403" y="5191049"/>
            <a:ext cx="657454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10028" y="5191049"/>
            <a:ext cx="933602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36315" y="5191049"/>
            <a:ext cx="1047902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77817" y="5191049"/>
            <a:ext cx="847649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4721047"/>
            <a:ext cx="6364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Initiative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930298" y="4617720"/>
            <a:ext cx="49377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Capex ($M)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585923" y="4515307"/>
            <a:ext cx="588874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Annual Savings ($M)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512210" y="4617720"/>
            <a:ext cx="77998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Abatement (ktCO2e)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54626" y="4617720"/>
            <a:ext cx="62727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Payback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9905" y="5766206"/>
            <a:ext cx="1248156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54403" y="5766206"/>
            <a:ext cx="657454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10028" y="5766206"/>
            <a:ext cx="933602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36315" y="5766206"/>
            <a:ext cx="1047902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9905" y="6339535"/>
            <a:ext cx="1248156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54403" y="6339535"/>
            <a:ext cx="657454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10028" y="6339535"/>
            <a:ext cx="933602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36315" y="6339535"/>
            <a:ext cx="1047902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9905" y="6912864"/>
            <a:ext cx="1248156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854403" y="6912864"/>
            <a:ext cx="657454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10028" y="6912864"/>
            <a:ext cx="933602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436315" y="6912864"/>
            <a:ext cx="1047902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9905" y="7276795"/>
            <a:ext cx="1248156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854403" y="7276795"/>
            <a:ext cx="657454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510028" y="7276795"/>
            <a:ext cx="933602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436315" y="7276795"/>
            <a:ext cx="1047902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9905" y="7854696"/>
            <a:ext cx="1248156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854403" y="7854696"/>
            <a:ext cx="657454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510028" y="7854696"/>
            <a:ext cx="933602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436315" y="7854696"/>
            <a:ext cx="1047902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685800" y="5294376"/>
            <a:ext cx="107442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Compressed air program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930298" y="5396789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2585923" y="5396789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512210" y="5396789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3.3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5867705"/>
            <a:ext cx="86502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Logistics optimization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930298" y="5971032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2585923" y="5971032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3512210" y="5971032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85800" y="6441034"/>
            <a:ext cx="95097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VFDs &amp; motor optimization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930298" y="6544361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2585923" y="6544361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0.4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3512210" y="6544361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685800" y="7015277"/>
            <a:ext cx="9893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LED + controls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1930298" y="7015277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2585923" y="7015277"/>
            <a:ext cx="3794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0.25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3512210" y="7015277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85800" y="7382866"/>
            <a:ext cx="78912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 heat recovery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930298" y="7485278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2585923" y="7485278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0.7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3512210" y="7485278"/>
            <a:ext cx="293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477817" y="5766206"/>
            <a:ext cx="847649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477817" y="6339535"/>
            <a:ext cx="847649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4554626" y="5396789"/>
            <a:ext cx="6656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 years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4554626" y="5971032"/>
            <a:ext cx="6656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 years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477817" y="6912864"/>
            <a:ext cx="847649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477817" y="7276795"/>
            <a:ext cx="847649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477817" y="7854696"/>
            <a:ext cx="847649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4554626" y="6544361"/>
            <a:ext cx="6656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98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 years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4554626" y="7015277"/>
            <a:ext cx="6656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98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4.8 years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4554626" y="7485278"/>
            <a:ext cx="6656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98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5.7 years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609905" y="8033004"/>
            <a:ext cx="42108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VPPA (50 GWh/yr): $0 capex, $1.15M annual savings, 12.5 kt abatement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09905" y="8527694"/>
            <a:ext cx="44869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electrification: $12M capex, $1.2M annual savings, 10 kt abatement, 10y payback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609905" y="9023299"/>
            <a:ext cx="44010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Supplier program: $0 capex, ~$2M/yr opex, 25 kt abatement via engagement &amp; audits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7375550" y="3337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Initiative Economics: Capex vs. Abatement</a:t>
            </a:r>
            <a:endParaRPr lang="en-US" sz="1500" dirty="0"/>
          </a:p>
        </p:txBody>
      </p:sp>
      <p:pic>
        <p:nvPicPr>
          <p:cNvPr id="80" name="Image 0" descr="preencoded.png"/>
          <p:cNvPicPr>
            <a:picLocks noChangeAspect="1"/>
          </p:cNvPicPr>
          <p:nvPr/>
        </p:nvPicPr>
        <p:blipFill>
          <a:blip r:embed="rId3"/>
          <a:srcRect l="-30" r="-30"/>
          <a:stretch/>
        </p:blipFill>
        <p:spPr>
          <a:xfrm>
            <a:off x="6234379" y="754380"/>
            <a:ext cx="5658307" cy="8563356"/>
          </a:xfrm>
          <a:prstGeom prst="rect">
            <a:avLst/>
          </a:prstGeom>
        </p:spPr>
      </p:pic>
      <p:sp>
        <p:nvSpPr>
          <p:cNvPr id="81" name="Text 78"/>
          <p:cNvSpPr txBox="1"/>
          <p:nvPr/>
        </p:nvSpPr>
        <p:spPr>
          <a:xfrm>
            <a:off x="7626096" y="9487814"/>
            <a:ext cx="296814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Bubble size represents annual savings (USD millions)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920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523951"/>
            <a:ext cx="5106010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Incentives and Funding by Region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905" y="2133295"/>
            <a:ext cx="2790749" cy="3181198"/>
          </a:xfrm>
          <a:prstGeom prst="roundRect">
            <a:avLst>
              <a:gd name="adj" fmla="val 895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83534" y="2133295"/>
            <a:ext cx="2790749" cy="3181198"/>
          </a:xfrm>
          <a:prstGeom prst="roundRect">
            <a:avLst>
              <a:gd name="adj" fmla="val 895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905" y="5501945"/>
            <a:ext cx="2790749" cy="2162556"/>
          </a:xfrm>
          <a:prstGeom prst="roundRect">
            <a:avLst>
              <a:gd name="adj" fmla="val 149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83534" y="5501945"/>
            <a:ext cx="2790749" cy="2162556"/>
          </a:xfrm>
          <a:prstGeom prst="roundRect">
            <a:avLst>
              <a:gd name="adj" fmla="val 149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905" y="7852867"/>
            <a:ext cx="2790749" cy="2162556"/>
          </a:xfrm>
          <a:prstGeom prst="roundRect">
            <a:avLst>
              <a:gd name="adj" fmla="val 149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83534" y="7852867"/>
            <a:ext cx="2790749" cy="2162556"/>
          </a:xfrm>
          <a:prstGeom prst="roundRect">
            <a:avLst>
              <a:gd name="adj" fmla="val 149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1754" y="2609698"/>
            <a:ext cx="2467051" cy="19202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45382" y="2609698"/>
            <a:ext cx="2467051" cy="19202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1754" y="5978347"/>
            <a:ext cx="2467051" cy="19202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45382" y="5978347"/>
            <a:ext cx="2467051" cy="19202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1754" y="8329270"/>
            <a:ext cx="2467051" cy="19202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45382" y="8329270"/>
            <a:ext cx="2467051" cy="19202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1754" y="2314346"/>
            <a:ext cx="12518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United States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45382" y="2314346"/>
            <a:ext cx="1432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European Union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1754" y="5682996"/>
            <a:ext cx="1461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United Kingdom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45382" y="5682996"/>
            <a:ext cx="7571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Canada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1754" y="8033918"/>
            <a:ext cx="6428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Japan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745382" y="8033918"/>
            <a:ext cx="5468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1754" y="2722169"/>
            <a:ext cx="247893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IRA 48E Clean Electricity ITC: 30% ITC (up to 50% with energy community/domestic content adders)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1754" y="3762756"/>
            <a:ext cx="242133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Industrial Decarbonization Grants (DOE): $5M-$500M competitive grants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1754" y="4608576"/>
            <a:ext cx="210769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179D: Up to $5.00/sq ft for efficiency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745382" y="2722169"/>
            <a:ext cx="244053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Innovation Fund / CEF: Up to ~60% of CAPEX/OPEX for industrial decarb pilots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745382" y="3396996"/>
            <a:ext cx="242133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REPowerEU / National schemes: 10-55% CAPEX grants (country-specific)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745382" y="4070909"/>
            <a:ext cx="255483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ETS / CBAM readiness: Avoided carbon costs; funding via ETS revenues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71754" y="6090818"/>
            <a:ext cx="239298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Industrial Energy Transformation Fund (IETF): 30-65% CAPEX for efficiency and fuel-switch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71754" y="6959498"/>
            <a:ext cx="252648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Expensing (Capital Allowances): 100% first-year deduction on main pool capex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745382" y="6090818"/>
            <a:ext cx="240304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Technology ITC: 30% ITC for solar, wind, storage, heat pumps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745382" y="6764731"/>
            <a:ext cx="23737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SIF / NRCan Industrial: Grants/loans for industrial decarbonization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71754" y="8441741"/>
            <a:ext cx="235458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Green Growth Strategy subsidies: Up to ~50% for industrial electrification pilots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745382" y="8441741"/>
            <a:ext cx="245973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Accelerated Depreciation (RE): Up to 40% accelerated depreciation for RE assets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745382" y="9116568"/>
            <a:ext cx="229788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PLI / Industrial efficiency schemes: Targeted incentives for manufacturing upgrades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71754" y="3305556"/>
            <a:ext cx="22009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Applies to on-site solar + storage meeting prevailing wage/apprenticeship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71754" y="4151376"/>
            <a:ext cx="2533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electrification, heat pumps, waste heat recovery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71754" y="4997196"/>
            <a:ext cx="21625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 vs. designer allocation rules apply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745382" y="3110789"/>
            <a:ext cx="2400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 large-scale electrification/waste heat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745382" y="3785616"/>
            <a:ext cx="18388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E.g., Germany EEW, France ADEME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3745382" y="4459529"/>
            <a:ext cx="25438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CBAM reporting now in transition; cost exposure from 2026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71754" y="6674206"/>
            <a:ext cx="20766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Electrification and process heat eligible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71754" y="7348118"/>
            <a:ext cx="1543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NPV on equipment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3745382" y="6479438"/>
            <a:ext cx="1334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Phase-down dates apply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3745382" y="7154266"/>
            <a:ext cx="20007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electrification and efficiency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71754" y="8830361"/>
            <a:ext cx="1905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Coordinates with utility green tariffs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3745382" y="8830361"/>
            <a:ext cx="12957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Varies by state DISCOM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3745382" y="9699041"/>
            <a:ext cx="8769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Eligibility varies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09905" y="10185502"/>
            <a:ext cx="51306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Note: Confirm current eligibility, prevailing wage/domestic content, and state-aid rules prior to commitment.</a:t>
            </a:r>
            <a:endParaRPr lang="en-US" sz="900" dirty="0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rcRect l="9" r="9"/>
          <a:stretch/>
        </p:blipFill>
        <p:spPr>
          <a:xfrm>
            <a:off x="7281367" y="4209898"/>
            <a:ext cx="4610405" cy="25722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820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523951"/>
            <a:ext cx="507766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Risks and Mitigations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715207" y="1524305"/>
            <a:ext cx="47621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15207" y="2714854"/>
            <a:ext cx="47621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715207" y="3905402"/>
            <a:ext cx="47621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15207" y="5095951"/>
            <a:ext cx="47621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715207" y="6286500"/>
            <a:ext cx="47621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15207" y="1524305"/>
            <a:ext cx="9144" cy="47621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05756" y="1524305"/>
            <a:ext cx="9144" cy="47621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96305" y="1524305"/>
            <a:ext cx="9144" cy="47621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86854" y="1524305"/>
            <a:ext cx="9144" cy="47621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77402" y="1524305"/>
            <a:ext cx="9144" cy="47621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096305" y="6543446"/>
            <a:ext cx="10561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Likelihood (1-5)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22853" y="3634740"/>
            <a:ext cx="26517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 (1-5)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715207" y="6305702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905756" y="6305702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6305" y="6305702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286854" y="6305702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77402" y="6305702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19195" y="6305702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19195" y="5115154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619195" y="3924605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19195" y="2734056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19195" y="1543507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048402" y="1253642"/>
            <a:ext cx="21927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Electrification performance shortfall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512918" y="2205533"/>
            <a:ext cx="12691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PPA basis/price risk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159045" y="2205533"/>
            <a:ext cx="1974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Capex overrun and schedule slip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69380" y="3158338"/>
            <a:ext cx="17355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Long-lead equipment delays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337353" y="3158338"/>
            <a:ext cx="1621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Policy/EAC claim changes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887468" y="3158338"/>
            <a:ext cx="25173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 management &amp; operator adoption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9905" y="6439205"/>
            <a:ext cx="571500" cy="43799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79576" y="6439205"/>
            <a:ext cx="3286354" cy="43799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65015" y="6439205"/>
            <a:ext cx="1647749" cy="43799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10021" y="6439205"/>
            <a:ext cx="5477256" cy="43799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61695" y="6572707"/>
            <a:ext cx="3703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332281" y="6572707"/>
            <a:ext cx="808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616806" y="6572707"/>
            <a:ext cx="12179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Likelihood/Impact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262726" y="6572707"/>
            <a:ext cx="12847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Mitigation Strategy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9905" y="6873545"/>
            <a:ext cx="5715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79576" y="6873545"/>
            <a:ext cx="328635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465015" y="6873545"/>
            <a:ext cx="1647749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10021" y="6873545"/>
            <a:ext cx="547725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9905" y="7522769"/>
            <a:ext cx="5715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179576" y="7522769"/>
            <a:ext cx="328635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465015" y="7522769"/>
            <a:ext cx="1647749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10021" y="7522769"/>
            <a:ext cx="547725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09905" y="8172907"/>
            <a:ext cx="5715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179576" y="8172907"/>
            <a:ext cx="328635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465015" y="8172907"/>
            <a:ext cx="1647749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110021" y="8172907"/>
            <a:ext cx="547725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09905" y="8617306"/>
            <a:ext cx="5715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179576" y="8617306"/>
            <a:ext cx="328635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465015" y="8617306"/>
            <a:ext cx="1647749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10021" y="8617306"/>
            <a:ext cx="547725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09905" y="9266530"/>
            <a:ext cx="5715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179576" y="9266530"/>
            <a:ext cx="328635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465015" y="9266530"/>
            <a:ext cx="1647749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110021" y="9266530"/>
            <a:ext cx="547725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09905" y="9916668"/>
            <a:ext cx="5715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179576" y="9916668"/>
            <a:ext cx="328635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465015" y="9916668"/>
            <a:ext cx="1647749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110021" y="9916668"/>
            <a:ext cx="547725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761695" y="7016191"/>
            <a:ext cx="1984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1332281" y="7016191"/>
            <a:ext cx="230337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Electrification performance shortfall (temperature, throughput)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4616806" y="7016191"/>
            <a:ext cx="9509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Medium/High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6262726" y="7016191"/>
            <a:ext cx="496062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Pilot on one line; include fallback gas trim; thermal storage; vendor performance guarantees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761695" y="7666330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1332281" y="7666330"/>
            <a:ext cx="27797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PPA basis/price risk and counterparty credit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4616806" y="7666330"/>
            <a:ext cx="119877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Medium/Medium-High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6262726" y="7666330"/>
            <a:ext cx="45893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Hub selection analysis; add basis hedge; multi-seller RFP; credit insurance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761695" y="8315554"/>
            <a:ext cx="1984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1332281" y="8315554"/>
            <a:ext cx="20747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Capex overrun and schedule slip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4616806" y="8315554"/>
            <a:ext cx="9509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Medium/High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6262726" y="8315554"/>
            <a:ext cx="41989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EPC wrap; 15% contingency; stage-gate FEED; weekly PMO controls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761695" y="8759952"/>
            <a:ext cx="1984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1332281" y="8759952"/>
            <a:ext cx="272308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Long-lead equipment delays (transformers, switchgear)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4616806" y="8759952"/>
            <a:ext cx="9509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High/Medium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6262726" y="8759952"/>
            <a:ext cx="42940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procurement (NTP Q4); multi-source vendors; temporary rentals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761695" y="9409176"/>
            <a:ext cx="1892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1332281" y="9409176"/>
            <a:ext cx="257037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Policy/EAC claim changes (RECs quality, additionality)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4616806" y="9409176"/>
            <a:ext cx="11603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Medium/Medium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6262726" y="9409176"/>
            <a:ext cx="508497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bundled VPPA; align with market-based reporting (GHG Protocol); annual assurance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761695" y="10059314"/>
            <a:ext cx="1792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1332281" y="10059314"/>
            <a:ext cx="26563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 management &amp; operator adoption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4616806" y="10059314"/>
            <a:ext cx="11603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Medium/Medium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6262726" y="10059314"/>
            <a:ext cx="3722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 training, SOP updates, incentive plans; kaizen cycles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962802" y="1390802"/>
            <a:ext cx="267005" cy="267005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 txBox="1"/>
          <p:nvPr/>
        </p:nvSpPr>
        <p:spPr>
          <a:xfrm>
            <a:off x="6046927" y="1415491"/>
            <a:ext cx="2139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962802" y="2343607"/>
            <a:ext cx="267005" cy="267005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5962802" y="2343607"/>
            <a:ext cx="267005" cy="267005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 txBox="1"/>
          <p:nvPr/>
        </p:nvSpPr>
        <p:spPr>
          <a:xfrm>
            <a:off x="6049670" y="2368296"/>
            <a:ext cx="2039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endParaRPr 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6048756" y="2368296"/>
            <a:ext cx="2039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7153351" y="3295498"/>
            <a:ext cx="267005" cy="267005"/>
          </a:xfrm>
          <a:prstGeom prst="ellipse">
            <a:avLst/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962802" y="3295498"/>
            <a:ext cx="267005" cy="267005"/>
          </a:xfrm>
          <a:prstGeom prst="ellipse">
            <a:avLst/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962802" y="3295498"/>
            <a:ext cx="267005" cy="267005"/>
          </a:xfrm>
          <a:prstGeom prst="ellipse">
            <a:avLst/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 txBox="1"/>
          <p:nvPr/>
        </p:nvSpPr>
        <p:spPr>
          <a:xfrm>
            <a:off x="7239305" y="3320186"/>
            <a:ext cx="2039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100" dirty="0"/>
          </a:p>
        </p:txBody>
      </p:sp>
      <p:sp>
        <p:nvSpPr>
          <p:cNvPr id="98" name="Text 96"/>
          <p:cNvSpPr txBox="1"/>
          <p:nvPr/>
        </p:nvSpPr>
        <p:spPr>
          <a:xfrm>
            <a:off x="6055157" y="3320186"/>
            <a:ext cx="194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endParaRPr lang="en-US" sz="1100" dirty="0"/>
          </a:p>
        </p:txBody>
      </p:sp>
      <p:sp>
        <p:nvSpPr>
          <p:cNvPr id="99" name="Text 97"/>
          <p:cNvSpPr txBox="1"/>
          <p:nvPr/>
        </p:nvSpPr>
        <p:spPr>
          <a:xfrm>
            <a:off x="6056071" y="3320186"/>
            <a:ext cx="194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815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371246"/>
            <a:ext cx="5572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Governance and KPI Dashboard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228954"/>
            <a:ext cx="1752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 Model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4442155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Performance Indicators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571854"/>
            <a:ext cx="323331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Committee: CEO (chair), CFO, COO, VP Sustainability, VP Supply Chain — meets monthly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052828"/>
            <a:ext cx="374721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 Management Office: Head of Decarbonization + site PMs — weekly cadence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2534717"/>
            <a:ext cx="10040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Workstreams: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737714"/>
            <a:ext cx="81381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Efficiency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939796"/>
            <a:ext cx="149047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Energy procurement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142793"/>
            <a:ext cx="10808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Electrification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345790"/>
            <a:ext cx="12993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Supplier/Scope 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548786"/>
            <a:ext cx="12426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Data &amp; reporting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827678"/>
            <a:ext cx="344271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Assurance: Annual third-party verification (limited to reasonable by 2028)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09905" y="4794199"/>
            <a:ext cx="221376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emissions (ktCO₂e, Scopes 1-3)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9905" y="5266944"/>
            <a:ext cx="180411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Scopes 1+2 market-based (ktCO₂e)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9905" y="5739689"/>
            <a:ext cx="21287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Renewable electricity share (%)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9905" y="5994806"/>
            <a:ext cx="204277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intensity (kWh per unit output)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6466637"/>
            <a:ext cx="220461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Supplier coverage (% spend with SBTi targets)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6939382"/>
            <a:ext cx="21570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schedule adherence (%)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903220" y="4794199"/>
            <a:ext cx="35661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82950" y="4794199"/>
            <a:ext cx="35661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144061" y="4794199"/>
            <a:ext cx="1947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43454" y="5266944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523183" y="5266944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144061" y="5266944"/>
            <a:ext cx="1947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943454" y="5739689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523183" y="5739689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062679" y="5739689"/>
            <a:ext cx="35661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943454" y="5994806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523183" y="5994806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144061" y="5994806"/>
            <a:ext cx="1947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943454" y="6466637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523183" y="6466637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102913" y="6466637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004718" y="6939382"/>
            <a:ext cx="1563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523183" y="6939382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102913" y="6939382"/>
            <a:ext cx="2807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2751430" y="7232904"/>
            <a:ext cx="6611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441802" y="7232904"/>
            <a:ext cx="4425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2025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021531" y="7232904"/>
            <a:ext cx="4425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2030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79569" y="1009498"/>
            <a:ext cx="3333902" cy="3105302"/>
          </a:xfrm>
          <a:prstGeom prst="roundRect">
            <a:avLst>
              <a:gd name="adj" fmla="val 723"/>
            </a:avLst>
          </a:prstGeom>
          <a:solidFill>
            <a:srgbClr val="F8F9FA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257032" y="1009498"/>
            <a:ext cx="3333902" cy="3105302"/>
          </a:xfrm>
          <a:prstGeom prst="roundRect">
            <a:avLst>
              <a:gd name="adj" fmla="val 723"/>
            </a:avLst>
          </a:prstGeom>
          <a:solidFill>
            <a:srgbClr val="F8F9FA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79569" y="4262018"/>
            <a:ext cx="6810451" cy="3105302"/>
          </a:xfrm>
          <a:prstGeom prst="roundRect">
            <a:avLst>
              <a:gd name="adj" fmla="val 723"/>
            </a:avLst>
          </a:prstGeom>
          <a:solidFill>
            <a:srgbClr val="F8F9FA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4931359" y="1190549"/>
            <a:ext cx="26215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Scopes 1-3 Emissions (quarterly)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8409737" y="1190549"/>
            <a:ext cx="18973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% Renewable Electricity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931359" y="4443070"/>
            <a:ext cx="31363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Abatement Burn-up (cumulative ktCO₂e)</a:t>
            </a:r>
            <a:endParaRPr lang="en-US" sz="130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rcRect t="-25" b="-25"/>
          <a:stretch/>
        </p:blipFill>
        <p:spPr>
          <a:xfrm>
            <a:off x="4931359" y="1452067"/>
            <a:ext cx="3029407" cy="2514600"/>
          </a:xfrm>
          <a:prstGeom prst="rect">
            <a:avLst/>
          </a:prstGeom>
        </p:spPr>
      </p:pic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62618" y="1683410"/>
            <a:ext cx="1714500" cy="1714500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9630461" y="2884018"/>
            <a:ext cx="7242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68</a:t>
            </a:r>
            <a:endParaRPr lang="en-US" sz="3000" dirty="0"/>
          </a:p>
        </p:txBody>
      </p:sp>
      <p:sp>
        <p:nvSpPr>
          <p:cNvPr id="51" name="Text 47"/>
          <p:cNvSpPr txBox="1"/>
          <p:nvPr/>
        </p:nvSpPr>
        <p:spPr>
          <a:xfrm>
            <a:off x="10067544" y="3055010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%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9378086" y="3503066"/>
            <a:ext cx="12115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Status</a:t>
            </a:r>
            <a:endParaRPr lang="en-US" sz="1300" dirty="0"/>
          </a:p>
        </p:txBody>
      </p:sp>
      <p:pic>
        <p:nvPicPr>
          <p:cNvPr id="53" name="Image 2" descr="preencoded.png"/>
          <p:cNvPicPr>
            <a:picLocks noChangeAspect="1"/>
          </p:cNvPicPr>
          <p:nvPr/>
        </p:nvPicPr>
        <p:blipFill>
          <a:blip r:embed="rId5"/>
          <a:srcRect t="-114" b="-114"/>
          <a:stretch/>
        </p:blipFill>
        <p:spPr>
          <a:xfrm>
            <a:off x="4931359" y="4704588"/>
            <a:ext cx="6505956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371246"/>
            <a:ext cx="6057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A2D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6-Quarter Execution Plan (Q1–Q6)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037844"/>
            <a:ext cx="2535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frame: Q1 2024 – Q2 2026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609905" y="1603858"/>
            <a:ext cx="10972800" cy="30952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63370" y="4879238"/>
            <a:ext cx="152705" cy="152705"/>
          </a:xfrm>
          <a:prstGeom prst="roundRect">
            <a:avLst>
              <a:gd name="adj" fmla="val 112275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582619" y="4879238"/>
            <a:ext cx="152705" cy="152705"/>
          </a:xfrm>
          <a:prstGeom prst="roundRect">
            <a:avLst>
              <a:gd name="adj" fmla="val 112275"/>
            </a:avLst>
          </a:prstGeom>
          <a:solidFill>
            <a:srgbClr val="9E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34786" y="4879238"/>
            <a:ext cx="152705" cy="152705"/>
          </a:xfrm>
          <a:prstGeom prst="roundRect">
            <a:avLst>
              <a:gd name="adj" fmla="val 112275"/>
            </a:avLst>
          </a:prstGeom>
          <a:solidFill>
            <a:srgbClr val="8BC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16952" y="4879238"/>
            <a:ext cx="152705" cy="152705"/>
          </a:xfrm>
          <a:prstGeom prst="roundRect">
            <a:avLst>
              <a:gd name="adj" fmla="val 112275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447581" y="4879238"/>
            <a:ext cx="152705" cy="152705"/>
          </a:xfrm>
          <a:prstGeom prst="roundRect">
            <a:avLst>
              <a:gd name="adj" fmla="val 112275"/>
            </a:avLst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165299" y="5324551"/>
            <a:ext cx="152705" cy="152705"/>
          </a:xfrm>
          <a:prstGeom prst="roundRect">
            <a:avLst>
              <a:gd name="adj" fmla="val 112275"/>
            </a:avLst>
          </a:prstGeom>
          <a:solidFill>
            <a:srgbClr val="03A9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981298" y="5324551"/>
            <a:ext cx="152705" cy="152705"/>
          </a:xfrm>
          <a:prstGeom prst="roundRect">
            <a:avLst>
              <a:gd name="adj" fmla="val 112275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73852" y="5324551"/>
            <a:ext cx="152705" cy="152705"/>
          </a:xfrm>
          <a:prstGeom prst="roundRect">
            <a:avLst>
              <a:gd name="adj" fmla="val 112275"/>
            </a:avLst>
          </a:prstGeom>
          <a:solidFill>
            <a:srgbClr val="0096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096658" y="5324551"/>
            <a:ext cx="152705" cy="152705"/>
          </a:xfrm>
          <a:prstGeom prst="roundRect">
            <a:avLst>
              <a:gd name="adj" fmla="val 112275"/>
            </a:avLst>
          </a:prstGeom>
          <a:solidFill>
            <a:srgbClr val="3F51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591970" y="4871009"/>
            <a:ext cx="18754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 setup &amp; governance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811219" y="4871009"/>
            <a:ext cx="19037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Data, baselining &amp; SBTi target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063386" y="4871009"/>
            <a:ext cx="1436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Efficiency (waves 1-3)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845552" y="4871009"/>
            <a:ext cx="14840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On-site solar + storage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676181" y="4871009"/>
            <a:ext cx="1265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VPPA procurement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2393899" y="5317236"/>
            <a:ext cx="14657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electrification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209898" y="5317236"/>
            <a:ext cx="13414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 heat recovery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902452" y="5317236"/>
            <a:ext cx="10744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Fleet &amp; logistics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325258" y="5317236"/>
            <a:ext cx="13990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Supplier engagement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847734" y="5324551"/>
            <a:ext cx="152705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076334" y="5305349"/>
            <a:ext cx="1067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Milestone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09905" y="5848502"/>
            <a:ext cx="15169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Dependencies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" y="6157570"/>
            <a:ext cx="27285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Utility interconnection approvals precede electrification installs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59198" y="6157570"/>
            <a:ext cx="27660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VPPA execution precedes 100% RE target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318297" y="6157570"/>
            <a:ext cx="337596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Supplier code and data templates precede Scope 3 reductions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E3C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4080053" y="276149"/>
            <a:ext cx="44394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CALL TO ACTION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333195" y="1196035"/>
            <a:ext cx="1419149" cy="409651"/>
          </a:xfrm>
          <a:prstGeom prst="roundRect">
            <a:avLst>
              <a:gd name="adj" fmla="val 20764"/>
            </a:avLst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33195" y="1828800"/>
            <a:ext cx="1419149" cy="409651"/>
          </a:xfrm>
          <a:prstGeom prst="roundRect">
            <a:avLst>
              <a:gd name="adj" fmla="val 20764"/>
            </a:avLst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333195" y="2461565"/>
            <a:ext cx="1419149" cy="409651"/>
          </a:xfrm>
          <a:prstGeom prst="roundRect">
            <a:avLst>
              <a:gd name="adj" fmla="val 20764"/>
            </a:avLst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333195" y="3093415"/>
            <a:ext cx="1333195" cy="409651"/>
          </a:xfrm>
          <a:prstGeom prst="roundRect">
            <a:avLst>
              <a:gd name="adj" fmla="val 20764"/>
            </a:avLst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485900" y="1301191"/>
            <a:ext cx="1240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Within 30 days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485900" y="1933956"/>
            <a:ext cx="1240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Within 60 days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85900" y="2565806"/>
            <a:ext cx="1240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Within 90 days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548994" y="3198571"/>
            <a:ext cx="1031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year-end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975458" y="1253642"/>
            <a:ext cx="71195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Finalize governance charter, approve VPPA RFP, kick off leak survey and lighting audits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975458" y="1886407"/>
            <a:ext cx="6757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Shortlist VPPA bids; complete electrification FEED; secure utility IA queue position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975458" y="2518258"/>
            <a:ext cx="73289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Board go/no-go on VPPA; lock incentives (ITC/grants); wave-1 efficiency works mobilized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895905" y="3151022"/>
            <a:ext cx="70719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VPPA; NTP for on-site solar; supplier code of conduct issued; risk register live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333195" y="4031590"/>
            <a:ext cx="9525305" cy="19202"/>
          </a:xfrm>
          <a:prstGeom prst="rect">
            <a:avLst/>
          </a:prstGeom>
          <a:solidFill>
            <a:srgbClr val="3C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640434" y="4230929"/>
            <a:ext cx="90754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Outcome: Scopes 1+2 net-zero by 2027; 90 kt abatement by 2030; 60 kt neutralized via durable removals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1606</Words>
  <Application>Microsoft Office PowerPoint</Application>
  <PresentationFormat>Widescreen</PresentationFormat>
  <Paragraphs>291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Roboto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Md Haque</cp:lastModifiedBy>
  <cp:revision>1</cp:revision>
  <dcterms:created xsi:type="dcterms:W3CDTF">2025-11-11T15:24:06Z</dcterms:created>
  <dcterms:modified xsi:type="dcterms:W3CDTF">2025-11-11T15:24:49Z</dcterms:modified>
</cp:coreProperties>
</file>