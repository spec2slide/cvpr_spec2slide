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5F5F5"/>
          </a:solidFill>
        </p:spPr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Semiconductor Supply Chain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950976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000000"/>
                </a:solidFill>
              </a:defRPr>
            </a:pPr>
            <a:r>
              <a:t>Stages:</a:t>
            </a:r>
            <a:br/>
            <a:r>
              <a:t>Stage: Design/IP</a:t>
            </a:r>
            <a:br/>
            <a:r>
              <a:t>Players: IDMs, fabless, EDA, IP vendors</a:t>
            </a:r>
            <a:br/>
            <a:br/>
            <a:r>
              <a:t>Stage: Wafer Fabrication</a:t>
            </a:r>
            <a:br/>
            <a:r>
              <a:t>Players: Foundries (TSMC, Samsung, UMC, GF, SMIC), IDMs</a:t>
            </a:r>
            <a:br/>
            <a:br/>
            <a:r>
              <a:t>Stage: Assembly/Test (OSAT)</a:t>
            </a:r>
            <a:br/>
            <a:r>
              <a:t>Players: ASE, Amkor, JCET, SPIL; significant SEA footprint</a:t>
            </a:r>
            <a:br/>
            <a:br/>
            <a:r>
              <a:t>Stage: Distribution</a:t>
            </a:r>
            <a:br/>
            <a:r>
              <a:t>Players: Avnet, Arrow; franchised/independent channels</a:t>
            </a:r>
            <a:br/>
            <a:br/>
            <a:r>
              <a:t>Stage: OEM/EMS</a:t>
            </a:r>
            <a:br/>
            <a:r>
              <a:t>Players: Automotive, Consumer, Industrial, Telecom; EMS integrators</a:t>
            </a: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9144000" y="1828800"/>
            <a:ext cx="5029200" cy="3657600"/>
          </a:xfrm>
          <a:prstGeom prst="rect">
            <a:avLst/>
          </a:prstGeom>
          <a:solidFill>
            <a:srgbClr val="FFF2CC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993300"/>
                </a:solidFill>
              </a:defRPr>
            </a:pPr>
            <a:r>
              <a:t>Mature-node fab capacity (8-inch, 200mm tools)</a:t>
            </a:r>
          </a:p>
          <a:p>
            <a:pPr>
              <a:defRPr sz="1400">
                <a:solidFill>
                  <a:srgbClr val="993300"/>
                </a:solidFill>
              </a:defRPr>
            </a:pPr>
            <a:r>
              <a:t>OSAT throughput and labor availability</a:t>
            </a:r>
          </a:p>
          <a:p>
            <a:pPr>
              <a:defRPr sz="1400">
                <a:solidFill>
                  <a:srgbClr val="993300"/>
                </a:solidFill>
              </a:defRPr>
            </a:pPr>
            <a:r>
              <a:t>Long equipment/tool lead times (litho, test handlers)</a:t>
            </a:r>
          </a:p>
          <a:p>
            <a:pPr>
              <a:defRPr sz="1400">
                <a:solidFill>
                  <a:srgbClr val="993300"/>
                </a:solidFill>
              </a:defRPr>
            </a:pPr>
            <a:r>
              <a:t>Qualification cycles for alternates (safety-critical domains)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50292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