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FF"/>
          </a:solidFill>
        </p:spPr>
        <p:txBody>
          <a:bodyPr/>
          <a:lstStyle/>
          <a:p>
            <a:pPr>
              <a:defRPr sz="4400">
                <a:solidFill>
                  <a:srgbClr val="003366"/>
                </a:solidFill>
              </a:defRPr>
            </a:pPr>
            <a:r>
              <a:t>Timeline: Shock, Squeeze, Response,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2926080" cy="457200"/>
          </a:xfrm>
          <a:prstGeom prst="rect">
            <a:avLst/>
          </a:prstGeom>
          <a:solidFill>
            <a:srgbClr val="FF6347"/>
          </a:solidFill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FFFFFF"/>
                </a:solidFill>
              </a:defRPr>
            </a:pPr>
            <a:r>
              <a:t>2020 H1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2926080" cy="4572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000000"/>
                </a:solidFill>
              </a:defRPr>
            </a:pPr>
            <a:r>
              <a:t>Shock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2926080" cy="9144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000000"/>
                </a:solidFill>
              </a:defRPr>
            </a:pPr>
            <a:r>
              <a:t>Auto demand collapse, order cancellations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Early fab/OSAT disruptions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828800"/>
            <a:ext cx="2926080" cy="457200"/>
          </a:xfrm>
          <a:prstGeom prst="rect">
            <a:avLst/>
          </a:prstGeom>
          <a:solidFill>
            <a:srgbClr val="FFA500"/>
          </a:solidFill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FFFFFF"/>
                </a:solidFill>
              </a:defRPr>
            </a:pPr>
            <a:r>
              <a:t>2020 H2 – 2021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286000"/>
            <a:ext cx="2926080" cy="4572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000000"/>
                </a:solidFill>
              </a:defRPr>
            </a:pPr>
            <a:r>
              <a:t>Squeeze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743200"/>
            <a:ext cx="2926080" cy="9144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000000"/>
                </a:solidFill>
              </a:defRPr>
            </a:pPr>
            <a:r>
              <a:t>Rebound + WFH surge; double-booking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Weather/fire/lockdowns amplify shortages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828800"/>
            <a:ext cx="2926080" cy="457200"/>
          </a:xfrm>
          <a:prstGeom prst="rect">
            <a:avLst/>
          </a:prstGeom>
          <a:solidFill>
            <a:srgbClr val="32CD32"/>
          </a:solidFill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FFFFFF"/>
                </a:solidFill>
              </a:defRPr>
            </a:pPr>
            <a:r>
              <a:t>2022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286000"/>
            <a:ext cx="2926080" cy="4572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000000"/>
                </a:solidFill>
              </a:defRPr>
            </a:pPr>
            <a:r>
              <a:t>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743200"/>
            <a:ext cx="2926080" cy="9144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000000"/>
                </a:solidFill>
              </a:defRPr>
            </a:pPr>
            <a:r>
              <a:t>Capacity announcements; policy incentives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Peak lead times at mature nodes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1828800"/>
            <a:ext cx="2926080" cy="457200"/>
          </a:xfrm>
          <a:prstGeom prst="rect">
            <a:avLst/>
          </a:prstGeom>
          <a:solidFill>
            <a:srgbClr val="00BFFF"/>
          </a:solidFill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FFFFFF"/>
                </a:solidFill>
              </a:defRPr>
            </a:pPr>
            <a:r>
              <a:t>2023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2286000"/>
            <a:ext cx="2926080" cy="4572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000000"/>
                </a:solidFill>
              </a:defRPr>
            </a:pPr>
            <a:r>
              <a:t>Recovery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743200"/>
            <a:ext cx="2926080" cy="9144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000000"/>
                </a:solidFill>
              </a:defRPr>
            </a:pPr>
            <a:r>
              <a:t>Lead times normalize unevenly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Memory cycles down; auto still tight early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72000"/>
            <a:ext cx="13716000" cy="18288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600">
                <a:solidFill>
                  <a:srgbClr val="00008B"/>
                </a:solidFill>
              </a:defRPr>
            </a:pPr>
            <a:r>
              <a:t>Embed resilience: AAPL, LTAs, dual-source plans during ‘Response’</a:t>
            </a:r>
          </a:p>
          <a:p>
            <a:pPr>
              <a:defRPr sz="1600">
                <a:solidFill>
                  <a:srgbClr val="00008B"/>
                </a:solidFill>
              </a:defRPr>
            </a:pPr>
            <a:r>
              <a:t>Revisit risk heatmap quarterly during ‘Recovery’</a:t>
            </a:r>
          </a:p>
        </p:txBody>
      </p:sp>
      <p:pic>
        <p:nvPicPr>
          <p:cNvPr id="16" name="Picture 15" descr="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