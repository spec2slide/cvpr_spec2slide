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2800">
                <a:solidFill>
                  <a:srgbClr val="003366"/>
                </a:solidFill>
              </a:defRPr>
            </a:pPr>
            <a:r>
              <a:t>1. Root Causes</a:t>
            </a:r>
          </a:p>
          <a:p>
            <a:pPr>
              <a:defRPr sz="2800">
                <a:solidFill>
                  <a:srgbClr val="003366"/>
                </a:solidFill>
              </a:defRPr>
            </a:pPr>
            <a:r>
              <a:t>2. Supply Chain Anatomy + Fab Capacity Map</a:t>
            </a:r>
          </a:p>
          <a:p>
            <a:pPr>
              <a:defRPr sz="2800">
                <a:solidFill>
                  <a:srgbClr val="003366"/>
                </a:solidFill>
              </a:defRPr>
            </a:pPr>
            <a:r>
              <a:t>3. Lead-Time Trend (2020–2023)</a:t>
            </a:r>
          </a:p>
          <a:p>
            <a:pPr>
              <a:defRPr sz="2800">
                <a:solidFill>
                  <a:srgbClr val="003366"/>
                </a:solidFill>
              </a:defRPr>
            </a:pPr>
            <a:r>
              <a:t>4. Impacted Sectors</a:t>
            </a:r>
          </a:p>
          <a:p>
            <a:pPr>
              <a:defRPr sz="2800">
                <a:solidFill>
                  <a:srgbClr val="003366"/>
                </a:solidFill>
              </a:defRPr>
            </a:pPr>
            <a:r>
              <a:t>5. Mitigation Levers</a:t>
            </a:r>
          </a:p>
          <a:p>
            <a:pPr>
              <a:defRPr sz="2800">
                <a:solidFill>
                  <a:srgbClr val="003366"/>
                </a:solidFill>
              </a:defRPr>
            </a:pPr>
            <a:r>
              <a:t>6. Policy Incentives (CHIPS Acts)</a:t>
            </a:r>
          </a:p>
          <a:p>
            <a:pPr>
              <a:defRPr sz="2800">
                <a:solidFill>
                  <a:srgbClr val="003366"/>
                </a:solidFill>
              </a:defRPr>
            </a:pPr>
            <a:r>
              <a:t>7. Risk Heatmap</a:t>
            </a:r>
          </a:p>
          <a:p>
            <a:pPr>
              <a:defRPr sz="2800">
                <a:solidFill>
                  <a:srgbClr val="003366"/>
                </a:solidFill>
              </a:defRPr>
            </a:pPr>
            <a:r>
              <a:t>8. Resilience Playbook</a:t>
            </a:r>
          </a:p>
          <a:p>
            <a:pPr>
              <a:defRPr sz="2800">
                <a:solidFill>
                  <a:srgbClr val="003366"/>
                </a:solidFill>
              </a:defRPr>
            </a:pPr>
            <a:r>
              <a:t>9. Recovery Timeline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