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E1E1E"/>
          </a:solidFill>
        </p:spPr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Exemplar Policies (Human-Readable)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4114800"/>
          </a:xfrm>
          <a:prstGeom prst="rect">
            <a:avLst/>
          </a:prstGeom>
          <a:solidFill>
            <a:srgbClr val="323232"/>
          </a:solidFill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User-to-App Access:</a:t>
            </a:r>
            <a:br/>
            <a:r>
              <a:t>Rule: Permit Finance-App if user in Finance AND device managed+compliant AND risk &lt; High; else step-up with phishing-resistant MFA; else deny.</a:t>
            </a:r>
            <a:br/>
            <a:r>
              <a:t>Enforcement Point: IdP + ZTNA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6858000" cy="4114800"/>
          </a:xfrm>
          <a:prstGeom prst="rect">
            <a:avLst/>
          </a:prstGeom>
          <a:solidFill>
            <a:srgbClr val="323232"/>
          </a:solidFill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Privileged Access:</a:t>
            </a:r>
            <a:br/>
            <a:r>
              <a:t>Rule: Admins require JIT elevation (2h) with ticket ID; hardware key + re-auth; full session logging.</a:t>
            </a:r>
            <a:br/>
            <a:r>
              <a:t>Enforcement Point: PAM + IdP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6858000" cy="4114800"/>
          </a:xfrm>
          <a:prstGeom prst="rect">
            <a:avLst/>
          </a:prstGeom>
          <a:solidFill>
            <a:srgbClr val="323232"/>
          </a:solidFill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Device Posture Gate:</a:t>
            </a:r>
            <a:br/>
            <a:r>
              <a:t>Rule: Block if OS patch age &gt; 14 days OR encryption off OR EDR inactive; allow ‘limited mode’ to remediation portal.</a:t>
            </a:r>
            <a:br/>
            <a:r>
              <a:t>Enforcement Point: UEM/MDM + ZTNA/NAC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6858000" cy="4114800"/>
          </a:xfrm>
          <a:prstGeom prst="rect">
            <a:avLst/>
          </a:prstGeom>
          <a:solidFill>
            <a:srgbClr val="323232"/>
          </a:solidFill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Microsegmentation:</a:t>
            </a:r>
            <a:br/>
            <a:r>
              <a:t>Rule: Deny east-west between Dev and Prod; allow only via API gateway with service identity and mTLS.</a:t>
            </a:r>
            <a:br/>
            <a:r>
              <a:t>Enforcement Point: SDN/Firewall + API Gateway/Service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6858000" cy="4114800"/>
          </a:xfrm>
          <a:prstGeom prst="rect">
            <a:avLst/>
          </a:prstGeom>
          <a:solidFill>
            <a:srgbClr val="323232"/>
          </a:solidFill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Data Exfiltration:</a:t>
            </a:r>
            <a:br/>
            <a:r>
              <a:t>Rule: If label=Restricted, prevent external sharing; require encryption; block uploads to unsanctioned domains.</a:t>
            </a:r>
            <a:br/>
            <a:r>
              <a:t>Enforcement Point: CASB/SWG + SaaS DLP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0"/>
            <a:ext cx="6858000" cy="4114800"/>
          </a:xfrm>
          <a:prstGeom prst="rect">
            <a:avLst/>
          </a:prstGeom>
          <a:solidFill>
            <a:srgbClr val="323232"/>
          </a:solidFill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Third-Party Access:</a:t>
            </a:r>
            <a:br/>
            <a:r>
              <a:t>Rule: Contractors allowed only to assigned apps from approved countries on managed or attested devices; no Tier-0.</a:t>
            </a:r>
            <a:br/>
            <a:r>
              <a:t>Enforcement Point: IdP + ZTNA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480560"/>
            <a:ext cx="6858000" cy="4114800"/>
          </a:xfrm>
          <a:prstGeom prst="rect">
            <a:avLst/>
          </a:prstGeom>
          <a:solidFill>
            <a:srgbClr val="323232"/>
          </a:solidFill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Break-Glass:</a:t>
            </a:r>
            <a:br/>
            <a:r>
              <a:t>Rule: Two offline accounts with hardware tokens; notify security on use; auto-expire privileges in 8h.</a:t>
            </a:r>
            <a:br/>
            <a:r>
              <a:t>Enforcement Point: PAM/IdP with alerting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589520"/>
            <a:ext cx="13716000" cy="914400"/>
          </a:xfrm>
          <a:prstGeom prst="rect">
            <a:avLst/>
          </a:prstGeom>
          <a:solidFill>
            <a:srgbClr val="1E1E1E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C8C8C8"/>
                </a:solidFill>
              </a:defRPr>
            </a:pPr>
            <a:r>
              <a:t>Notes: Express as policy-as-code (e.g., OPA/Rego or XACML), version in Git, test in CI, and simulate before enforcement.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