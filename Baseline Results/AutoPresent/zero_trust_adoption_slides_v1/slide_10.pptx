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5F5F5"/>
          </a:solidFill>
        </p:spPr>
        <p:txBody>
          <a:bodyPr/>
          <a:lstStyle/>
          <a:p>
            <a:pPr>
              <a:defRPr sz="4400">
                <a:solidFill>
                  <a:srgbClr val="0066CC"/>
                </a:solidFill>
              </a:defRPr>
            </a:pPr>
            <a:r>
              <a:t>Case Study: Global Manufacturer (40k employees)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6400800" cy="13716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normAutofit/>
          </a:bodyPr>
          <a:lstStyle/>
          <a:p/>
          <a:p>
            <a:pPr>
              <a:defRPr sz="2000">
                <a:solidFill>
                  <a:srgbClr val="000000"/>
                </a:solidFill>
              </a:defRPr>
            </a:pPr>
            <a:r>
              <a:t>Baseline: Broad VPN access; legacy auth; limited MFA coverage.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Flat east-west in datacenter; minimal device compliance gating.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6400800" cy="18288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normAutofit/>
          </a:bodyPr>
          <a:lstStyle/>
          <a:p/>
          <a:p>
            <a:pPr>
              <a:defRPr sz="2000">
                <a:solidFill>
                  <a:srgbClr val="000000"/>
                </a:solidFill>
              </a:defRPr>
            </a:pPr>
            <a:r>
              <a:t>90d: MFA for all; SSO for top apps; ZTNA pilot; device inventory.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180d: ZTNA 60 apps; microsegment Tier-0; email/web DLP; JIT for admins.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365d: 90% apps behind PEPs; retire most VPN; service mTLS; automated remediation.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6400800" cy="22860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normAutofit/>
          </a:bodyPr>
          <a:lstStyle/>
          <a:p/>
          <a:p>
            <a:pPr>
              <a:defRPr sz="2000">
                <a:solidFill>
                  <a:srgbClr val="000000"/>
                </a:solidFill>
              </a:defRPr>
            </a:pPr>
            <a:r>
              <a:t>MFA adoption 99% (from 62%).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Inbound exposure reduced 85% (apps no longer internet-exposed).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Privileged access via JIT 96% of sessions; zero standing admin.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Mean policy eval p95 180 ms; 90% devices compliant (from 54%).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Security incidents with lateral movement down 70%.</a:t>
            </a:r>
          </a:p>
        </p:txBody>
      </p:sp>
      <p:pic>
        <p:nvPicPr>
          <p:cNvPr id="6" name="Picture 5" descr="befo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3200400" cy="2743200"/>
          </a:xfrm>
          <a:prstGeom prst="rect">
            <a:avLst/>
          </a:prstGeom>
        </p:spPr>
      </p:pic>
      <p:pic>
        <p:nvPicPr>
          <p:cNvPr id="7" name="Picture 6" descr="after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1371600"/>
            <a:ext cx="32004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