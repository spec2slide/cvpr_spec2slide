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3.jpg"/><Relationship Id="rId5" Type="http://schemas.openxmlformats.org/officeDocument/2006/relationships/image" Target="../media/image4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rgbClr val="FFFFFF"/>
          </a:solidFill>
        </p:spPr>
        <p:txBody>
          <a:bodyPr/>
          <a:lstStyle/>
          <a:p>
            <a:pPr>
              <a:defRPr sz="4000">
                <a:solidFill>
                  <a:srgbClr val="000000"/>
                </a:solidFill>
              </a:defRPr>
            </a:pPr>
            <a:r>
              <a:t>Key Figures &amp; Quotes</a:t>
            </a:r>
          </a:p>
        </p:txBody>
      </p:sp>
      <p:pic>
        <p:nvPicPr>
          <p:cNvPr id="3" name="Picture 2" descr="John F. Kenned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3200400" cy="32004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840480" y="1371600"/>
            <a:ext cx="6217920" cy="16002000"/>
          </a:xfrm>
          <a:prstGeom prst="rect">
            <a:avLst/>
          </a:prstGeom>
          <a:solidFill>
            <a:srgbClr val="FFFFFF"/>
          </a:solidFill>
        </p:spPr>
        <p:txBody>
          <a:bodyPr wrap="square">
            <a:spAutoFit/>
          </a:bodyPr>
          <a:lstStyle/>
          <a:p/>
          <a:p>
            <a:pPr>
              <a:defRPr sz="1400" b="0">
                <a:solidFill>
                  <a:srgbClr val="000000"/>
                </a:solidFill>
              </a:defRPr>
            </a:pPr>
            <a:r>
              <a:t>John F. Kennedy</a:t>
            </a:r>
            <a:br/>
            <a:br/>
            <a:r>
              <a:t>Set the Moon landing goal (1961 Rice speech). Catalyzed Apollo funding, schedule, and national focus.</a:t>
            </a:r>
            <a:br/>
            <a:br/>
            <a:r>
              <a:t>Quote: We choose to go to the Moon in this decade and do the other things, not because they are easy, but because they are hard.</a:t>
            </a:r>
          </a:p>
        </p:txBody>
      </p:sp>
      <p:pic>
        <p:nvPicPr>
          <p:cNvPr id="5" name="Picture 4" descr="Neil Armstro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0" y="1371600"/>
            <a:ext cx="3200400" cy="3200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070080" y="1371600"/>
            <a:ext cx="6217920" cy="16002000"/>
          </a:xfrm>
          <a:prstGeom prst="rect">
            <a:avLst/>
          </a:prstGeom>
          <a:solidFill>
            <a:srgbClr val="FFFFFF"/>
          </a:solidFill>
        </p:spPr>
        <p:txBody>
          <a:bodyPr wrap="square">
            <a:spAutoFit/>
          </a:bodyPr>
          <a:lstStyle/>
          <a:p/>
          <a:p>
            <a:pPr>
              <a:defRPr sz="1400" b="0">
                <a:solidFill>
                  <a:srgbClr val="000000"/>
                </a:solidFill>
              </a:defRPr>
            </a:pPr>
            <a:r>
              <a:t>Neil Armstrong</a:t>
            </a:r>
            <a:br/>
            <a:br/>
            <a:r>
              <a:t>Commander, Apollo 11; first human on the Moon. Test pilot; Gemini and Apollo astronaut.</a:t>
            </a:r>
            <a:br/>
            <a:br/>
            <a:r>
              <a:t>Quote: That’s one small step for [a] man, one giant leap for mankind.</a:t>
            </a:r>
          </a:p>
        </p:txBody>
      </p:sp>
      <p:pic>
        <p:nvPicPr>
          <p:cNvPr id="7" name="Picture 6" descr="Bill Ander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5029200"/>
            <a:ext cx="3200400" cy="32004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840480" y="5029200"/>
            <a:ext cx="6217920" cy="16002000"/>
          </a:xfrm>
          <a:prstGeom prst="rect">
            <a:avLst/>
          </a:prstGeom>
          <a:solidFill>
            <a:srgbClr val="FFFFFF"/>
          </a:solidFill>
        </p:spPr>
        <p:txBody>
          <a:bodyPr wrap="square">
            <a:spAutoFit/>
          </a:bodyPr>
          <a:lstStyle/>
          <a:p/>
          <a:p>
            <a:pPr>
              <a:defRPr sz="1400" b="0">
                <a:solidFill>
                  <a:srgbClr val="000000"/>
                </a:solidFill>
              </a:defRPr>
            </a:pPr>
            <a:r>
              <a:t>Bill Anders</a:t>
            </a:r>
            <a:br/>
            <a:br/>
            <a:r>
              <a:t>Apollo 8 astronaut; captured the iconic Earthrise photo. Helped shift public perspective to a fragile Earth.</a:t>
            </a:r>
            <a:br/>
            <a:br/>
            <a:r>
              <a:t>Quote: We came all this way to explore the Moon, and the most important thing is that we discovered the Earth.</a:t>
            </a:r>
          </a:p>
        </p:txBody>
      </p:sp>
      <p:pic>
        <p:nvPicPr>
          <p:cNvPr id="9" name="Picture 8" descr="Gene Cerna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6800" y="5029200"/>
            <a:ext cx="3200400" cy="32004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2070080" y="5029200"/>
            <a:ext cx="6217920" cy="16002000"/>
          </a:xfrm>
          <a:prstGeom prst="rect">
            <a:avLst/>
          </a:prstGeom>
          <a:solidFill>
            <a:srgbClr val="FFFFFF"/>
          </a:solidFill>
        </p:spPr>
        <p:txBody>
          <a:bodyPr wrap="square">
            <a:spAutoFit/>
          </a:bodyPr>
          <a:lstStyle/>
          <a:p/>
          <a:p>
            <a:pPr>
              <a:defRPr sz="1400" b="0">
                <a:solidFill>
                  <a:srgbClr val="000000"/>
                </a:solidFill>
              </a:defRPr>
            </a:pPr>
            <a:r>
              <a:t>Gene Cernan</a:t>
            </a:r>
            <a:br/>
            <a:br/>
            <a:r>
              <a:t>Apollo 17 commander; last human to walk on the Moon (1972). Geology-focused exploration with Harrison Schmitt.</a:t>
            </a:r>
            <a:br/>
            <a:br/>
            <a:r>
              <a:t>Quote: We leave as we came, and, God willing, as we shall return, with peace and hope for all mankind.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