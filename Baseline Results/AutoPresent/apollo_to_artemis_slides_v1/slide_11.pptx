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FFFFFF"/>
          </a:solidFill>
        </p:spPr>
        <p:txBody>
          <a:bodyPr/>
          <a:lstStyle/>
          <a:p>
            <a:pPr>
              <a:defRPr sz="4400">
                <a:solidFill>
                  <a:srgbClr val="0066CC"/>
                </a:solidFill>
              </a:defRPr>
            </a:pPr>
            <a:r>
              <a:t>What’s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3716000" cy="95097600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/>
          <a:p>
            <a:pPr>
              <a:defRPr sz="1800" b="0">
                <a:solidFill>
                  <a:srgbClr val="000000"/>
                </a:solidFill>
              </a:defRPr>
            </a:pPr>
            <a:r>
              <a:t>near_term_0_3y</a:t>
            </a:r>
            <a:br/>
            <a:r>
              <a:t>- Artemis II crewed lunar flyby (NET 2025); validate life support and reentry.</a:t>
            </a:r>
            <a:br/>
            <a:r>
              <a:t>- Artemis III lunar landing (NET 2026) using HLS; science at the south polar region.</a:t>
            </a:r>
            <a:br/>
            <a:r>
              <a:t>- CLPS missions delivering instruments and tech demos.</a:t>
            </a:r>
            <a:br/>
            <a:br/>
            <a:r>
              <a:t>mid_term_3_7y</a:t>
            </a:r>
            <a:br/>
            <a:r>
              <a:t>- Gateway assembly (power/prop, habitation, logistics) enabling longer stays.</a:t>
            </a:r>
            <a:br/>
            <a:r>
              <a:t>- SLS Block 1B and Orion upgrades; more mass to deep space.</a:t>
            </a:r>
            <a:br/>
            <a:r>
              <a:t>- Surface systems: mobility, power, and initial ISRU experiments.</a:t>
            </a:r>
            <a:br/>
            <a:br/>
            <a:r>
              <a:t>longer_term_7y_plus</a:t>
            </a:r>
            <a:br/>
            <a:r>
              <a:t>- Sustained lunar presence: repeat landings, expanded science and technology cycles.</a:t>
            </a:r>
            <a:br/>
            <a:r>
              <a:t>- Pathfinding for Mars: ECLSS closure, radiation countermeasures, propulsion ops.</a:t>
            </a:r>
            <a:br/>
            <a:r>
              <a:t>- International and commercial growth of a cislunar economy.</a:t>
            </a:r>
            <a:br/>
            <a:br/>
            <a:r>
              <a:t>Schedules and content subject to change with testing outcomes, policy, and partner readiness.</a:t>
            </a:r>
          </a:p>
        </p:txBody>
      </p:sp>
      <p:pic>
        <p:nvPicPr>
          <p:cNvPr id="4" name="Picture 3" descr="lunar_b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0" y="1554480"/>
            <a:ext cx="2743200" cy="2743200"/>
          </a:xfrm>
          <a:prstGeom prst="rect">
            <a:avLst/>
          </a:prstGeom>
        </p:spPr>
      </p:pic>
      <p:pic>
        <p:nvPicPr>
          <p:cNvPr id="5" name="Picture 4" descr="sls_rock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0" y="4572000"/>
            <a:ext cx="2743200" cy="2743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