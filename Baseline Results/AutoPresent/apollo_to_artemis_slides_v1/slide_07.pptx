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0F0F0"/>
          </a:solidFill>
        </p:spPr>
        <p:txBody>
          <a:bodyPr/>
          <a:lstStyle/>
          <a:p>
            <a:pPr>
              <a:defRPr sz="4800">
                <a:solidFill>
                  <a:srgbClr val="000080"/>
                </a:solidFill>
              </a:defRPr>
            </a:pPr>
            <a:r>
              <a:t>Technology Advances: Materials, Computing, Guidance</a:t>
            </a:r>
          </a:p>
        </p:txBody>
      </p:sp>
      <p:pic>
        <p:nvPicPr>
          <p:cNvPr id="3" name="Picture 2" descr="fiber lay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74320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114800"/>
            <a:ext cx="2743200" cy="9144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000000"/>
                </a:solidFill>
              </a:defRPr>
            </a:pPr>
            <a:r>
              <a:t>Materials: Aluminum alloys, Al-Li, composites</a:t>
            </a:r>
          </a:p>
        </p:txBody>
      </p:sp>
      <p:pic>
        <p:nvPicPr>
          <p:cNvPr id="5" name="Picture 4" descr="heat 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743200"/>
            <a:ext cx="137160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4114800"/>
            <a:ext cx="2743200" cy="9144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000000"/>
                </a:solidFill>
              </a:defRPr>
            </a:pPr>
            <a:r>
              <a:t>TPS: Ablative heat shields, arc-jet repairs</a:t>
            </a:r>
          </a:p>
        </p:txBody>
      </p:sp>
      <p:pic>
        <p:nvPicPr>
          <p:cNvPr id="7" name="Picture 6" descr="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743200"/>
            <a:ext cx="137160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4114800"/>
            <a:ext cx="2743200" cy="9144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000000"/>
                </a:solidFill>
              </a:defRPr>
            </a:pPr>
            <a:r>
              <a:t>Computing: Real-time design, rad-hard processors</a:t>
            </a:r>
          </a:p>
        </p:txBody>
      </p:sp>
      <p:pic>
        <p:nvPicPr>
          <p:cNvPr id="9" name="Picture 8" descr="gyrosco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2743200"/>
            <a:ext cx="137160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0" y="4114800"/>
            <a:ext cx="2743200" cy="9144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000000"/>
                </a:solidFill>
              </a:defRPr>
            </a:pPr>
            <a:r>
              <a:t>GNC: Inertial platforms, TRN, LIDAR</a:t>
            </a:r>
          </a:p>
        </p:txBody>
      </p:sp>
      <p:pic>
        <p:nvPicPr>
          <p:cNvPr id="11" name="Picture 10" descr="ecl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0" y="2743200"/>
            <a:ext cx="1371600" cy="1371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87200" y="4114800"/>
            <a:ext cx="2743200" cy="9144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000000"/>
                </a:solidFill>
              </a:defRPr>
            </a:pPr>
            <a:r>
              <a:t>ECLSS: Digital twins, closed-loop improvements</a:t>
            </a:r>
          </a:p>
        </p:txBody>
      </p:sp>
      <p:pic>
        <p:nvPicPr>
          <p:cNvPr id="13" name="Picture 12" descr="las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4800" y="2743200"/>
            <a:ext cx="1371600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30400" y="4114800"/>
            <a:ext cx="2743200" cy="9144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000000"/>
                </a:solidFill>
              </a:defRPr>
            </a:pPr>
            <a:r>
              <a:t>Comms: Deep-space comms, optical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