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Adoption Roadmap (0–18 Months)</a:t>
            </a:r>
          </a:p>
        </p:txBody>
      </p:sp>
      <p:pic>
        <p:nvPicPr>
          <p:cNvPr id="3" name="Picture 2" descr="roadmap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37160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554480"/>
            <a:ext cx="3657600" cy="457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3366"/>
                </a:solidFill>
              </a:defRPr>
            </a:pPr>
            <a:r>
              <a:t>0–90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3657600" cy="1371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Appoint accountable exec; stand up AI Risk Committee.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Inventory AI use‑cases/models (incl. vendor/GPAI).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Triage into risk tiers; freeze unclassified high-impact uses.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3657600" cy="9144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AI policy baseline; Use-case registry;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Initial risk classification.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554480"/>
            <a:ext cx="3657600" cy="457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3366"/>
                </a:solidFill>
              </a:defRPr>
            </a:pPr>
            <a:r>
              <a:t>3–6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03120"/>
            <a:ext cx="3657600" cy="1371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Implement lifecycle gates, AIA/DPIA templates.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Stand up monitoring &amp; incident playbooks; enable kill-switches.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Map EU high-risk candidates; plan CE/technical documentation.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657600"/>
            <a:ext cx="3657600" cy="9144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Gate checklist + evidence pack;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Monitoring runbooks;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EU technical doc outline.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554480"/>
            <a:ext cx="3657600" cy="457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3366"/>
                </a:solidFill>
              </a:defRPr>
            </a:pPr>
            <a:r>
              <a:t>6–12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103120"/>
            <a:ext cx="3657600" cy="1371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Independent validation (MRM) for high-risk.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US: align with NIST AI RMF; OMB requirements.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CN: prepare/submit filings; implement labeling/watermarking.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657600"/>
            <a:ext cx="3657600" cy="9144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Validation reports; NIST RMF alignment map;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CN filing dossier.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1554480"/>
            <a:ext cx="2743200" cy="457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003366"/>
                </a:solidFill>
              </a:defRPr>
            </a:pPr>
            <a:r>
              <a:t>12–18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2103120"/>
            <a:ext cx="2743200" cy="13716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EU: complete conformity assessments/marking.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Third-party assurance (internal audit; external attestations).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Optimize KPIs; continuous improvement loop.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3657600"/>
            <a:ext cx="2743200" cy="914400"/>
          </a:xfrm>
          <a:prstGeom prst="rect">
            <a:avLst/>
          </a:prstGeom>
          <a:solidFill>
            <a:srgbClr val="F0F0F0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CE marking (where required);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Assurance reports;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Quarterly KPI pack.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