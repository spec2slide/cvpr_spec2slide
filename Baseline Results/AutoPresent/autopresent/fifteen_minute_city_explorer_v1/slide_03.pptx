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2801600" cy="914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3200" b="1">
                <a:solidFill>
                  <a:srgbClr val="00008B"/>
                </a:solidFill>
              </a:defRPr>
            </a:pPr>
            <a:r>
              <a:t>What Is a 15‑Minute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8580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000000"/>
                </a:solidFill>
              </a:defRPr>
            </a:pPr>
            <a:r>
              <a:t>Definition: A planning framework that clusters daily needs—home, work, learning, care, groceries, parks—within a 15‑minute walk or bike ride, prioritizing proximity, safety, and choice.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6858000" cy="45720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6400"/>
                </a:solidFill>
              </a:defRPr>
            </a:pPr>
            <a:r>
              <a:t>Proximity: short trips to essentials</a:t>
            </a:r>
          </a:p>
          <a:p>
            <a:pPr>
              <a:defRPr sz="1400">
                <a:solidFill>
                  <a:srgbClr val="006400"/>
                </a:solidFill>
              </a:defRPr>
            </a:pPr>
            <a:r>
              <a:t>Diversity: mixed uses and housing types</a:t>
            </a:r>
          </a:p>
          <a:p>
            <a:pPr>
              <a:defRPr sz="1400">
                <a:solidFill>
                  <a:srgbClr val="006400"/>
                </a:solidFill>
              </a:defRPr>
            </a:pPr>
            <a:r>
              <a:t>Density done well: enough people to support services</a:t>
            </a:r>
          </a:p>
          <a:p>
            <a:pPr>
              <a:defRPr sz="1400">
                <a:solidFill>
                  <a:srgbClr val="006400"/>
                </a:solidFill>
              </a:defRPr>
            </a:pPr>
            <a:r>
              <a:t>Complete networks: safe, continuous walking/cycling/transit</a:t>
            </a:r>
          </a:p>
          <a:p>
            <a:pPr>
              <a:defRPr sz="1400">
                <a:solidFill>
                  <a:srgbClr val="006400"/>
                </a:solidFill>
              </a:defRPr>
            </a:pPr>
            <a:r>
              <a:t>Human‑scaled streets: slower speeds, greener public realm</a:t>
            </a:r>
          </a:p>
          <a:p>
            <a:pPr>
              <a:defRPr sz="1400">
                <a:solidFill>
                  <a:srgbClr val="006400"/>
                </a:solidFill>
              </a:defRPr>
            </a:pPr>
            <a:r>
              <a:t>Digital/physical integration: delivery lockers, telehealth, coworking</a:t>
            </a:r>
          </a:p>
          <a:p>
            <a:pPr>
              <a:defRPr sz="1400">
                <a:solidFill>
                  <a:srgbClr val="006400"/>
                </a:solidFill>
              </a:defRPr>
            </a:pPr>
            <a:r>
              <a:t>Participatory governance: neighborhood co‑design</a:t>
            </a:r>
          </a:p>
          <a:p>
            <a:pPr>
              <a:defRPr sz="1400">
                <a:solidFill>
                  <a:srgbClr val="006400"/>
                </a:solidFill>
              </a:defRPr>
            </a:pPr>
            <a:r>
              <a:t>Equity: invest first where access gaps are largest</a:t>
            </a:r>
          </a:p>
          <a:p>
            <a:pPr>
              <a:defRPr sz="1400">
                <a:solidFill>
                  <a:srgbClr val="006400"/>
                </a:solidFill>
              </a:defRPr>
            </a:pPr>
            <a:r>
              <a:t>Climate resilience: shade, stormwater, low‑carbon mobility</a:t>
            </a:r>
          </a:p>
        </p:txBody>
      </p:sp>
      <p:pic>
        <p:nvPicPr>
          <p:cNvPr id="6" name="Picture 5" descr="isochron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6400800" cy="3200400"/>
          </a:xfrm>
          <a:prstGeom prst="rect">
            <a:avLst/>
          </a:prstGeom>
        </p:spPr>
      </p:pic>
      <p:pic>
        <p:nvPicPr>
          <p:cNvPr id="7" name="Picture 6" descr="service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029200"/>
            <a:ext cx="6400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