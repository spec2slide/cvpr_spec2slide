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4F4F4"/>
          </a:solidFill>
        </p:spPr>
        <p:txBody>
          <a:bodyPr/>
          <a:lstStyle/>
          <a:p>
            <a:pPr>
              <a:defRPr sz="4000">
                <a:solidFill>
                  <a:srgbClr val="663399"/>
                </a:solidFill>
              </a:defRPr>
            </a:pPr>
            <a:r>
              <a:t>Street Redesign Elements (Complete Streets)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6858000" cy="41148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2000">
                <a:solidFill>
                  <a:srgbClr val="333333"/>
                </a:solidFill>
              </a:defRPr>
            </a:pPr>
            <a:r>
              <a:t>Continuous sidewalks with curb ramps and tactile paving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Protected bike lanes (physical separation) and intersection protection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Bus priority (dedicated lanes, queue jumps), all‑door boarding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Traffic calming: 30 km/h design speeds, raised crossings, chicanes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Curb management: loading bays, micromobility parking, parklets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Green infrastructure: shade trees, bioswales, permeable surfaces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Safety at night: pedestrian‑scale lighting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371600"/>
            <a:ext cx="6400800" cy="146304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333333"/>
                </a:solidFill>
              </a:defRPr>
            </a:pPr>
            <a:r>
              <a:t>Cross Section: typical 24 m ROW</a:t>
            </a:r>
            <a:br/>
            <a:r>
              <a:t>Components: </a:t>
            </a:r>
            <a:br/>
            <a:r>
              <a:t>  Sidewalk + furnishing: 3.0 m each side</a:t>
            </a:r>
            <a:br/>
            <a:r>
              <a:t>  Protected bike track: 1.8 m + 0.5 m buffer each side</a:t>
            </a:r>
            <a:br/>
            <a:r>
              <a:t>  Bus lane: 3.0 m each direction</a:t>
            </a:r>
            <a:br/>
            <a:r>
              <a:t>  General traffic lane: 2.7 m each direction</a:t>
            </a:r>
            <a:br/>
            <a:r>
              <a:t>Total Width: ≈24.0 m</a:t>
            </a:r>
            <a:br/>
            <a:r>
              <a:t>Note: Adjust widths to local standards; maintain continuous protection at intersections.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3657600"/>
            <a:ext cx="6400800" cy="41148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333333"/>
                </a:solidFill>
              </a:defRPr>
            </a:pPr>
            <a:r>
              <a:t>Before-After photomontage:</a:t>
            </a:r>
            <a:br/>
            <a:r>
              <a:t>Before: 4 lanes, on‑street parking, discontinuous sidewalk</a:t>
            </a:r>
            <a:br/>
            <a:r>
              <a:t>After: 2 lanes + bus priority, protected bikeways, expanded sidewalks, trees, parklets</a:t>
            </a:r>
          </a:p>
        </p:txBody>
      </p:sp>
      <p:pic>
        <p:nvPicPr>
          <p:cNvPr id="6" name="Picture 5" descr="cross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486400"/>
            <a:ext cx="13716000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