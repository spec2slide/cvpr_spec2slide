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0000"/>
          </a:solidFill>
        </p:spPr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Costs and Benefits (Illustrative, per 100k residents, 10‑yr NPV @3%)</a:t>
            </a:r>
          </a:p>
        </p:txBody>
      </p:sp>
      <p:pic>
        <p:nvPicPr>
          <p:cNvPr id="3" name="Picture 2" descr="c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0"/>
            <a:ext cx="13716000" cy="13716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Notes: Monetization methods per standard CBA (e.g., USDOT guidance); tailor to local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Quick‑build pilots (paint/posts/planters): $12M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Permanent streetscape + bikeways: $85M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Transit priority upgrades: $30M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Public realm/trees/stormwater: $18M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Ops/maint. (net of savings): $22M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4572000" cy="1371600"/>
          </a:xfrm>
          <a:prstGeom prst="rect">
            <a:avLst/>
          </a:prstGeom>
          <a:solidFill>
            <a:srgbClr val="EBEBEB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Curb pricing/parking reform: -$28M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Speeding/crash cost reductions (city savings): -$15M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371600"/>
            <a:ext cx="4572000" cy="3657600"/>
          </a:xfrm>
          <a:prstGeom prst="rect">
            <a:avLst/>
          </a:prstGeom>
          <a:solidFill>
            <a:srgbClr val="E1E1E1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Travel time saved (mode shift/shorter trips): -$190M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Health (active mobility; reduced PM2.5): -$120M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Crash reduction (ped/bike/veh): -$150M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Retail uplift/local spending retention: -$60M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GHG reduction (social cost of carbon): -$25M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5486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000000"/>
                </a:solidFill>
              </a:defRPr>
            </a:pPr>
            <a:r>
              <a:t>Legend: Costs, Offsets, Benefits, 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