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424242"/>
                </a:solidFill>
              </a:defRPr>
            </a:pPr>
            <a:r>
              <a:t>Economics: Capex, Opex, Payback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Wacc percent: 8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Power price usd per mwh: 55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Gas price usd per mmbtu: 6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Carbon shadow price usd per t: 75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Escalation percent per year: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8229600" cy="5029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LED + controls: Capex musd: 1.2, Annual savings musd: 0.25, Abatement ktco2e: 1.5, Simple payback years: 4.8, Notes: Utility rebates up to 20% capex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VFDs &amp; motor optimization: Capex musd: 1, Annual savings musd: 0.4, Abatement ktco2e: 2.2, Simple payback years: 2.5, Notes: ISO 50001 alignment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Compressed air program: Capex musd: 0.4, Annual savings musd: 0.5, Abatement ktco2e: 3.3, Simple payback years: 0.8, Notes: Leak remediation + controls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On-site PV (5 MWdc + 2 MWh): Capex musd: 6.5, Annual savings musd: 0.55, Abatement ktco2e: 2.5, Simple payback years: 8, Notes: 48E ITC 30% can reduce net capex to ~$4.55M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VPPA (50 GWh/yr, 10-yr): Capex musd: 0, Annual savings musd: 1.15, Abatement ktco2e: 12.5, Simple payback years: 0, Notes: Strike ~$32/MWh vs BAU $55/MWh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Process electrification: Capex musd: 12, Annual savings musd: 1.2, Abatement ktco2e: 10, Simple payback years: 10, Notes: Subject to tariff demand charges; mitigate via thermal storage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Waste heat recovery: Capex musd: 4, Annual savings musd: 0.7, Abatement ktco2e: 4, Simple payback years: 5.7, Notes: Eligible for industrial efficiency grants in some regions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Fleet electrification: Capex musd: 1.5, Annual savings musd: 0.18, Abatement ktco2e: 2, Simple payback years: 8.3, Notes: Charger incentives may improve payback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Logistics optimization: Capex musd: 0.8, Annual savings musd: 0.9, Abatement ktco2e: 5, Simple payback years: 0.9, Notes: TMS + mode shift to rail where possible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Supplier program (opex): Capex musd: 0, Annual savings musd: 0, Abatement ktco2e: 25, Simple payback years: None, Notes: Opex ~$2M/yr for engagement, audits, data; ROI via resilience and CBAM/ESG premium</a:t>
            </a:r>
          </a:p>
        </p:txBody>
      </p:sp>
      <p:pic>
        <p:nvPicPr>
          <p:cNvPr id="5" name="Picture 4" descr="bubbl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0"/>
            <a:ext cx="12801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