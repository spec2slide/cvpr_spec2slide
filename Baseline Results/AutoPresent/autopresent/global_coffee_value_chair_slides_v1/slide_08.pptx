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A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2F4858"/>
                </a:solidFill>
              </a:defRPr>
            </a:pPr>
            <a:r>
              <a:t>Retail Margin Waterfall (Example: $15 / 12‑oz bag)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5943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2F4858"/>
                </a:solidFill>
              </a:defRPr>
            </a:pPr>
            <a:r>
              <a:t>Farmer net (farmgate): $1.2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Local processing/export fees: $0.5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International freight/insurance: $0.3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Importer margin/finance: $0.6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Roasting energy/labor: $1.2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Roaster overhead/depreciation: $0.6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Packaging &amp; labels: $1.1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Domestic freight/warehousing: $0.7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Duties/taxes: $0.4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Brand/marketing: $0.8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Retailer margin: $4.8</a:t>
            </a:r>
          </a:p>
          <a:p>
            <a:pPr>
              <a:defRPr sz="2000">
                <a:solidFill>
                  <a:srgbClr val="2F4858"/>
                </a:solidFill>
              </a:defRPr>
            </a:pPr>
            <a:r>
              <a:t>Roaster net margin: $2.8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0"/>
            <a:ext cx="12801600" cy="457200"/>
          </a:xfrm>
          <a:prstGeom prst="rect">
            <a:avLst/>
          </a:prstGeom>
          <a:solidFill>
            <a:srgbClr val="F0EAD6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2F4858"/>
                </a:solidFill>
              </a:defRPr>
            </a:pPr>
            <a:r>
              <a:t>Notes: Illustrative; varies by channel (DTC vs grocery), volume, and origin.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