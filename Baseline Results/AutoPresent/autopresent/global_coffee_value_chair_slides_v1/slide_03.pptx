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0000"/>
                </a:solidFill>
              </a:defRPr>
            </a:pPr>
            <a:r>
              <a:t>Origin Regions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3C3C3C"/>
                </a:solidFill>
              </a:defRPr>
            </a:pPr>
            <a:r>
              <a:t>Coffee production spans the 'Bean Belt' (25°N–25°S), with smallholders producing the majority of arabica.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858000" cy="2743200"/>
          </a:xfrm>
          <a:prstGeom prst="rect">
            <a:avLst/>
          </a:prstGeom>
          <a:solidFill>
            <a:srgbClr val="EBEBEB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3C3C3C"/>
                </a:solidFill>
              </a:defRPr>
            </a:pPr>
            <a:r>
              <a:t>Country: Brazil - Approx share: 37% - Bean mix: Arabica-dominant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Country: Vietnam - Approx share: 17% - Bean mix: Robusta-dominant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Country: Colombia - Approx share: 8% - Bean mix: Arabica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Country: Indonesia - Approx share: 7% - Bean mix: Robusta/Arabica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Country: Ethiopia - Approx share: 4% - Bean mix: Arabica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Country: Others (50+ origins) - Approx share: 27% - Bean mix: Mixed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3C3C3C"/>
                </a:solidFill>
              </a:defRPr>
            </a:pPr>
            <a:r>
              <a:t>Notes: Shares are indicative averages; actuals vary by harvest year.</a:t>
            </a:r>
          </a:p>
        </p:txBody>
      </p:sp>
      <p:pic>
        <p:nvPicPr>
          <p:cNvPr id="6" name="Picture 5" descr="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65836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