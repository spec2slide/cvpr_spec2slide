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003366"/>
                </a:solidFill>
              </a:defRPr>
            </a:pPr>
            <a:r>
              <a:t>Delivery Modalities: Getting Editors to Cells</a:t>
            </a:r>
          </a:p>
        </p:txBody>
      </p:sp>
      <p:pic>
        <p:nvPicPr>
          <p:cNvPr id="3" name="Picture 2" descr="aav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68880" y="1371600"/>
            <a:ext cx="64008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000">
                <a:solidFill>
                  <a:srgbClr val="000000"/>
                </a:solidFill>
              </a:defRPr>
            </a:pPr>
            <a:r>
              <a:t>Works best for: In vivo editing in tissues with suitable serotypes (e.g., eye, muscle, CNS subtypes)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Pros: Strong tropism and transduction; single-dose potential; long-term expression (for some applications)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Constraints: Capsid size limits (~4.7 kb) constrain editor payloads; pre-existing immunity/re-dosing challenges; potential for vector integration and liver toxicity at high doses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Notables: EDIT-101 (AAV5) for LCA10; Dual-AAV or compact nucleases (SaCas9) mitigate payload limits</a:t>
            </a:r>
          </a:p>
        </p:txBody>
      </p:sp>
      <p:pic>
        <p:nvPicPr>
          <p:cNvPr id="5" name="Picture 4" descr="lnp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182880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68880" y="4114800"/>
            <a:ext cx="64008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000">
                <a:solidFill>
                  <a:srgbClr val="000000"/>
                </a:solidFill>
              </a:defRPr>
            </a:pPr>
            <a:r>
              <a:t>Works best for: In vivo delivery to liver; expanding to extrahepatic targets via ligand/capsid engineering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Pros: Transient expression reduces prolonged exposure risk; manufacturable at scale; modular chemistry; amenable to repeat dosing in some contexts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Constraints: Hepatocyte bias limits tropism; infusion-related reactions; dose ceiling considerations; endosomal escape efficiency is a key bottleneck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Notables: NTLA-2001 (Cas9 mRNA + gRNA LNP) for ATTR; VERVE-101 (ABE mRNA + gRNA LNP) for PCSK9</a:t>
            </a:r>
          </a:p>
        </p:txBody>
      </p:sp>
      <p:pic>
        <p:nvPicPr>
          <p:cNvPr id="7" name="Picture 6" descr="electroporation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84080" y="1371600"/>
            <a:ext cx="64008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000">
                <a:solidFill>
                  <a:srgbClr val="000000"/>
                </a:solidFill>
              </a:defRPr>
            </a:pPr>
            <a:r>
              <a:t>Works best for: Autologous/allogeneic cell therapies (HSPCs, T cells, NK cells)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Pros: Transient RNP delivery—minimal off-target window; high editing rates and multiplex capability; no viral DNA integration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Constraints: Manufacturing complexity and cost; conditioning regimens for reinfusion (e.g., myeloablation); logistics of cell collection and release testing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Notables: Exa-cel/CASGEVY (BCL11A enhancer edit) for SCD/TDT; multiplex-edited allogeneic CAR-T programs</a:t>
            </a:r>
          </a:p>
        </p:txBody>
      </p:sp>
      <p:pic>
        <p:nvPicPr>
          <p:cNvPr id="9" name="Picture 8" descr="non_viral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114800"/>
            <a:ext cx="182880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784080" y="4114800"/>
            <a:ext cx="6400800" cy="18288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1000">
                <a:solidFill>
                  <a:srgbClr val="000000"/>
                </a:solidFill>
              </a:defRPr>
            </a:pPr>
            <a:r>
              <a:t>Works best for: Emerging systemic/extracellular targets; specialized tissues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Pros: Potential for targeted delivery with ligands/antibodies; avoids viral immunity concerns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Constraints: Lower transfection efficiency historically; formulation stability and biodistribution challenges</a:t>
            </a:r>
          </a:p>
          <a:p>
            <a:pPr>
              <a:defRPr sz="1000">
                <a:solidFill>
                  <a:srgbClr val="000000"/>
                </a:solidFill>
              </a:defRPr>
            </a:pPr>
            <a:r>
              <a:t>Notables: Virus-like particles (VLPs); polymeric/ionizable lipid hybrids; physical methods (hydrodynamic, microinjection for ocular)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