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5F5F5"/>
          </a:solidFill>
        </p:spPr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Clinical Risks, Ethics &amp; Regulation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858000" cy="8321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br/>
            <a:pPr>
              <a:defRPr sz="1600" b="0">
                <a:solidFill>
                  <a:srgbClr val="000000"/>
                </a:solidFill>
              </a:defRPr>
            </a:pPr>
            <a:r>
              <a:t>• Safety Risks &amp; Mitigations</a:t>
            </a:r>
            <a:br/>
            <a:r>
              <a:t>  - Risk: Off‑target edits</a:t>
            </a:r>
            <a:br/>
            <a:r>
              <a:t>    • Mitigations: High‑fidelity nucleases (e.g., eSpCas9, HiFi Cas9, Cas12a); Guide optimization (truncated/chemically modified gRNAs); Orthogonal off‑target mapping (GUIDE‑seq, CIRCLE‑seq, CHANGE‑seq, DISCOVER‑Seq); Dose minimization and transient delivery (RNP, mRNA/LNP)</a:t>
            </a:r>
            <a:br/>
            <a:r>
              <a:t>  - Risk: On‑target complexity (large deletions, rearrangements, p53 activation)</a:t>
            </a:r>
            <a:br/>
            <a:r>
              <a:t>    • Mitigations: Favor base/prime editors when feasible; Allele‑aware design; limit cut frequency; Long‑read sequencing and junction PCR in release testing; Functional assays for tumor suppressor pathways</a:t>
            </a:r>
            <a:br/>
            <a:r>
              <a:t>  - Risk: Vector‑related genotoxicity/toxicity (AAV integration, high‑dose hepatotoxicity)</a:t>
            </a:r>
            <a:br/>
            <a:r>
              <a:t>    • Mitigations: Lower doses with potent promoters/capsids; Integration site analysis; biodistribution/tox study rigor; Patient selection and LFT monitoring, steroid protocols</a:t>
            </a:r>
            <a:br/>
            <a:r>
              <a:t>  - Risk: Immunity to Cas proteins or vectors</a:t>
            </a:r>
            <a:br/>
            <a:r>
              <a:t>    • Mitigations: Pre‑screen for neutralizing antibodies where relevant; Use humanized/less‑immunogenic enzymes; transient exposure; Prophylaxis and monitoring for infusion reactions</a:t>
            </a:r>
            <a:br/>
            <a:r>
              <a:t>  - Risk: Manufacturing and product variability</a:t>
            </a:r>
            <a:br/>
            <a:r>
              <a:t>    • Mitigations: In‑process controls, potency assays, deep sequencing QC; Closed, automated systems; standardized analytics</a:t>
            </a:r>
            <a:br/>
          </a:p>
        </p:txBody>
      </p:sp>
      <p:sp>
        <p:nvSpPr>
          <p:cNvPr id="4" name="TextBox 3"/>
          <p:cNvSpPr txBox="1"/>
          <p:nvPr/>
        </p:nvSpPr>
        <p:spPr>
          <a:xfrm>
            <a:off x="7315200" y="1371600"/>
            <a:ext cx="6858000" cy="1344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br/>
            <a:pPr>
              <a:defRPr sz="1600" b="0">
                <a:solidFill>
                  <a:srgbClr val="000000"/>
                </a:solidFill>
              </a:defRPr>
            </a:pPr>
            <a:r>
              <a:t>• Monitoring Toolkit</a:t>
            </a:r>
            <a:br/>
            <a:r>
              <a:t>  - Amplicon NGS and WGS (short + long read)</a:t>
            </a:r>
            <a:br/>
            <a:r>
              <a:t>  - GUIDE‑seq/CIRCLE‑seq/CHANGE‑seq for off‑target discovery</a:t>
            </a:r>
            <a:br/>
            <a:r>
              <a:t>  - Vector integration assays</a:t>
            </a:r>
            <a:br/>
            <a:r>
              <a:t>  - Clinical labs: hematology, chemistry, immunogenicity panels</a:t>
            </a:r>
            <a:br/>
            <a:r>
              <a:t>  - Long‑term follow‑up registries (up to 15 years for gene‑modifying therapies)</a:t>
            </a:r>
            <a:br/>
            <a:br/>
            <a:r>
              <a:t>• Ethics Topics</a:t>
            </a:r>
            <a:br/>
            <a:r>
              <a:t>  - Somatic vs. germline boundary—therapeutic use only in humans</a:t>
            </a:r>
            <a:br/>
            <a:r>
              <a:t>  - Informed consent and long‑term data stewardship</a:t>
            </a:r>
            <a:br/>
            <a:r>
              <a:t>  - Equitable access and affordability</a:t>
            </a:r>
            <a:br/>
            <a:r>
              <a:t>  - Pediatric/rare disease risk–benefit calculus</a:t>
            </a:r>
            <a:br/>
            <a:r>
              <a:t>  - Avoiding enhancement uses and guarding against misuse</a:t>
            </a:r>
            <a:br/>
            <a:br/>
            <a:r>
              <a:t>• Regulatory Overview</a:t>
            </a:r>
            <a:br/>
            <a:r>
              <a:t>  - US FDA: CBER draft guidance (2022): Human Gene Therapy Products Incorporating Human Genome Editing; expectations for off‑target assessment, CMC, and long‑term follow‑up</a:t>
            </a:r>
            <a:br/>
            <a:r>
              <a:t>  - EU EMA: ATMP framework; gene editing under gene therapy guidelines; CHMP methodological guidance for biodistribution, shedding, and long‑term safety</a:t>
            </a:r>
            <a:br/>
            <a:r>
              <a:t>  - UK MHRA: ILAP/Innovation pathways facilitate accelerated access with robust risk management</a:t>
            </a:r>
            <a:br/>
            <a:r>
              <a:t>  - WHO: 2021 recommendations for governance and oversight of human genome editing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