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0000"/>
                </a:solidFill>
              </a:defRPr>
            </a:pPr>
            <a:r>
              <a:t>How CRISPR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Diagram Layers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Target selection: Cas9 scans DNA for a PAM (e.g., NGG) and the 20-nt guide RNA (gRNA) base‑pairs with the protospacer.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Cutting: Cas9’s HNH and RuvC domains cleave opposite strands to create a double‑strand break (DSB).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Repair path A—NHEJ: Error‑prone repair introduces small indels, often yielding gene knockout.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Repair path B—HDR: With a donor template, precise edits/insertions are made at the break 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64008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Editor Variants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Base editors (ABE/CBE): nCas9 or dCas9 fused to a deaminase; single‑base conversions (A↔G, C↔T) without DSB.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Prime editor: nCas9 fused to reverse transcriptase with a pegRNA; installs small insertions/deletions/substitutions with minimal cutting.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5486400" cy="9144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0000"/>
                </a:solidFill>
              </a:defRPr>
            </a:pPr>
            <a:r>
              <a:t>Glossary</a:t>
            </a:r>
            <a:br/>
            <a:r>
              <a:t>gRNA: Guide RNA that directs the nuclease to a matching DNA sequence</a:t>
            </a:r>
            <a:br/>
            <a:r>
              <a:t>PAM: Protospacer Adjacent Motif required for nuclease binding (e.g., NGG for SpCas9)</a:t>
            </a:r>
            <a:br/>
            <a:r>
              <a:t>RNP: Ribonucleoprotein complex of Cas protein and gRNA, used for transient editing</a:t>
            </a:r>
          </a:p>
        </p:txBody>
      </p:sp>
      <p:pic>
        <p:nvPicPr>
          <p:cNvPr id="6" name="Picture 5" descr="crisp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