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solidFill>
            <a:srgbClr val="00467F"/>
          </a:solidFill>
        </p:spPr>
        <p:txBody>
          <a:bodyPr wrap="none">
            <a:spAutoFit/>
          </a:bodyPr>
          <a:lstStyle/>
          <a:p/>
          <a:p>
            <a:pPr>
              <a:defRPr sz="4400" b="1">
                <a:solidFill>
                  <a:srgbClr val="FFFFFF"/>
                </a:solidFill>
              </a:defRPr>
            </a:pPr>
            <a:r>
              <a:t>Reference Architecture (Identity, Device, Network, App, Data)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3716000" cy="2743200"/>
          </a:xfrm>
          <a:prstGeom prst="rect">
            <a:avLst/>
          </a:prstGeom>
          <a:solidFill>
            <a:srgbClr val="DCDCDC"/>
          </a:solidFill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00467F"/>
                </a:solidFill>
              </a:defRPr>
            </a:pPr>
            <a:r>
              <a:t>- Identity: Central IdP (SSO), phishing-resistant MFA; Risk-based auth, conditional access; Privileged Access Management (JIT/JEA)</a:t>
            </a:r>
          </a:p>
          <a:p>
            <a:pPr>
              <a:spcAft>
                <a:spcPts val="600"/>
              </a:spcAft>
              <a:defRPr sz="1800">
                <a:solidFill>
                  <a:srgbClr val="00467F"/>
                </a:solidFill>
              </a:defRPr>
            </a:pPr>
            <a:r>
              <a:t>- Device: UEM/MDM enrollment, EDR posture; Cert-based device identity, OS attestation; Compliance gates (encryption, patch, jailbroken)</a:t>
            </a:r>
          </a:p>
          <a:p>
            <a:pPr>
              <a:spcAft>
                <a:spcPts val="600"/>
              </a:spcAft>
              <a:defRPr sz="1800">
                <a:solidFill>
                  <a:srgbClr val="00467F"/>
                </a:solidFill>
              </a:defRPr>
            </a:pPr>
            <a:r>
              <a:t>- Network: ZTNA/SDP for user-to-app; Microsegmentation for east-west; NAC at campus/branch; egress controls</a:t>
            </a:r>
          </a:p>
          <a:p>
            <a:pPr>
              <a:spcAft>
                <a:spcPts val="600"/>
              </a:spcAft>
              <a:defRPr sz="1800">
                <a:solidFill>
                  <a:srgbClr val="00467F"/>
                </a:solidFill>
              </a:defRPr>
            </a:pPr>
            <a:r>
              <a:t>- Application: Service identity &amp; mTLS (mesh/API gateway); OPA/XACML for authZ in apps/APIs; CIAM for external users</a:t>
            </a:r>
          </a:p>
          <a:p>
            <a:pPr>
              <a:spcAft>
                <a:spcPts val="600"/>
              </a:spcAft>
              <a:defRPr sz="1800">
                <a:solidFill>
                  <a:srgbClr val="00467F"/>
                </a:solidFill>
              </a:defRPr>
            </a:pPr>
            <a:r>
              <a:t>- Data: Classification &amp; labeling; Encryption (KMS/HSM), tokenization; DLP &amp; data access governance</a:t>
            </a:r>
          </a:p>
        </p:txBody>
      </p:sp>
      <p:pic>
        <p:nvPicPr>
          <p:cNvPr id="5" name="Picture 4" descr="layered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0"/>
            <a:ext cx="137160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