
<file path=[Content_Types].xml><?xml version="1.0" encoding="utf-8"?>
<Types xmlns="http://schemas.openxmlformats.org/package/2006/content-types">
  <Default Extension="bin" ContentType="application/vnd.openxmlformats-officedocument.presentationml.printerSettings"/>
  <Default Extension="jpeg" ContentType="image/jpeg"/>
  <Default Extension="jpg" ContentType="image/jpeg"/>
  <Default Extension="png" ContentType="image/png"/>
  <Default Extension="rels" ContentType="application/vnd.openxmlformats-package.relationships+xml"/>
  <Default Extension="xml" ContentType="application/xml"/>
  <Override PartName="/docProps/app.xml" ContentType="application/vnd.openxmlformats-officedocument.extended-properties+xml"/>
  <Override PartName="/docProps/core.xml" ContentType="application/vnd.openxmlformats-package.core-properties+xml"/>
  <Override PartName="/ppt/presProps.xml" ContentType="application/vnd.openxmlformats-officedocument.presentationml.presProps+xml"/>
  <Override PartName="/ppt/presentation.xml" ContentType="application/vnd.openxmlformats-officedocument.presentationml.presentation.main+xml"/>
  <Override PartName="/ppt/slideLayouts/slideLayout1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tableStyles.xml" ContentType="application/vnd.openxmlformats-officedocument.presentationml.tableStyles+xml"/>
  <Override PartName="/ppt/theme/theme1.xml" ContentType="application/vnd.openxmlformats-officedocument.theme+xml"/>
  <Override PartName="/ppt/viewProps.xml" ContentType="application/vnd.openxmlformats-officedocument.presentationml.viewProps+xml"/>
</Types>
</file>

<file path=_rels/.rels><?xml version='1.0' encoding='UTF-8' standalone='yes'?>
<Relationships xmlns="http://schemas.openxmlformats.org/package/2006/relationships"><Relationship Id="rId1" Type="http://schemas.openxmlformats.org/officeDocument/2006/relationships/officeDocument" Target="ppt/presentation.xml"/><Relationship Id="rId2" Type="http://schemas.openxmlformats.org/package/2006/relationships/metadata/thumbnail" Target="docProps/thumbnail.jpeg"/><Relationship Id="rId3" Type="http://schemas.openxmlformats.org/package/2006/relationships/metadata/core-properties" Target="docProps/core.xml"/><Relationship Id="rId4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 autoCompressPictures="0">
  <p:sldMasterIdLst>
    <p:sldMasterId id="2147483648" r:id="rId1"/>
  </p:sldMasterIdLst>
  <p:sldIdLst>
    <p:sldId id="256" r:id="rId7"/>
  </p:sldIdLst>
  <p:sldSz cx="14630400" cy="8229600" type="screen4x3"/>
  <p:notesSz cx="6858000" cy="9144000"/>
  <p:defaultTextStyle>
    <a:defPPr>
      <a:defRPr lang="en-US"/>
    </a:defPPr>
    <a:lvl1pPr marL="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0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 lastView="sldThumbnailView">
  <p:normalViewPr>
    <p:restoredLeft sz="15620"/>
    <p:restoredTop sz="94660"/>
  </p:normalViewPr>
  <p:slideViewPr>
    <p:cSldViewPr snapToGrid="0" snapToObjects="1">
      <p:cViewPr varScale="1">
        <p:scale>
          <a:sx n="124" d="100"/>
          <a:sy n="124" d="100"/>
        </p:scale>
        <p:origin x="-1512" y="-112"/>
      </p:cViewPr>
      <p:guideLst>
        <p:guide orient="horz" pos="2160"/>
        <p:guide pos="2880"/>
      </p:guideLst>
    </p:cSldViewPr>
  </p:slideViewPr>
  <p:notesTextViewPr>
    <p:cViewPr>
      <p:scale>
        <a:sx n="100" d="100"/>
        <a:sy n="100" d="100"/>
      </p:scale>
      <p:origin x="0" y="0"/>
    </p:cViewPr>
  </p:notesTextViewPr>
  <p:gridSpacing cx="76200" cy="76200"/>
</p:viewPr>
</file>

<file path=ppt/_rels/presentation.xml.rels><?xml version='1.0' encoding='UTF-8' standalone='yes'?>
<Relationships xmlns="http://schemas.openxmlformats.org/package/2006/relationships"><Relationship Id="rId1" Type="http://schemas.openxmlformats.org/officeDocument/2006/relationships/slideMaster" Target="slideMasters/slideMaster1.xml"/><Relationship Id="rId2" Type="http://schemas.openxmlformats.org/officeDocument/2006/relationships/printerSettings" Target="printerSettings/printerSettings1.bin"/><Relationship Id="rId3" Type="http://schemas.openxmlformats.org/officeDocument/2006/relationships/presProps" Target="presProps.xml"/><Relationship Id="rId4" Type="http://schemas.openxmlformats.org/officeDocument/2006/relationships/viewProps" Target="viewProps.xml"/><Relationship Id="rId5" Type="http://schemas.openxmlformats.org/officeDocument/2006/relationships/theme" Target="theme/theme1.xml"/><Relationship Id="rId6" Type="http://schemas.openxmlformats.org/officeDocument/2006/relationships/tableStyles" Target="tableStyles.xml"/><Relationship Id="rId7" Type="http://schemas.openxmlformats.org/officeDocument/2006/relationships/slide" Target="slides/slide1.xml"/></Relationships>
</file>

<file path=ppt/slideLayouts/_rels/slideLayout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Title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ctrTitle"/>
          </p:nvPr>
        </p:nvSpPr>
        <p:spPr>
          <a:xfrm>
            <a:off x="685800" y="2130425"/>
            <a:ext cx="7772400" cy="1470025"/>
          </a:xfrm>
        </p:spPr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Subtitle 2"/>
          <p:cNvSpPr>
            <a:spLocks noGrp="1"/>
          </p:cNvSpPr>
          <p:nvPr>
            <p:ph type="subTitle" idx="1"/>
          </p:nvPr>
        </p:nvSpPr>
        <p:spPr>
          <a:xfrm>
            <a:off x="1371600" y="3886200"/>
            <a:ext cx="6400800" cy="1752600"/>
          </a:xfrm>
        </p:spPr>
        <p:txBody>
          <a:bodyPr/>
          <a:lstStyle>
            <a:lvl1pPr marL="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1pPr>
            <a:lvl2pPr marL="457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2pPr>
            <a:lvl3pPr marL="914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3pPr>
            <a:lvl4pPr marL="1371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4pPr>
            <a:lvl5pPr marL="18288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5pPr>
            <a:lvl6pPr marL="22860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6pPr>
            <a:lvl7pPr marL="2743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7pPr>
            <a:lvl8pPr marL="3200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8pPr>
            <a:lvl9pPr marL="3657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r>
              <a:rPr lang="en-US" smtClean="0"/>
              <a:t>Click to edit Master subtitle style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168075583"/>
      </p:ext>
    </p:extLst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itle and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614314258"/>
      </p:ext>
    </p:extLst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Section Header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722313" y="4406900"/>
            <a:ext cx="7772400" cy="1362075"/>
          </a:xfrm>
        </p:spPr>
        <p:txBody>
          <a:bodyPr anchor="t"/>
          <a:lstStyle>
            <a:lvl1pPr algn="l">
              <a:defRPr sz="4000" b="1" cap="all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722313" y="2906713"/>
            <a:ext cx="7772400" cy="1500187"/>
          </a:xfrm>
        </p:spPr>
        <p:txBody>
          <a:bodyPr anchor="b"/>
          <a:lstStyle>
            <a:lvl1pPr marL="0" indent="0">
              <a:buNone/>
              <a:defRPr sz="2000">
                <a:solidFill>
                  <a:schemeClr val="tx1">
                    <a:tint val="75000"/>
                  </a:schemeClr>
                </a:solidFill>
              </a:defRPr>
            </a:lvl1pPr>
            <a:lvl2pPr marL="4572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60648375"/>
      </p:ext>
    </p:extLst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Two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sz="half" idx="1"/>
          </p:nvPr>
        </p:nvSpPr>
        <p:spPr>
          <a:xfrm>
            <a:off x="457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648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782244947"/>
      </p:ext>
    </p:extLst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Comparis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>
            <a:lvl1pPr>
              <a:defRPr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535113"/>
            <a:ext cx="4040188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57200" y="2174875"/>
            <a:ext cx="4040188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5" name="Text Placeholder 4"/>
          <p:cNvSpPr>
            <a:spLocks noGrp="1"/>
          </p:cNvSpPr>
          <p:nvPr>
            <p:ph type="body" sz="quarter" idx="3"/>
          </p:nvPr>
        </p:nvSpPr>
        <p:spPr>
          <a:xfrm>
            <a:off x="4645025" y="1535113"/>
            <a:ext cx="4041775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6" name="Content Placeholder 5"/>
          <p:cNvSpPr>
            <a:spLocks noGrp="1"/>
          </p:cNvSpPr>
          <p:nvPr>
            <p:ph sz="quarter" idx="4"/>
          </p:nvPr>
        </p:nvSpPr>
        <p:spPr>
          <a:xfrm>
            <a:off x="4645025" y="2174875"/>
            <a:ext cx="4041775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7" name="Date Placeholder 6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8" name="Footer Placeholder 7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9" name="Slide Number Placeholder 8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90158736"/>
      </p:ext>
    </p:extLst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Title Only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Date Placeholder 2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4" name="Footer Placeholder 3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5" name="Slide Number Placeholder 4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727027711"/>
      </p:ext>
    </p:extLst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Blank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Date Placeholder 1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3" name="Footer Placeholder 2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212999818"/>
      </p:ext>
    </p:extLst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Content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457200" y="273050"/>
            <a:ext cx="3008313" cy="1162050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3575050" y="273050"/>
            <a:ext cx="5111750" cy="5853113"/>
          </a:xfrm>
        </p:spPr>
        <p:txBody>
          <a:bodyPr/>
          <a:lstStyle>
            <a:lvl1pPr>
              <a:defRPr sz="3200"/>
            </a:lvl1pPr>
            <a:lvl2pPr>
              <a:defRPr sz="2800"/>
            </a:lvl2pPr>
            <a:lvl3pPr>
              <a:defRPr sz="2400"/>
            </a:lvl3pPr>
            <a:lvl4pPr>
              <a:defRPr sz="2000"/>
            </a:lvl4pPr>
            <a:lvl5pPr>
              <a:defRPr sz="2000"/>
            </a:lvl5pPr>
            <a:lvl6pPr>
              <a:defRPr sz="2000"/>
            </a:lvl6pPr>
            <a:lvl7pPr>
              <a:defRPr sz="2000"/>
            </a:lvl7pPr>
            <a:lvl8pPr>
              <a:defRPr sz="2000"/>
            </a:lvl8pPr>
            <a:lvl9pPr>
              <a:defRPr sz="20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457200" y="1435100"/>
            <a:ext cx="3008313" cy="4691063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840726560"/>
      </p:ext>
    </p:extLst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Picture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1792288" y="4800600"/>
            <a:ext cx="5486400" cy="566738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Picture Placeholder 2"/>
          <p:cNvSpPr>
            <a:spLocks noGrp="1"/>
          </p:cNvSpPr>
          <p:nvPr>
            <p:ph type="pic" idx="1"/>
          </p:nvPr>
        </p:nvSpPr>
        <p:spPr>
          <a:xfrm>
            <a:off x="1792288" y="612775"/>
            <a:ext cx="5486400" cy="4114800"/>
          </a:xfrm>
        </p:spPr>
        <p:txBody>
          <a:bodyPr/>
          <a:lstStyle>
            <a:lvl1pPr marL="0" indent="0">
              <a:buNone/>
              <a:defRPr sz="3200"/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1792288" y="5367338"/>
            <a:ext cx="5486400" cy="804862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889236939"/>
      </p:ext>
    </p:extLst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Title and Vertical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/>
        <p:txBody>
          <a:bodyPr vert="eaVert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910927964"/>
      </p:ext>
    </p:extLst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Vertical Title and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Vertical Title 1"/>
          <p:cNvSpPr>
            <a:spLocks noGrp="1"/>
          </p:cNvSpPr>
          <p:nvPr>
            <p:ph type="title" orient="vert"/>
          </p:nvPr>
        </p:nvSpPr>
        <p:spPr>
          <a:xfrm>
            <a:off x="6629400" y="274638"/>
            <a:ext cx="2057400" cy="5851525"/>
          </a:xfrm>
        </p:spPr>
        <p:txBody>
          <a:bodyPr vert="eaVert"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>
          <a:xfrm>
            <a:off x="457200" y="274638"/>
            <a:ext cx="6019800" cy="5851525"/>
          </a:xfrm>
        </p:spPr>
        <p:txBody>
          <a:bodyPr vert="eaVert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612223792"/>
      </p:ext>
    </p:extLst>
  </p:cSld>
  <p:clrMapOvr>
    <a:masterClrMapping/>
  </p:clrMapOvr>
</p:sldLayout>
</file>

<file path=ppt/slideMasters/_rels/slideMaster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slideLayout" Target="../slideLayouts/slideLayout2.xml"/><Relationship Id="rId3" Type="http://schemas.openxmlformats.org/officeDocument/2006/relationships/slideLayout" Target="../slideLayouts/slideLayout3.xml"/><Relationship Id="rId4" Type="http://schemas.openxmlformats.org/officeDocument/2006/relationships/slideLayout" Target="../slideLayouts/slideLayout4.xml"/><Relationship Id="rId5" Type="http://schemas.openxmlformats.org/officeDocument/2006/relationships/slideLayout" Target="../slideLayouts/slideLayout5.xml"/><Relationship Id="rId6" Type="http://schemas.openxmlformats.org/officeDocument/2006/relationships/slideLayout" Target="../slideLayouts/slideLayout6.xml"/><Relationship Id="rId7" Type="http://schemas.openxmlformats.org/officeDocument/2006/relationships/slideLayout" Target="../slideLayouts/slideLayout7.xml"/><Relationship Id="rId8" Type="http://schemas.openxmlformats.org/officeDocument/2006/relationships/slideLayout" Target="../slideLayouts/slideLayout8.xml"/><Relationship Id="rId9" Type="http://schemas.openxmlformats.org/officeDocument/2006/relationships/slideLayout" Target="../slideLayouts/slideLayout9.xml"/><Relationship Id="rId10" Type="http://schemas.openxmlformats.org/officeDocument/2006/relationships/slideLayout" Target="../slideLayouts/slideLayout10.xml"/><Relationship Id="rId11" Type="http://schemas.openxmlformats.org/officeDocument/2006/relationships/slideLayout" Target="../slideLayouts/slideLayout11.xml"/><Relationship Id="rId12" Type="http://schemas.openxmlformats.org/officeDocument/2006/relationships/theme" Target="../theme/theme1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Placeholder 1"/>
          <p:cNvSpPr>
            <a:spLocks noGrp="1"/>
          </p:cNvSpPr>
          <p:nvPr>
            <p:ph type="title"/>
          </p:nvPr>
        </p:nvSpPr>
        <p:spPr>
          <a:xfrm>
            <a:off x="457200" y="274638"/>
            <a:ext cx="8229600" cy="1143000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600200"/>
            <a:ext cx="8229600" cy="4525963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2"/>
          </p:nvPr>
        </p:nvSpPr>
        <p:spPr>
          <a:xfrm>
            <a:off x="457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3"/>
          </p:nvPr>
        </p:nvSpPr>
        <p:spPr>
          <a:xfrm>
            <a:off x="3124200" y="6356350"/>
            <a:ext cx="2895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ct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4"/>
          </p:nvPr>
        </p:nvSpPr>
        <p:spPr>
          <a:xfrm>
            <a:off x="6553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209977519"/>
      </p:ext>
    </p:extLst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  <p:sldLayoutId id="2147483650" r:id="rId2"/>
    <p:sldLayoutId id="2147483651" r:id="rId3"/>
    <p:sldLayoutId id="2147483652" r:id="rId4"/>
    <p:sldLayoutId id="2147483653" r:id="rId5"/>
    <p:sldLayoutId id="2147483654" r:id="rId6"/>
    <p:sldLayoutId id="2147483655" r:id="rId7"/>
    <p:sldLayoutId id="2147483656" r:id="rId8"/>
    <p:sldLayoutId id="2147483657" r:id="rId9"/>
    <p:sldLayoutId id="2147483658" r:id="rId10"/>
    <p:sldLayoutId id="2147483659" r:id="rId11"/>
  </p:sldLayoutIdLst>
  <p:txStyles>
    <p:titleStyle>
      <a:lvl1pPr algn="ctr" defTabSz="457200" rtl="0" eaLnBrk="1" latinLnBrk="0" hangingPunct="1"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342900" indent="-342900" algn="l" defTabSz="457200" rtl="0" eaLnBrk="1" latinLnBrk="0" hangingPunct="1">
        <a:spcBef>
          <a:spcPct val="20000"/>
        </a:spcBef>
        <a:buFont typeface="Arial"/>
        <a:buChar char="•"/>
        <a:defRPr sz="3200" kern="1200">
          <a:solidFill>
            <a:schemeClr val="tx1"/>
          </a:solidFill>
          <a:latin typeface="+mn-lt"/>
          <a:ea typeface="+mn-ea"/>
          <a:cs typeface="+mn-cs"/>
        </a:defRPr>
      </a:lvl1pPr>
      <a:lvl2pPr marL="742950" indent="-285750" algn="l" defTabSz="457200" rtl="0" eaLnBrk="1" latinLnBrk="0" hangingPunct="1">
        <a:spcBef>
          <a:spcPct val="20000"/>
        </a:spcBef>
        <a:buFont typeface="Arial"/>
        <a:buChar char="–"/>
        <a:defRPr sz="28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457200" rtl="0" eaLnBrk="1" latinLnBrk="0" hangingPunct="1">
        <a:spcBef>
          <a:spcPct val="20000"/>
        </a:spcBef>
        <a:buFont typeface="Arial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457200" rtl="0" eaLnBrk="1" latinLnBrk="0" hangingPunct="1">
        <a:spcBef>
          <a:spcPct val="20000"/>
        </a:spcBef>
        <a:buFont typeface="Arial"/>
        <a:buChar char="–"/>
        <a:defRPr sz="20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457200" rtl="0" eaLnBrk="1" latinLnBrk="0" hangingPunct="1">
        <a:spcBef>
          <a:spcPct val="20000"/>
        </a:spcBef>
        <a:buFont typeface="Arial"/>
        <a:buChar char="»"/>
        <a:defRPr sz="20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6.xml"/><Relationship Id="rId2" Type="http://schemas.openxmlformats.org/officeDocument/2006/relationships/image" Target="../media/image1.jpg"/><Relationship Id="rId3" Type="http://schemas.openxmlformats.org/officeDocument/2006/relationships/image" Target="../media/image2.jpg"/><Relationship Id="rId4" Type="http://schemas.openxmlformats.org/officeDocument/2006/relationships/image" Target="../media/image3.png"/><Relationship Id="rId5" Type="http://schemas.openxmlformats.org/officeDocument/2006/relationships/image" Target="../media/image4.png"/><Relationship Id="rId6" Type="http://schemas.openxmlformats.org/officeDocument/2006/relationships/image" Target="../media/image5.jpg"/><Relationship Id="rId7" Type="http://schemas.openxmlformats.org/officeDocument/2006/relationships/image" Target="../media/image6.jpg"/></Relationships>
</file>

<file path=ppt/slides/slide1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F0F0F0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pPr>
              <a:defRPr sz="4400">
                <a:solidFill>
                  <a:srgbClr val="003366"/>
                </a:solidFill>
              </a:defRPr>
            </a:pPr>
            <a:r>
              <a:t>Zero Trust Core Principles</a:t>
            </a:r>
          </a:p>
        </p:txBody>
      </p:sp>
      <p:pic>
        <p:nvPicPr>
          <p:cNvPr id="3" name="Picture 2" descr="icon_0.pn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182880" y="1828800"/>
            <a:ext cx="457200" cy="457200"/>
          </a:xfrm>
          <a:prstGeom prst="rect">
            <a:avLst/>
          </a:prstGeom>
        </p:spPr>
      </p:pic>
      <p:sp>
        <p:nvSpPr>
          <p:cNvPr id="4" name="TextBox 3"/>
          <p:cNvSpPr txBox="1"/>
          <p:nvPr/>
        </p:nvSpPr>
        <p:spPr>
          <a:xfrm>
            <a:off x="640080" y="1828800"/>
            <a:ext cx="4236720" cy="1828800"/>
          </a:xfrm>
          <a:prstGeom prst="rect">
            <a:avLst/>
          </a:prstGeom>
          <a:noFill/>
        </p:spPr>
        <p:txBody>
          <a:bodyPr wrap="square">
            <a:normAutofit/>
          </a:bodyPr>
          <a:lstStyle/>
          <a:p/>
          <a:p>
            <a:pPr>
              <a:defRPr sz="2200">
                <a:solidFill>
                  <a:srgbClr val="000000"/>
                </a:solidFill>
              </a:defRPr>
            </a:pPr>
            <a:r>
              <a:t>Verify explicitly: identity, device, location, behavior, risk.</a:t>
            </a:r>
          </a:p>
        </p:txBody>
      </p:sp>
      <p:pic>
        <p:nvPicPr>
          <p:cNvPr id="5" name="Picture 4" descr="icon_1.png"/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5059680" y="1828800"/>
            <a:ext cx="457200" cy="457200"/>
          </a:xfrm>
          <a:prstGeom prst="rect">
            <a:avLst/>
          </a:prstGeom>
        </p:spPr>
      </p:pic>
      <p:sp>
        <p:nvSpPr>
          <p:cNvPr id="6" name="TextBox 5"/>
          <p:cNvSpPr txBox="1"/>
          <p:nvPr/>
        </p:nvSpPr>
        <p:spPr>
          <a:xfrm>
            <a:off x="5516880" y="1828800"/>
            <a:ext cx="4236720" cy="1828800"/>
          </a:xfrm>
          <a:prstGeom prst="rect">
            <a:avLst/>
          </a:prstGeom>
          <a:noFill/>
        </p:spPr>
        <p:txBody>
          <a:bodyPr wrap="square">
            <a:normAutofit/>
          </a:bodyPr>
          <a:lstStyle/>
          <a:p/>
          <a:p>
            <a:pPr>
              <a:defRPr sz="2200">
                <a:solidFill>
                  <a:srgbClr val="000000"/>
                </a:solidFill>
              </a:defRPr>
            </a:pPr>
            <a:r>
              <a:t>Least privilege: JIT/JEA, role- and attribute-based access.</a:t>
            </a:r>
          </a:p>
        </p:txBody>
      </p:sp>
      <p:pic>
        <p:nvPicPr>
          <p:cNvPr id="7" name="Picture 6" descr="icon_2.png"/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9936479" y="1828800"/>
            <a:ext cx="457200" cy="457200"/>
          </a:xfrm>
          <a:prstGeom prst="rect">
            <a:avLst/>
          </a:prstGeom>
        </p:spPr>
      </p:pic>
      <p:sp>
        <p:nvSpPr>
          <p:cNvPr id="8" name="TextBox 7"/>
          <p:cNvSpPr txBox="1"/>
          <p:nvPr/>
        </p:nvSpPr>
        <p:spPr>
          <a:xfrm>
            <a:off x="10393679" y="1828800"/>
            <a:ext cx="4236720" cy="1828800"/>
          </a:xfrm>
          <a:prstGeom prst="rect">
            <a:avLst/>
          </a:prstGeom>
          <a:noFill/>
        </p:spPr>
        <p:txBody>
          <a:bodyPr wrap="square">
            <a:normAutofit/>
          </a:bodyPr>
          <a:lstStyle/>
          <a:p/>
          <a:p>
            <a:pPr>
              <a:defRPr sz="2200">
                <a:solidFill>
                  <a:srgbClr val="000000"/>
                </a:solidFill>
              </a:defRPr>
            </a:pPr>
            <a:r>
              <a:t>Assume breach: segment, egress control, encrypt everywhere.</a:t>
            </a:r>
          </a:p>
        </p:txBody>
      </p:sp>
      <p:pic>
        <p:nvPicPr>
          <p:cNvPr id="9" name="Picture 8" descr="icon_3.png"/>
          <p:cNvPicPr>
            <a:picLocks noChangeAspect="1"/>
          </p:cNvPicPr>
          <p:nvPr/>
        </p:nvPicPr>
        <p:blipFill>
          <a:blip r:embed="rId5"/>
          <a:stretch>
            <a:fillRect/>
          </a:stretch>
        </p:blipFill>
        <p:spPr>
          <a:xfrm>
            <a:off x="182880" y="3657600"/>
            <a:ext cx="457200" cy="457200"/>
          </a:xfrm>
          <a:prstGeom prst="rect">
            <a:avLst/>
          </a:prstGeom>
        </p:spPr>
      </p:pic>
      <p:sp>
        <p:nvSpPr>
          <p:cNvPr id="10" name="TextBox 9"/>
          <p:cNvSpPr txBox="1"/>
          <p:nvPr/>
        </p:nvSpPr>
        <p:spPr>
          <a:xfrm>
            <a:off x="640080" y="3657600"/>
            <a:ext cx="4236720" cy="1828800"/>
          </a:xfrm>
          <a:prstGeom prst="rect">
            <a:avLst/>
          </a:prstGeom>
          <a:noFill/>
        </p:spPr>
        <p:txBody>
          <a:bodyPr wrap="square">
            <a:normAutofit/>
          </a:bodyPr>
          <a:lstStyle/>
          <a:p/>
          <a:p>
            <a:pPr>
              <a:defRPr sz="2200">
                <a:solidFill>
                  <a:srgbClr val="000000"/>
                </a:solidFill>
              </a:defRPr>
            </a:pPr>
            <a:r>
              <a:t>Continuous evaluation: every request/session, not one-time login.</a:t>
            </a:r>
          </a:p>
        </p:txBody>
      </p:sp>
      <p:pic>
        <p:nvPicPr>
          <p:cNvPr id="11" name="Picture 10" descr="icon_4.png"/>
          <p:cNvPicPr>
            <a:picLocks noChangeAspect="1"/>
          </p:cNvPicPr>
          <p:nvPr/>
        </p:nvPicPr>
        <p:blipFill>
          <a:blip r:embed="rId6"/>
          <a:stretch>
            <a:fillRect/>
          </a:stretch>
        </p:blipFill>
        <p:spPr>
          <a:xfrm>
            <a:off x="5059680" y="3657600"/>
            <a:ext cx="457200" cy="457200"/>
          </a:xfrm>
          <a:prstGeom prst="rect">
            <a:avLst/>
          </a:prstGeom>
        </p:spPr>
      </p:pic>
      <p:sp>
        <p:nvSpPr>
          <p:cNvPr id="12" name="TextBox 11"/>
          <p:cNvSpPr txBox="1"/>
          <p:nvPr/>
        </p:nvSpPr>
        <p:spPr>
          <a:xfrm>
            <a:off x="5516880" y="3657600"/>
            <a:ext cx="4236720" cy="1828800"/>
          </a:xfrm>
          <a:prstGeom prst="rect">
            <a:avLst/>
          </a:prstGeom>
          <a:noFill/>
        </p:spPr>
        <p:txBody>
          <a:bodyPr wrap="square">
            <a:normAutofit/>
          </a:bodyPr>
          <a:lstStyle/>
          <a:p/>
          <a:p>
            <a:pPr>
              <a:defRPr sz="2200">
                <a:solidFill>
                  <a:srgbClr val="000000"/>
                </a:solidFill>
              </a:defRPr>
            </a:pPr>
            <a:r>
              <a:t>Policy-as-code: versioned, tested, automated enforcement.</a:t>
            </a:r>
          </a:p>
        </p:txBody>
      </p:sp>
      <p:pic>
        <p:nvPicPr>
          <p:cNvPr id="13" name="Picture 12" descr="icon_5.png"/>
          <p:cNvPicPr>
            <a:picLocks noChangeAspect="1"/>
          </p:cNvPicPr>
          <p:nvPr/>
        </p:nvPicPr>
        <p:blipFill>
          <a:blip r:embed="rId7"/>
          <a:stretch>
            <a:fillRect/>
          </a:stretch>
        </p:blipFill>
        <p:spPr>
          <a:xfrm>
            <a:off x="9936479" y="3657600"/>
            <a:ext cx="457200" cy="457200"/>
          </a:xfrm>
          <a:prstGeom prst="rect">
            <a:avLst/>
          </a:prstGeom>
        </p:spPr>
      </p:pic>
      <p:sp>
        <p:nvSpPr>
          <p:cNvPr id="14" name="TextBox 13"/>
          <p:cNvSpPr txBox="1"/>
          <p:nvPr/>
        </p:nvSpPr>
        <p:spPr>
          <a:xfrm>
            <a:off x="10393679" y="3657600"/>
            <a:ext cx="4236720" cy="1828800"/>
          </a:xfrm>
          <a:prstGeom prst="rect">
            <a:avLst/>
          </a:prstGeom>
          <a:noFill/>
        </p:spPr>
        <p:txBody>
          <a:bodyPr wrap="square">
            <a:normAutofit/>
          </a:bodyPr>
          <a:lstStyle/>
          <a:p/>
          <a:p>
            <a:pPr>
              <a:defRPr sz="2200">
                <a:solidFill>
                  <a:srgbClr val="000000"/>
                </a:solidFill>
              </a:defRPr>
            </a:pPr>
            <a:r>
              <a:t>Telemetry-driven: measure, learn, adapt in near real time.</a:t>
            </a:r>
          </a:p>
        </p:txBody>
      </p:sp>
    </p:spTree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1F497D"/>
      </a:dk2>
      <a:lt2>
        <a:srgbClr val="EEECE1"/>
      </a:lt2>
      <a:accent1>
        <a:srgbClr val="4F81BD"/>
      </a:accent1>
      <a:accent2>
        <a:srgbClr val="C0504D"/>
      </a:accent2>
      <a:accent3>
        <a:srgbClr val="9BBB59"/>
      </a:accent3>
      <a:accent4>
        <a:srgbClr val="8064A2"/>
      </a:accent4>
      <a:accent5>
        <a:srgbClr val="4BACC6"/>
      </a:accent5>
      <a:accent6>
        <a:srgbClr val="F79646"/>
      </a:accent6>
      <a:hlink>
        <a:srgbClr val="0000FF"/>
      </a:hlink>
      <a:folHlink>
        <a:srgbClr val="800080"/>
      </a:folHlink>
    </a:clrScheme>
    <a:fontScheme name="Office">
      <a:maj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tint val="100000"/>
                <a:shade val="100000"/>
                <a:satMod val="130000"/>
              </a:schemeClr>
            </a:gs>
            <a:gs pos="100000">
              <a:schemeClr val="phClr">
                <a:tint val="50000"/>
                <a:shade val="100000"/>
                <a:satMod val="350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>
    <a:spDef>
      <a:spPr/>
      <a:bodyPr/>
      <a:lstStyle/>
      <a:style>
        <a:lnRef idx="1">
          <a:schemeClr val="accent1"/>
        </a:lnRef>
        <a:fillRef idx="3">
          <a:schemeClr val="accent1"/>
        </a:fillRef>
        <a:effectRef idx="2">
          <a:schemeClr val="accent1"/>
        </a:effectRef>
        <a:fontRef idx="minor">
          <a:schemeClr val="lt1"/>
        </a:fontRef>
      </a:style>
    </a:spDef>
    <a:lnDef>
      <a:spPr/>
      <a:bodyPr/>
      <a:lstStyle/>
      <a:style>
        <a:lnRef idx="2">
          <a:schemeClr val="accent1"/>
        </a:lnRef>
        <a:fillRef idx="0">
          <a:schemeClr val="accent1"/>
        </a:fillRef>
        <a:effectRef idx="1">
          <a:schemeClr val="accent1"/>
        </a:effectRef>
        <a:fontRef idx="minor">
          <a:schemeClr val="tx1"/>
        </a:fontRef>
      </a:style>
    </a:lnDef>
  </a:objectDefaults>
  <a:extraClrSchemeLst/>
</a:theme>
</file>

<file path=docProps/app.xml><?xml version="1.0" encoding="utf-8"?>
<Properties xmlns="http://schemas.openxmlformats.org/officeDocument/2006/extended-properties" xmlns:vt="http://schemas.openxmlformats.org/officeDocument/2006/docPropsVTypes">
  <TotalTime>1</TotalTime>
  <Words>0</Words>
  <Application>Microsoft Macintosh PowerPoint</Application>
  <PresentationFormat>On-screen Show (4:3)</PresentationFormat>
  <Paragraphs>0</Paragraphs>
  <Slides>0</Slides>
  <Notes>0</Notes>
  <HiddenSlides>0</HiddenSlides>
  <MMClips>0</MMClips>
  <ScaleCrop>false</ScaleCrop>
  <HeadingPairs>
    <vt:vector size="4" baseType="variant">
      <vt:variant>
        <vt:lpstr>Theme</vt:lpstr>
      </vt:variant>
      <vt:variant>
        <vt:i4>1</vt:i4>
      </vt:variant>
      <vt:variant>
        <vt:lpstr>Slide Titles</vt:lpstr>
      </vt:variant>
      <vt:variant>
        <vt:i4>0</vt:i4>
      </vt:variant>
    </vt:vector>
  </HeadingPairs>
  <TitlesOfParts>
    <vt:vector size="1" baseType="lpstr">
      <vt:lpstr>Office Theme</vt:lpstr>
    </vt:vector>
  </TitlesOfParts>
  <Manager/>
  <Company/>
  <LinksUpToDate>false</LinksUpToDate>
  <SharedDoc>false</SharedDoc>
  <HyperlinkBase/>
  <HyperlinksChanged>false</HyperlinksChanged>
  <AppVersion>14.0000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/>
  <dc:subject/>
  <dc:creator/>
  <cp:keywords/>
  <dc:description>generated using python-pptx</dc:description>
  <cp:lastModifiedBy>Steve Canny</cp:lastModifiedBy>
  <cp:revision>1</cp:revision>
  <dcterms:created xsi:type="dcterms:W3CDTF">2013-01-27T09:14:16Z</dcterms:created>
  <dcterms:modified xsi:type="dcterms:W3CDTF">2013-01-27T09:15:58Z</dcterms:modified>
  <cp:category/>
</cp:coreProperties>
</file>