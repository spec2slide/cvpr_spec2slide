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Maturity Model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3366"/>
                </a:solidFill>
              </a:defRPr>
            </a:pPr>
            <a:r>
              <a:t>Pillars: Identity, Devices, Network, Applications, Data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Levels: 1. Initial 2. Developing 3. Advanced 4. Optimized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64008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3366"/>
                </a:solidFill>
              </a:defRPr>
            </a:pPr>
            <a:r>
              <a:t>Current Scores: Identity=2, Devices=1, Network=1, Applications=1, Data=1</a:t>
            </a:r>
          </a:p>
          <a:p>
            <a:pPr>
              <a:defRPr sz="2000">
                <a:solidFill>
                  <a:srgbClr val="003366"/>
                </a:solidFill>
              </a:defRPr>
            </a:pPr>
            <a:r>
              <a:t>Target (12 months): Identity=3, Devices=3, Network=3, Applications=2, Data=3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3716000" cy="146304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br/>
            <a:pPr>
              <a:defRPr sz="1800" b="0">
                <a:solidFill>
                  <a:srgbClr val="000000"/>
                </a:solidFill>
              </a:defRPr>
            </a:pPr>
            <a:r>
              <a:t>Assessment Criteria:</a:t>
            </a:r>
            <a:br/>
            <a:r>
              <a:t>- Identity: SSO coverage, MFA strength, Risk signals, PAM/JIT</a:t>
            </a:r>
            <a:br/>
            <a:r>
              <a:t>- Devices: Managed coverage, Posture gates, Cert identity, Patch SLAs</a:t>
            </a:r>
            <a:br/>
            <a:r>
              <a:t>- Network: ZTNA coverage, Microsegments, Egress policy, NAC posture</a:t>
            </a:r>
            <a:br/>
            <a:r>
              <a:t>- Applications: Service identity, AuthZ externalized, mTLS/API gateway, Legacy mitigation</a:t>
            </a:r>
            <a:br/>
            <a:r>
              <a:t>- Data: Classification, Encryption-by-default, DLP efficacy, Access governance</a:t>
            </a:r>
            <a:br/>
          </a:p>
        </p:txBody>
      </p:sp>
      <p:pic>
        <p:nvPicPr>
          <p:cNvPr id="6" name="Picture 5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0"/>
            <a:ext cx="1371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