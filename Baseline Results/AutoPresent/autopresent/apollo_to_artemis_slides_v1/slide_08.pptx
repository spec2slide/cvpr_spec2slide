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CC0000"/>
                </a:solidFill>
              </a:defRPr>
            </a:pPr>
            <a:r>
              <a:t>Risk: Heat shield/charring behavior in high-energy reentry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6633"/>
                </a:solidFill>
              </a:defRPr>
            </a:pPr>
            <a:r>
              <a:t>Mitigation: Design refinements; arc-jet/flight-like test coupons; instrumented reentry data closeout before crewed flight.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7040880" y="1463040"/>
            <a:ext cx="1371600" cy="127000"/>
          </a:xfrm>
          <a:prstGeom prst="rightArrow">
            <a:avLst/>
          </a:prstGeom>
          <a:solidFill>
            <a:srgbClr val="FFCC00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CC0000"/>
                </a:solidFill>
              </a:defRPr>
            </a:pPr>
            <a:r>
              <a:t>Risk: Deep-space radiation exposure (SPEs, GCRs)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6633"/>
                </a:solidFill>
              </a:defRPr>
            </a:pPr>
            <a:r>
              <a:t>Mitigation: Storm shelters; passive materials; mission timing; dosimetry and operational constraints.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40880" y="2377440"/>
            <a:ext cx="1371600" cy="127000"/>
          </a:xfrm>
          <a:prstGeom prst="rightArrow">
            <a:avLst/>
          </a:prstGeom>
          <a:solidFill>
            <a:srgbClr val="FFCC00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CC0000"/>
                </a:solidFill>
              </a:defRPr>
            </a:pPr>
            <a:r>
              <a:t>Risk: Lunar landing precision and hazard avoidance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6633"/>
                </a:solidFill>
              </a:defRPr>
            </a:pPr>
            <a:r>
              <a:t>Mitigation: TRN, autonomous hazard detection, rehearsals with uncrewed demos and sims.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40880" y="3291840"/>
            <a:ext cx="1371600" cy="127000"/>
          </a:xfrm>
          <a:prstGeom prst="rightArrow">
            <a:avLst/>
          </a:prstGeom>
          <a:solidFill>
            <a:srgbClr val="FFCC00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CC0000"/>
                </a:solidFill>
              </a:defRPr>
            </a:pPr>
            <a:r>
              <a:t>Risk: On-orbit cryogenic propellant transfer for HLS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6633"/>
                </a:solidFill>
              </a:defRPr>
            </a:pPr>
            <a:r>
              <a:t>Mitigation: Incremental demos; boil-off control; multi-tanker architecture with ground test correlation.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40880" y="4206240"/>
            <a:ext cx="1371600" cy="127000"/>
          </a:xfrm>
          <a:prstGeom prst="rightArrow">
            <a:avLst/>
          </a:prstGeom>
          <a:solidFill>
            <a:srgbClr val="FFCC00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CC0000"/>
                </a:solidFill>
              </a:defRPr>
            </a:pPr>
            <a:r>
              <a:t>Risk: Integration/schedule complexity across providers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029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6633"/>
                </a:solidFill>
              </a:defRPr>
            </a:pPr>
            <a:r>
              <a:t>Mitigation: Interface control, phased verification, margin reserves, independent readiness reviews.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40880" y="5120640"/>
            <a:ext cx="1371600" cy="127000"/>
          </a:xfrm>
          <a:prstGeom prst="rightArrow">
            <a:avLst/>
          </a:prstGeom>
          <a:solidFill>
            <a:srgbClr val="FFCC00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CC0000"/>
                </a:solidFill>
              </a:defRPr>
            </a:pPr>
            <a:r>
              <a:t>Risk: Budget volatility and policy shifts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943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6633"/>
                </a:solidFill>
              </a:defRPr>
            </a:pPr>
            <a:r>
              <a:t>Mitigation: Modular milestones, international cost-sharing, multi-year procurement strategies.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0880" y="6035040"/>
            <a:ext cx="1371600" cy="127000"/>
          </a:xfrm>
          <a:prstGeom prst="rightArrow">
            <a:avLst/>
          </a:prstGeom>
          <a:solidFill>
            <a:srgbClr val="FFCC00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