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International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ESA (Europe)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4C4C4C"/>
                </a:solidFill>
              </a:defRPr>
            </a:pPr>
            <a:r>
              <a:t>Orion European Service Module</a:t>
            </a:r>
          </a:p>
          <a:p>
            <a:pPr>
              <a:defRPr sz="1600">
                <a:solidFill>
                  <a:srgbClr val="4C4C4C"/>
                </a:solidFill>
              </a:defRPr>
            </a:pPr>
            <a:r>
              <a:t>Gateway modules (I‑HAB, ESPRIT)</a:t>
            </a:r>
          </a:p>
          <a:p>
            <a:pPr>
              <a:defRPr sz="1600">
                <a:solidFill>
                  <a:srgbClr val="4C4C4C"/>
                </a:solidFill>
              </a:defRPr>
            </a:pPr>
            <a:r>
              <a:t>Science payloads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JAXA (Japan)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4C4C4C"/>
                </a:solidFill>
              </a:defRPr>
            </a:pPr>
            <a:r>
              <a:t>Gateway life support/logistics (HTV‑X derivatives)</a:t>
            </a:r>
          </a:p>
          <a:p>
            <a:pPr>
              <a:defRPr sz="1600">
                <a:solidFill>
                  <a:srgbClr val="4C4C4C"/>
                </a:solidFill>
              </a:defRPr>
            </a:pPr>
            <a:r>
              <a:t>Lunar surface systems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CSA (Canada)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4C4C4C"/>
                </a:solidFill>
              </a:defRPr>
            </a:pPr>
            <a:r>
              <a:t>Canadarm3 for Gateway robotics</a:t>
            </a:r>
          </a:p>
          <a:p>
            <a:pPr>
              <a:defRPr sz="1600">
                <a:solidFill>
                  <a:srgbClr val="4C4C4C"/>
                </a:solidFill>
              </a:defRPr>
            </a:pPr>
            <a:r>
              <a:t>AI‑enabled autonomous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Commercial (U.S.)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4C4C4C"/>
                </a:solidFill>
              </a:defRPr>
            </a:pPr>
            <a:r>
              <a:t>HLS providers (e.g., Starship, Blue Moon)</a:t>
            </a:r>
          </a:p>
          <a:p>
            <a:pPr>
              <a:defRPr sz="1600">
                <a:solidFill>
                  <a:srgbClr val="4C4C4C"/>
                </a:solidFill>
              </a:defRPr>
            </a:pPr>
            <a:r>
              <a:t>CLPS lunar deliveries</a:t>
            </a:r>
          </a:p>
          <a:p>
            <a:pPr>
              <a:defRPr sz="1600">
                <a:solidFill>
                  <a:srgbClr val="4C4C4C"/>
                </a:solidFill>
              </a:defRPr>
            </a:pPr>
            <a:r>
              <a:t>Comms, nav, habitats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949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Artemis Accords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4C4C4C"/>
                </a:solidFill>
              </a:defRPr>
            </a:pPr>
            <a:r>
              <a:t>30+ signatories aligning on interoperability, transparency, safe operations</a:t>
            </a:r>
          </a:p>
        </p:txBody>
      </p:sp>
      <p:pic>
        <p:nvPicPr>
          <p:cNvPr id="13" name="Picture 12" descr="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371600"/>
            <a:ext cx="4572000" cy="4572000"/>
          </a:xfrm>
          <a:prstGeom prst="rect">
            <a:avLst/>
          </a:prstGeom>
        </p:spPr>
      </p:pic>
      <p:pic>
        <p:nvPicPr>
          <p:cNvPr id="14" name="Picture 13" descr="agency_bad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943600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