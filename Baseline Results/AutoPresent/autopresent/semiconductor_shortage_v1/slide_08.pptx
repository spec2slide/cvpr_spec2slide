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3600">
                <a:solidFill>
                  <a:srgbClr val="0066CC"/>
                </a:solidFill>
              </a:defRPr>
            </a:pPr>
            <a:r>
              <a:t>Mitigation Levers That 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286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0000"/>
                </a:solidFill>
              </a:defRPr>
            </a:pPr>
            <a:r>
              <a:t>Design Respins/Qualification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Pin-compatible alternates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Firmware abstraction layers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Relax non-critical specs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286000" cy="182880"/>
          </a:xfrm>
          <a:prstGeom prst="rect">
            <a:avLst/>
          </a:prstGeom>
          <a:solidFill>
            <a:srgbClr val="808080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FFFFFF"/>
                </a:solidFill>
              </a:defRPr>
            </a:pPr>
            <a:r>
              <a:t>NRE cost; validation time; regulatory requalification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2286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0000"/>
                </a:solidFill>
              </a:defRPr>
            </a:pPr>
            <a:r>
              <a:t>Dual/Multi-Sourcing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286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Second-source contracts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Multi-foundry strategies for standard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43200"/>
            <a:ext cx="2286000" cy="182880"/>
          </a:xfrm>
          <a:prstGeom prst="rect">
            <a:avLst/>
          </a:prstGeom>
          <a:solidFill>
            <a:srgbClr val="808080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FFFFFF"/>
                </a:solidFill>
              </a:defRPr>
            </a:pPr>
            <a:r>
              <a:t>Die/package differences; performance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2286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0000"/>
                </a:solidFill>
              </a:defRPr>
            </a:pPr>
            <a:r>
              <a:t>Inventory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286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Strategic safety stocks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Die banking at OSAT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VMI/consignment with distributors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2286000" cy="182880"/>
          </a:xfrm>
          <a:prstGeom prst="rect">
            <a:avLst/>
          </a:prstGeom>
          <a:solidFill>
            <a:srgbClr val="808080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FFFFFF"/>
                </a:solidFill>
              </a:defRPr>
            </a:pPr>
            <a:r>
              <a:t>Carrying cost; obsolescence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371600"/>
            <a:ext cx="2286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0000"/>
                </a:solidFill>
              </a:defRPr>
            </a:pPr>
            <a:r>
              <a:t>Commercial Agreements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828800"/>
            <a:ext cx="2286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LTAs with CTB clauses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Capacity reservations; prepaid wafers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743200"/>
            <a:ext cx="2286000" cy="182880"/>
          </a:xfrm>
          <a:prstGeom prst="rect">
            <a:avLst/>
          </a:prstGeom>
          <a:solidFill>
            <a:srgbClr val="808080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FFFFFF"/>
                </a:solidFill>
              </a:defRPr>
            </a:pPr>
            <a:r>
              <a:t>Prepay exposure; take-or-pay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0" y="1371600"/>
            <a:ext cx="2286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0000"/>
                </a:solidFill>
              </a:defRPr>
            </a:pPr>
            <a:r>
              <a:t>Demand Shaping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1828800"/>
            <a:ext cx="22860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SKU rationalization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Feature de-optioning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Build-ahead critical subassemblies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0" y="2743200"/>
            <a:ext cx="2286000" cy="182880"/>
          </a:xfrm>
          <a:prstGeom prst="rect">
            <a:avLst/>
          </a:prstGeom>
          <a:solidFill>
            <a:srgbClr val="808080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FFFFFF"/>
                </a:solidFill>
              </a:defRPr>
            </a:pPr>
            <a:r>
              <a:t>Revenue mix impact; change management</a:t>
            </a:r>
          </a:p>
        </p:txBody>
      </p:sp>
      <p:pic>
        <p:nvPicPr>
          <p:cNvPr id="18" name="Picture 17" descr="wr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486400"/>
            <a:ext cx="914400" cy="914400"/>
          </a:xfrm>
          <a:prstGeom prst="rect">
            <a:avLst/>
          </a:prstGeom>
        </p:spPr>
      </p:pic>
      <p:pic>
        <p:nvPicPr>
          <p:cNvPr id="19" name="Picture 18" descr="wr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486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