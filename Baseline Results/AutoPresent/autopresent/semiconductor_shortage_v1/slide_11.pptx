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0080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Resilience Playbook: From Firefighting to Foresight</a:t>
            </a:r>
          </a:p>
        </p:txBody>
      </p:sp>
      <p:pic>
        <p:nvPicPr>
          <p:cNvPr id="3" name="Picture 2" descr="blueprin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0080"/>
                </a:solidFill>
              </a:defRPr>
            </a:pPr>
            <a:r>
              <a:t>Governance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206240" cy="5029200"/>
          </a:xfrm>
          <a:prstGeom prst="rect">
            <a:avLst/>
          </a:prstGeom>
          <a:solidFill>
            <a:srgbClr val="FFFFF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Central BOM risk registry with part-to-node mapping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Allocation cockpit: confirmed-to-book (CTB), PPV, lead-time telemetry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Quarterly risk reviews with exec steering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0080"/>
                </a:solidFill>
              </a:defRPr>
            </a:pPr>
            <a:r>
              <a:t>Supply &amp; Commercial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4206240" cy="5029200"/>
          </a:xfrm>
          <a:prstGeom prst="rect">
            <a:avLst/>
          </a:prstGeom>
          <a:solidFill>
            <a:srgbClr val="FFFFF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LTA and capacity reservations for top 50 risk parts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Second-source roadmap; dual OSAT where feasible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Supplier segmentation and joint recovery drills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0080"/>
                </a:solidFill>
              </a:defRPr>
            </a:pPr>
            <a:r>
              <a:t>Engineering &amp;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828800"/>
            <a:ext cx="4206240" cy="5029200"/>
          </a:xfrm>
          <a:prstGeom prst="rect">
            <a:avLst/>
          </a:prstGeom>
          <a:solidFill>
            <a:srgbClr val="FFFFF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Alternate-approved parts list (AAPL) and design abstraction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DFM standards for package/pinout/voltage agility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Qualification fast lanes for non-safety critical SKUs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040880"/>
            <a:ext cx="2743200" cy="274320"/>
          </a:xfrm>
          <a:prstGeom prst="rect">
            <a:avLst/>
          </a:prstGeom>
          <a:solidFill>
            <a:srgbClr val="FFFFF0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80"/>
                </a:solidFill>
              </a:defRPr>
            </a:pPr>
            <a:r>
              <a:t>Quick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315200"/>
            <a:ext cx="6400800" cy="914400"/>
          </a:xfrm>
          <a:prstGeom prst="rect">
            <a:avLst/>
          </a:prstGeom>
          <a:solidFill>
            <a:srgbClr val="FFFFF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SKU rationalization of low-velocity variants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Safety stock tiers by criticality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Transparent EAU forecasts to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8229600"/>
            <a:ext cx="2743200" cy="274320"/>
          </a:xfrm>
          <a:prstGeom prst="rect">
            <a:avLst/>
          </a:prstGeom>
          <a:solidFill>
            <a:srgbClr val="000080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Foundational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503920"/>
            <a:ext cx="8229600" cy="914400"/>
          </a:xfrm>
          <a:prstGeom prst="rect">
            <a:avLst/>
          </a:prstGeom>
          <a:solidFill>
            <a:srgbClr val="00008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Node-diversified platforms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AP-enabled planning (event-driven)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Advanced test capacity buffers</a:t>
            </a:r>
          </a:p>
        </p:txBody>
      </p:sp>
      <p:pic>
        <p:nvPicPr>
          <p:cNvPr id="14" name="Picture 13" descr="shield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0"/>
            <a:ext cx="914400" cy="914400"/>
          </a:xfrm>
          <a:prstGeom prst="rect">
            <a:avLst/>
          </a:prstGeom>
        </p:spPr>
      </p:pic>
      <p:pic>
        <p:nvPicPr>
          <p:cNvPr id="15" name="Picture 14" descr="network_line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