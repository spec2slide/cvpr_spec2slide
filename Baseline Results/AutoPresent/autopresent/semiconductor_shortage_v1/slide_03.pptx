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2743200" cy="914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66CC"/>
                </a:solidFill>
              </a:defRPr>
            </a:pPr>
            <a:r>
              <a:t>Pandemic and operations: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743200" cy="1828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  <a:r>
              <a:t>COVID demand whiplash: early auto cancellations, then sharp rebound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Factory disruptions: lockdowns; Texas freeze (2021); Japan fab fire; Malaysia OSAT lockdowns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57200"/>
            <a:ext cx="2743200" cy="914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CC66"/>
                </a:solidFill>
              </a:defRPr>
            </a:pPr>
            <a:r>
              <a:t>Demand mix shift: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0"/>
            <a:ext cx="2743200" cy="1828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  <a:r>
              <a:t>Work-from-home surge (PCs, networking, data center)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Automotive electrification/ADAS content up; consoles/GPUs cycles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2743200" cy="914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CC0066"/>
                </a:solidFill>
              </a:defRPr>
            </a:pPr>
            <a:r>
              <a:t>Industry structure: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2743200" cy="1828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  <a:r>
              <a:t>Tight mature-node capacity (90–28nm, 8-inch lines) for MCUs/analog/power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Long equipment lead times; capex prioritized at advanced nodes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114800"/>
            <a:ext cx="2743200" cy="914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CC6600"/>
                </a:solidFill>
              </a:defRPr>
            </a:pPr>
            <a:r>
              <a:t>Geopolitics and policy: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754880"/>
            <a:ext cx="2743200" cy="1828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  <a:r>
              <a:t>Export controls and licensing scrutiny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Logistics constraints and component allocation practices</a:t>
            </a:r>
          </a:p>
        </p:txBody>
      </p:sp>
      <p:pic>
        <p:nvPicPr>
          <p:cNvPr id="11" name="Picture 10" descr="viru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731520"/>
            <a:ext cx="457200" cy="457200"/>
          </a:xfrm>
          <a:prstGeom prst="rect">
            <a:avLst/>
          </a:prstGeom>
        </p:spPr>
      </p:pic>
      <p:pic>
        <p:nvPicPr>
          <p:cNvPr id="12" name="Picture 11" descr="chart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731520"/>
            <a:ext cx="457200" cy="457200"/>
          </a:xfrm>
          <a:prstGeom prst="rect">
            <a:avLst/>
          </a:prstGeom>
        </p:spPr>
      </p:pic>
      <p:pic>
        <p:nvPicPr>
          <p:cNvPr id="13" name="Picture 12" descr="factory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4572000"/>
            <a:ext cx="457200" cy="457200"/>
          </a:xfrm>
          <a:prstGeom prst="rect">
            <a:avLst/>
          </a:prstGeom>
        </p:spPr>
      </p:pic>
      <p:pic>
        <p:nvPicPr>
          <p:cNvPr id="14" name="Picture 13" descr="globe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45720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