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FF4500"/>
                </a:solidFill>
              </a:defRPr>
            </a:pPr>
            <a:r>
              <a:t>Climate Risk Hotspots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66CC"/>
                </a:solidFill>
              </a:defRPr>
            </a:pPr>
            <a:r>
              <a:t>Rising temperatures shifting suitable altitude (~300 m per °C)</a:t>
            </a:r>
          </a:p>
          <a:p>
            <a:pPr>
              <a:defRPr sz="1800">
                <a:solidFill>
                  <a:srgbClr val="0066CC"/>
                </a:solidFill>
              </a:defRPr>
            </a:pPr>
            <a:r>
              <a:t>Rainfall variability and drought stress</a:t>
            </a:r>
          </a:p>
          <a:p>
            <a:pPr>
              <a:defRPr sz="1800">
                <a:solidFill>
                  <a:srgbClr val="0066CC"/>
                </a:solidFill>
              </a:defRPr>
            </a:pPr>
            <a:r>
              <a:t>Pest/disease pressure (coffee leaf rust, berry borer)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6400800" cy="2286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66CC"/>
                </a:solidFill>
              </a:defRPr>
            </a:pPr>
            <a:r>
              <a:t>Region: Central America (1,000–1,600 m)</a:t>
            </a:r>
            <a:br/>
            <a:r>
              <a:t>Risks: Rust resurgence, drought; suitability loss by 2050</a:t>
            </a:r>
          </a:p>
          <a:p>
            <a:pPr>
              <a:defRPr sz="1800">
                <a:solidFill>
                  <a:srgbClr val="0066CC"/>
                </a:solidFill>
              </a:defRPr>
            </a:pPr>
            <a:r>
              <a:t>Region: Ethiopia highlands</a:t>
            </a:r>
            <a:br/>
            <a:r>
              <a:t>Risks: Suitability migration upslope; biodiversity trade-offs</a:t>
            </a:r>
          </a:p>
          <a:p>
            <a:pPr>
              <a:defRPr sz="1800">
                <a:solidFill>
                  <a:srgbClr val="0066CC"/>
                </a:solidFill>
              </a:defRPr>
            </a:pPr>
            <a:r>
              <a:t>Region: Brazil (Minas Gerais)</a:t>
            </a:r>
            <a:br/>
            <a:r>
              <a:t>Risks: Heat waves, irregular rainfall; irrigation demand rising</a:t>
            </a:r>
          </a:p>
          <a:p>
            <a:pPr>
              <a:defRPr sz="1800">
                <a:solidFill>
                  <a:srgbClr val="0066CC"/>
                </a:solidFill>
              </a:defRPr>
            </a:pPr>
            <a:r>
              <a:t>Region: Vietnam Central Highlands</a:t>
            </a:r>
            <a:br/>
            <a:r>
              <a:t>Risks: Water scarcity; robusta heat tolerance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6858000" cy="21945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5522"/>
                </a:solidFill>
              </a:defRPr>
            </a:pPr>
            <a:r>
              <a:t>Map spec:</a:t>
            </a:r>
            <a:br/>
            <a:r>
              <a:t>Type: hexbin risk overlay</a:t>
            </a:r>
            <a:br/>
            <a:r>
              <a:t>Risk index: 1 (low) to 5 (very high)</a:t>
            </a:r>
            <a:br/>
            <a:r>
              <a:t>Scenario: 2030 &amp; 2050 overlays (SSP2-4.5)</a:t>
            </a:r>
            <a:br/>
            <a:r>
              <a:t>Layers:</a:t>
            </a:r>
            <a:br/>
            <a:r>
              <a:t>  - Temperature anomaly</a:t>
            </a:r>
            <a:br/>
            <a:r>
              <a:t>  - Water deficit</a:t>
            </a:r>
            <a:br/>
            <a:r>
              <a:t>  - Pest pressure 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657600"/>
            <a:ext cx="6858000" cy="23042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5522"/>
                </a:solidFill>
              </a:defRPr>
            </a:pPr>
            <a:r>
              <a:t>Chart spec:</a:t>
            </a:r>
            <a:br/>
            <a:r>
              <a:t>Type: line</a:t>
            </a:r>
            <a:br/>
            <a:r>
              <a:t>Title: Suitability vs Altitude</a:t>
            </a:r>
            <a:br/>
            <a:r>
              <a:t>Series:</a:t>
            </a:r>
            <a:br/>
            <a:r>
              <a:t>  - 2020</a:t>
            </a:r>
            <a:br/>
            <a:r>
              <a:t>  - 2030</a:t>
            </a:r>
            <a:br/>
            <a:r>
              <a:t>  - 2050</a:t>
            </a:r>
            <a:br/>
            <a:r>
              <a:t>X axis: Altitude (m)</a:t>
            </a:r>
            <a:br/>
            <a:r>
              <a:t>Y axis: Suitability score (0–1)</a:t>
            </a:r>
          </a:p>
        </p:txBody>
      </p:sp>
      <p:pic>
        <p:nvPicPr>
          <p:cNvPr id="7" name="Picture 6" descr="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0"/>
            <a:ext cx="1280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