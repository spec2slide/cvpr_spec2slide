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66CC"/>
          </a:solidFill>
        </p:spPr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Certification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400800" cy="120700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Schemes:</a:t>
            </a:r>
            <a:br/>
            <a:r>
              <a:t>1. Fairtrade</a:t>
            </a:r>
            <a:br/>
            <a:r>
              <a:t>   - Focus: Price floor + premium, Worker rights</a:t>
            </a:r>
            <a:br/>
            <a:r>
              <a:t>   - Traceability: Batch/lot</a:t>
            </a:r>
            <a:br/>
            <a:r>
              <a:t>   - Deforestation free: Increasingly required</a:t>
            </a:r>
            <a:br/>
            <a:r>
              <a:t>2. Rainforest Alliance (UTZ)</a:t>
            </a:r>
            <a:br/>
            <a:r>
              <a:t>   - Focus: Biodiversity, Climate-smart practices</a:t>
            </a:r>
            <a:br/>
            <a:r>
              <a:t>   - Traceability: Mass balance or IP</a:t>
            </a:r>
            <a:br/>
            <a:r>
              <a:t>   - Deforestation free: Yes (criteria)</a:t>
            </a:r>
            <a:br/>
            <a:r>
              <a:t>3. Organic</a:t>
            </a:r>
            <a:br/>
            <a:r>
              <a:t>   - Focus: No synthetic inputs</a:t>
            </a:r>
            <a:br/>
            <a:r>
              <a:t>   - Traceability: Certified chain</a:t>
            </a:r>
            <a:br/>
            <a:r>
              <a:t>   - Deforestation free: Implicit, not universal</a:t>
            </a:r>
            <a:br/>
            <a:r>
              <a:t>4. 4C</a:t>
            </a:r>
            <a:br/>
            <a:r>
              <a:t>   - Focus: Baseline good practices</a:t>
            </a:r>
            <a:br/>
            <a:r>
              <a:t>   - Traceability: Mass balance</a:t>
            </a:r>
            <a:br/>
            <a:r>
              <a:t>   - Deforestation free: Baseline checks</a:t>
            </a:r>
            <a:br/>
            <a:r>
              <a:t>5. Direct Trade (var.)</a:t>
            </a:r>
            <a:br/>
            <a:r>
              <a:t>   - Focus: Relationship, quality premiums</a:t>
            </a:r>
            <a:br/>
            <a:r>
              <a:t>   - Traceability: Often strong, non-standardized</a:t>
            </a:r>
            <a:br/>
            <a:r>
              <a:t>   - Deforestation free: Buyer policy dependent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7315200" y="914400"/>
            <a:ext cx="6858000" cy="16002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Coverage by Volume Est:</a:t>
            </a:r>
            <a:br/>
            <a:r>
              <a:t>- Rainforest/UTZ: 20–25%</a:t>
            </a:r>
            <a:br/>
            <a:r>
              <a:t>- 4C: 10–15%</a:t>
            </a:r>
            <a:br/>
            <a:r>
              <a:t>- Organic: 7–8%</a:t>
            </a:r>
            <a:br/>
            <a:r>
              <a:t>- Fairtrade: 5–6%</a:t>
            </a:r>
            <a:br/>
            <a:r>
              <a:t>- Uncertified/Other: 50%+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7315200" y="3200400"/>
            <a:ext cx="6858000" cy="32004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Matrix Spec:</a:t>
            </a:r>
            <a:br/>
            <a:r>
              <a:t>- Type: Criteria matrix</a:t>
            </a:r>
            <a:br/>
            <a:r>
              <a:t>- Rows: Fairtrade, RA/UTZ, Organic, 4C, Direct Trade</a:t>
            </a:r>
            <a:br/>
            <a:r>
              <a:t>- Columns: Price/Premium, Biodiversity, Social, Deforestation-free, Traceability</a:t>
            </a:r>
            <a:br/>
            <a:r>
              <a:t>- Encoding: Check/Partial/Blank; tooltips with notes</a:t>
            </a:r>
            <a:br/>
            <a:r>
              <a:t>Notes:</a:t>
            </a:r>
            <a:br/>
            <a:r>
              <a:t>- Schemes evolve; many buyers blend certifications with proprietary supplier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