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F5F5F5"/>
          </a:solidFill>
        </p:spPr>
        <p:txBody>
          <a:bodyPr/>
          <a:lstStyle/>
          <a:p>
            <a:pPr>
              <a:defRPr sz="4400">
                <a:solidFill>
                  <a:srgbClr val="0066FF"/>
                </a:solidFill>
              </a:defRPr>
            </a:pPr>
            <a:r>
              <a:t>Life Cycle Assessment (LCA): From Farm to Cup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3716000" cy="457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2000" b="0">
                <a:solidFill>
                  <a:srgbClr val="000000"/>
                </a:solidFill>
              </a:defRPr>
            </a:pPr>
            <a:r>
              <a:t>Functional unit: One 250 ml cup, black coffee (no milk).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3716000" cy="457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2000" b="0">
                <a:solidFill>
                  <a:srgbClr val="000000"/>
                </a:solidFill>
              </a:defRPr>
            </a:pPr>
            <a:r>
              <a:t>System boundary: Farm inputs, processing, transport, roasting, packaging, retail, consumer brewing, end-of-life.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5029200" cy="11430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000000"/>
                </a:solidFill>
              </a:defRPr>
            </a:pPr>
            <a:r>
              <a:t>Black cup: ≈0.21 kg CO2e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With 30ml milk: ≈0.34 kg CO2e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Latte 200ml milk: ≈0.9 kg CO2e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5029200" cy="20574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normAutofit/>
          </a:bodyPr>
          <a:lstStyle/>
          <a:p/>
          <a:p>
            <a:pPr>
              <a:defRPr sz="2000">
                <a:solidFill>
                  <a:srgbClr val="000000"/>
                </a:solidFill>
              </a:defRPr>
            </a:pPr>
            <a:r>
              <a:t>Stage: Farm/inputs/land mgmt, Share: 45%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Stage: Roasting, Share: 6%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Stage: Packaging, Share: 6%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Stage: Transport (origin→market), Share: 5%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Stage: Retail/last-mile, Share: 3%</a:t>
            </a:r>
          </a:p>
          <a:p>
            <a:pPr>
              <a:defRPr sz="2000">
                <a:solidFill>
                  <a:srgbClr val="000000"/>
                </a:solidFill>
              </a:defRPr>
            </a:pPr>
            <a:r>
              <a:t>Stage: Consumer brewing energy, Share: 35%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3716000" cy="457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2000" b="0">
                <a:solidFill>
                  <a:srgbClr val="000000"/>
                </a:solidFill>
              </a:defRPr>
            </a:pPr>
            <a:r>
              <a:t>Water footprint note: Large green water (rain) component; blue water hotspots in irrigated regions (e.g., Brazil, Vietnam).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13716000" cy="457200"/>
          </a:xfrm>
          <a:prstGeom prst="rect">
            <a:avLst/>
          </a:prstGeom>
          <a:solidFill>
            <a:srgbClr val="F5F5F5"/>
          </a:solidFill>
        </p:spPr>
        <p:txBody>
          <a:bodyPr wrap="square">
            <a:spAutoFit/>
          </a:bodyPr>
          <a:lstStyle/>
          <a:p/>
          <a:p>
            <a:pPr>
              <a:defRPr sz="1600" b="0">
                <a:solidFill>
                  <a:srgbClr val="808080"/>
                </a:solidFill>
              </a:defRPr>
            </a:pPr>
            <a:r>
              <a:t>Notes: Indicative factors; actuals vary by farming practice, energy mix, brewing method, and serving size.</a:t>
            </a:r>
          </a:p>
        </p:txBody>
      </p:sp>
      <p:pic>
        <p:nvPicPr>
          <p:cNvPr id="9" name="Picture 8" descr="icon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1828800"/>
            <a:ext cx="914400" cy="914400"/>
          </a:xfrm>
          <a:prstGeom prst="rect">
            <a:avLst/>
          </a:prstGeom>
        </p:spPr>
      </p:pic>
      <p:pic>
        <p:nvPicPr>
          <p:cNvPr id="10" name="Picture 9" descr="icon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0" y="1828800"/>
            <a:ext cx="914400" cy="914400"/>
          </a:xfrm>
          <a:prstGeom prst="rect">
            <a:avLst/>
          </a:prstGeom>
        </p:spPr>
      </p:pic>
      <p:pic>
        <p:nvPicPr>
          <p:cNvPr id="11" name="Picture 10" descr="icon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3657600"/>
            <a:ext cx="914400" cy="914400"/>
          </a:xfrm>
          <a:prstGeom prst="rect">
            <a:avLst/>
          </a:prstGeom>
        </p:spPr>
      </p:pic>
      <p:pic>
        <p:nvPicPr>
          <p:cNvPr id="12" name="Picture 11" descr="icon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0" y="3657600"/>
            <a:ext cx="914400" cy="914400"/>
          </a:xfrm>
          <a:prstGeom prst="rect">
            <a:avLst/>
          </a:prstGeom>
        </p:spPr>
      </p:pic>
      <p:pic>
        <p:nvPicPr>
          <p:cNvPr id="13" name="Picture 12" descr="icon_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0" y="5486400"/>
            <a:ext cx="914400" cy="914400"/>
          </a:xfrm>
          <a:prstGeom prst="rect">
            <a:avLst/>
          </a:prstGeom>
        </p:spPr>
      </p:pic>
      <p:pic>
        <p:nvPicPr>
          <p:cNvPr id="14" name="Picture 13" descr="icon_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1600" y="5486400"/>
            <a:ext cx="914400" cy="914400"/>
          </a:xfrm>
          <a:prstGeom prst="rect">
            <a:avLst/>
          </a:prstGeom>
        </p:spPr>
      </p:pic>
      <p:pic>
        <p:nvPicPr>
          <p:cNvPr id="15" name="Picture 14" descr="icon_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87200" y="7315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