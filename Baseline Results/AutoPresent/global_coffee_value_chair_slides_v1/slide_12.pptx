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BEDCF0"/>
          </a:solidFill>
        </p:spPr>
        <p:txBody>
          <a:bodyPr/>
          <a:lstStyle/>
          <a:p>
            <a:pPr>
              <a:defRPr sz="3600">
                <a:solidFill>
                  <a:srgbClr val="003366"/>
                </a:solidFill>
              </a:defRPr>
            </a:pPr>
            <a:r>
              <a:t>Implementation Roadmap + Stakeholder Callouts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6858000" cy="93268800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spAutoFit/>
          </a:bodyPr>
          <a:lstStyle/>
          <a:p/>
          <a:p>
            <a:pPr>
              <a:defRPr sz="1000" b="0">
                <a:solidFill>
                  <a:srgbClr val="000000"/>
                </a:solidFill>
              </a:defRPr>
            </a:pPr>
            <a:r>
              <a:t>Phases:</a:t>
            </a:r>
            <a:br/>
            <a:br/>
            <a:r>
              <a:t>0–6 months:</a:t>
            </a:r>
            <a:br/>
            <a:r>
              <a:t>- Baseline: origin mapping, farm economics survey, emissions inventory (GHG+water).</a:t>
            </a:r>
            <a:br/>
            <a:r>
              <a:t>- Supplier code and NDPE/deforestation due diligence live.</a:t>
            </a:r>
            <a:br/>
            <a:r>
              <a:t>- Pilot: shade/soil program in 2 co-ops; roast energy audit.</a:t>
            </a:r>
            <a:br/>
            <a:br/>
            <a:r>
              <a:t>6–18 months:</a:t>
            </a:r>
            <a:br/>
            <a:r>
              <a:t>- Scale agroforestry + soil health to 30% volume; finance via pre-harvest loans.</a:t>
            </a:r>
            <a:br/>
            <a:r>
              <a:t>- Install wet mill water recirculation/biogas in 3 hubs.</a:t>
            </a:r>
            <a:br/>
            <a:r>
              <a:t>- Roaster upgrades (heat recovery) + renewable PPAs.</a:t>
            </a:r>
            <a:br/>
            <a:r>
              <a:t>- Packaging switch to lightweight recyclable across SKUs.</a:t>
            </a:r>
            <a:br/>
            <a:br/>
            <a:r>
              <a:t>18–36 months:</a:t>
            </a:r>
            <a:br/>
            <a:r>
              <a:t>- 90% traceable volumes; deforestation-free verified.</a:t>
            </a:r>
            <a:br/>
            <a:r>
              <a:t>- Ocean freight decarb commitments (slow steaming, carrier selection).</a:t>
            </a:r>
            <a:br/>
            <a:r>
              <a:t>- Supplier performance-linked premiums; public progress report.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0" y="1371600"/>
            <a:ext cx="6858000" cy="5486400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normAutofit/>
          </a:bodyPr>
          <a:lstStyle/>
          <a:p/>
          <a:p>
            <a:pPr>
              <a:defRPr sz="1000">
                <a:solidFill>
                  <a:srgbClr val="000000"/>
                </a:solidFill>
              </a:defRPr>
            </a:pPr>
            <a:r>
              <a:t>Farmers/Co-ops:</a:t>
            </a:r>
            <a:br/>
            <a:r>
              <a:t>- Adopt shade/soil/IPM; share plot data for MRV; receive premiums/inputs.</a:t>
            </a:r>
          </a:p>
          <a:p>
            <a:pPr>
              <a:defRPr sz="1000">
                <a:solidFill>
                  <a:srgbClr val="000000"/>
                </a:solidFill>
              </a:defRPr>
            </a:pPr>
            <a:r>
              <a:t>Exporters/Importers:</a:t>
            </a:r>
            <a:br/>
            <a:r>
              <a:t>- Provide traceability docs; offer pre-finance; segregate lots.</a:t>
            </a:r>
          </a:p>
          <a:p>
            <a:pPr>
              <a:defRPr sz="1000">
                <a:solidFill>
                  <a:srgbClr val="000000"/>
                </a:solidFill>
              </a:defRPr>
            </a:pPr>
            <a:r>
              <a:t>Roasters:</a:t>
            </a:r>
            <a:br/>
            <a:r>
              <a:t>- Invest in efficiency; shift to renewables; publish specs to suppliers.</a:t>
            </a:r>
          </a:p>
          <a:p>
            <a:pPr>
              <a:defRPr sz="1000">
                <a:solidFill>
                  <a:srgbClr val="000000"/>
                </a:solidFill>
              </a:defRPr>
            </a:pPr>
            <a:r>
              <a:t>Retailers:</a:t>
            </a:r>
            <a:br/>
            <a:r>
              <a:t>- Commit to shelf standards; co-fund certifications; transparent pricing.</a:t>
            </a:r>
          </a:p>
          <a:p>
            <a:pPr>
              <a:defRPr sz="1000">
                <a:solidFill>
                  <a:srgbClr val="000000"/>
                </a:solidFill>
              </a:defRPr>
            </a:pPr>
            <a:r>
              <a:t>Certifiers/NGOs:</a:t>
            </a:r>
            <a:br/>
            <a:r>
              <a:t>- Streamline audits; align metrics; support training.</a:t>
            </a:r>
          </a:p>
          <a:p>
            <a:pPr>
              <a:defRPr sz="1000">
                <a:solidFill>
                  <a:srgbClr val="000000"/>
                </a:solidFill>
              </a:defRPr>
            </a:pPr>
            <a:r>
              <a:t>Financiers/DFIs:</a:t>
            </a:r>
            <a:br/>
            <a:r>
              <a:t>- Offer concessional credit and risk-sharing for smallholders.</a:t>
            </a:r>
          </a:p>
          <a:p>
            <a:pPr>
              <a:defRPr sz="1000">
                <a:solidFill>
                  <a:srgbClr val="000000"/>
                </a:solidFill>
              </a:defRPr>
            </a:pPr>
            <a:r>
              <a:t>Governments:</a:t>
            </a:r>
            <a:br/>
            <a:r>
              <a:t>- Land-use enforcement; climate-smart extension; water stewardship.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