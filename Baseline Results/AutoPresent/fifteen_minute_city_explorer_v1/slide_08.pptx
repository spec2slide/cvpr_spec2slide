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F0F0F0"/>
          </a:solidFill>
        </p:spPr>
        <p:txBody>
          <a:bodyPr/>
          <a:lstStyle/>
          <a:p>
            <a:pPr>
              <a:defRPr sz="3600">
                <a:solidFill>
                  <a:srgbClr val="003366"/>
                </a:solidFill>
              </a:defRPr>
            </a:pPr>
            <a:r>
              <a:t>Equity &amp; Accessibility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6400800" cy="3657600"/>
          </a:xfrm>
          <a:prstGeom prst="rect">
            <a:avLst/>
          </a:prstGeom>
          <a:solidFill>
            <a:srgbClr val="F0F0F0"/>
          </a:solidFill>
        </p:spPr>
        <p:txBody>
          <a:bodyPr wrap="square">
            <a:normAutofit/>
          </a:bodyPr>
          <a:lstStyle/>
          <a:p/>
          <a:p>
            <a:pPr>
              <a:defRPr sz="1400">
                <a:solidFill>
                  <a:srgbClr val="003366"/>
                </a:solidFill>
              </a:defRPr>
            </a:pPr>
            <a:r>
              <a:t>Invest first in underserved neighborhoods (access deserts).</a:t>
            </a:r>
          </a:p>
          <a:p>
            <a:pPr>
              <a:defRPr sz="1400">
                <a:solidFill>
                  <a:srgbClr val="003366"/>
                </a:solidFill>
              </a:defRPr>
            </a:pPr>
            <a:r>
              <a:t>Zero‑fare/transit discounts for low‑income riders and youth.</a:t>
            </a:r>
          </a:p>
          <a:p>
            <a:pPr>
              <a:defRPr sz="1400">
                <a:solidFill>
                  <a:srgbClr val="003366"/>
                </a:solidFill>
              </a:defRPr>
            </a:pPr>
            <a:r>
              <a:t>Anti‑displacement: community land trusts, right‑to‑return, rent stabilization tools.</a:t>
            </a:r>
          </a:p>
          <a:p>
            <a:pPr>
              <a:defRPr sz="1400">
                <a:solidFill>
                  <a:srgbClr val="003366"/>
                </a:solidFill>
              </a:defRPr>
            </a:pPr>
            <a:r>
              <a:t>Safe routes to school and late‑night worker corridors.</a:t>
            </a:r>
          </a:p>
          <a:p>
            <a:pPr>
              <a:defRPr sz="1400">
                <a:solidFill>
                  <a:srgbClr val="003366"/>
                </a:solidFill>
              </a:defRPr>
            </a:pPr>
            <a:r>
              <a:t>Community co‑design: multilingual workshops, stipends, childcare.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0"/>
            <a:ext cx="6400800" cy="2743200"/>
          </a:xfrm>
          <a:prstGeom prst="rect">
            <a:avLst/>
          </a:prstGeom>
          <a:solidFill>
            <a:srgbClr val="F0F0F0"/>
          </a:solidFill>
        </p:spPr>
        <p:txBody>
          <a:bodyPr wrap="square">
            <a:normAutofit/>
          </a:bodyPr>
          <a:lstStyle/>
          <a:p/>
          <a:p>
            <a:pPr>
              <a:defRPr sz="1400">
                <a:solidFill>
                  <a:srgbClr val="003366"/>
                </a:solidFill>
              </a:defRPr>
            </a:pPr>
            <a:r>
              <a:t>Continuous curb ramps and tactile guidance at crossings.</a:t>
            </a:r>
          </a:p>
          <a:p>
            <a:pPr>
              <a:defRPr sz="1400">
                <a:solidFill>
                  <a:srgbClr val="003366"/>
                </a:solidFill>
              </a:defRPr>
            </a:pPr>
            <a:r>
              <a:t>Audible signals; seating every 100–150 m; shade and lighting.</a:t>
            </a:r>
          </a:p>
          <a:p>
            <a:pPr>
              <a:defRPr sz="1400">
                <a:solidFill>
                  <a:srgbClr val="003366"/>
                </a:solidFill>
              </a:defRPr>
            </a:pPr>
            <a:r>
              <a:t>Step‑free building entries; wider doorways; at‑grade transit boarding.</a:t>
            </a:r>
          </a:p>
        </p:txBody>
      </p:sp>
      <p:pic>
        <p:nvPicPr>
          <p:cNvPr id="5" name="Picture 4" descr="equity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114800"/>
            <a:ext cx="6400800" cy="3200400"/>
          </a:xfrm>
          <a:prstGeom prst="rect">
            <a:avLst/>
          </a:prstGeom>
        </p:spPr>
      </p:pic>
      <p:pic>
        <p:nvPicPr>
          <p:cNvPr id="6" name="Picture 5" descr="street_accessibil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5943600"/>
            <a:ext cx="6400800" cy="1828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