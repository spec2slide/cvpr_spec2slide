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5F5F5"/>
          </a:solidFill>
        </p:spPr>
        <p:txBody>
          <a:bodyPr/>
          <a:lstStyle/>
          <a:p>
            <a:pPr>
              <a:defRPr sz="3600">
                <a:solidFill>
                  <a:srgbClr val="0066CC"/>
                </a:solidFill>
              </a:defRPr>
            </a:pPr>
            <a:r>
              <a:t>Case Studies: Paris &amp; Melbourne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400800" cy="13716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000000"/>
                </a:solidFill>
              </a:defRPr>
            </a:pPr>
            <a:r>
              <a:t>Paris Approach: Citywide proximity strategy—school street closures, bike network expansion, local services, and 30 km/h default on most streets.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6400800" cy="13716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‘Rues aux écoles’ (car‑lite school streets)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Neighborhood‑scale amenities and micro‑hubs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Protected cycleways connecting arrondissements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6400800" cy="914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960000"/>
                </a:solidFill>
              </a:defRPr>
            </a:pPr>
            <a:r>
              <a:t>Pair quick‑build trials with permanent upgrades; communicate benefits at the block 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6400800" cy="13716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000000"/>
                </a:solidFill>
              </a:defRPr>
            </a:pPr>
            <a:r>
              <a:t>Melbourne Approach: ‘20‑minute neighborhoods’ within Plan Melbourne (walkable catchments to daily needs).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743200"/>
            <a:ext cx="6400800" cy="13716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Activity centers as anchors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Green links/laneways network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Health and aging‑in‑place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114800"/>
            <a:ext cx="6400800" cy="914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960000"/>
                </a:solidFill>
              </a:defRPr>
            </a:pPr>
            <a:r>
              <a:t>Use activity center hierarchy to stage investment; align with health outcomes.</a:t>
            </a:r>
          </a:p>
        </p:txBody>
      </p:sp>
      <p:pic>
        <p:nvPicPr>
          <p:cNvPr id="9" name="Picture 8" descr="pari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86400"/>
            <a:ext cx="6400800" cy="1828800"/>
          </a:xfrm>
          <a:prstGeom prst="rect">
            <a:avLst/>
          </a:prstGeom>
        </p:spPr>
      </p:pic>
      <p:pic>
        <p:nvPicPr>
          <p:cNvPr id="10" name="Picture 9" descr="melbourn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486400"/>
            <a:ext cx="64008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029200"/>
            <a:ext cx="13716000" cy="457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666666"/>
                </a:solidFill>
              </a:defRPr>
            </a:pPr>
            <a:r>
              <a:t>Programs evolve; shown features are illustrative.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