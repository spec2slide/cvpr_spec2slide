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0F0F0"/>
          </a:solidFill>
        </p:spPr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Regulatory Timeline (2016–2025)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normAutofit/>
          </a:bodyPr>
          <a:lstStyle/>
          <a:p/>
          <a:p>
            <a:pPr>
              <a:defRPr sz="1200">
                <a:solidFill>
                  <a:srgbClr val="000000"/>
                </a:solidFill>
              </a:defRPr>
            </a:pPr>
            <a:r>
              <a:t>2016 | EU | GDPR adopted — Privacy and data governance bedrock for AI training and deployment.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2017 | CN | Cybersecurity Law effective — Security, data localization foundations.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2019 | EU | AI Ethics Guidelines — High-Level Expert Group publishes trustworthy AI principles.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2021 | EU | EU AI Act proposed — Risk-based framework draft unveiled (Apr).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2022 | CN | Algorithm Recommendation Provisions — Filing, transparency, fairness requirements (Mar).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2023 | US | NIST AI RMF 1.0 — Voluntary risk management framework (Jan).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2023 | US | Executive Order 14110 — Safety, testing, reporting for powerful models; agency actions (Oct).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2023 | UK | Pro-Innovation Approach + AI Safety Summit — Principles-led strategy; UK AI Safety Institute launch.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2023 | EU | Political agreement on AI Act — Final trilogue deal (Dec).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2024 | US | OMB M-24-10 — US federal agencies: inventories, impact assessments, governance (Mar).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2024 | EU | AI Act adopted; phased application — Bans and GPAI duties begin first; high-risk obligations phase in through 2025–2026.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2023–2025 | CN | Deep Synthesis/GenAI Measures — Labeling, security review, and filing for generative services.</a:t>
            </a:r>
          </a:p>
        </p:txBody>
      </p:sp>
      <p:pic>
        <p:nvPicPr>
          <p:cNvPr id="4" name="Picture 3" descr="timelin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37160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