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Enforcement Caselets (Illustrative)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029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800">
                <a:solidFill>
                  <a:srgbClr val="000000"/>
                </a:solidFill>
              </a:defRPr>
            </a:pPr>
            <a:r>
              <a:t>US | 2023 | Regulator: FTC — Issue: Retail facial recognition harms (accuracy, false positives, inadequate controls). Outcome: Order restricting use; mandated safeguards and assessments; highlights UDAP risk for AI deployments.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EU (Italy) | 2023 | Regulator: Garante — Issue: LLM transparency, age-gating, and data rights. Outcome: Temporary restrictions lifted after remedial measures; signals strong transparency/data rights expectations.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US (NYC) | 2023–2024 | Regulator: DCWP — Issue: Automated employment decision tools (bias audit and notices). Outcome: Enforcement of bias audit and candidate disclosure requirements; employers adjust hiring AI workflows.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UK | 2022–2023 | Regulator: ICO — Issue: Facial recognition and web-scraped biometrics. Outcome: Orders and fines under data protection; subsequent appeals tested jurisdiction—signals scrutiny of biometric AI.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China | 2023–2024 | Regulator: CAC — Issue: Generative/deep synthesis services (labeling, filings). Outcome: Rectification and filing requirements before/after launch; emphasizes security review and content controls.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0"/>
            <a:ext cx="12801600" cy="9144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666666"/>
                </a:solidFill>
              </a:defRPr>
            </a:pPr>
            <a:r>
              <a:t>Note: Examples reflect applicable legal regimes (consumer protection, data protection, sector safety) used to police AI before/alongside AI-specific laws.</a:t>
            </a:r>
          </a:p>
        </p:txBody>
      </p:sp>
      <p:pic>
        <p:nvPicPr>
          <p:cNvPr id="5" name="Picture 4" descr="FTC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14400" cy="914400"/>
          </a:xfrm>
          <a:prstGeom prst="rect">
            <a:avLst/>
          </a:prstGeom>
        </p:spPr>
      </p:pic>
      <p:pic>
        <p:nvPicPr>
          <p:cNvPr id="6" name="Picture 5" descr="Garante_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914400"/>
            <a:ext cx="914400" cy="914400"/>
          </a:xfrm>
          <a:prstGeom prst="rect">
            <a:avLst/>
          </a:prstGeom>
        </p:spPr>
      </p:pic>
      <p:pic>
        <p:nvPicPr>
          <p:cNvPr id="7" name="Picture 6" descr="DCWP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914400"/>
            <a:ext cx="914400" cy="914400"/>
          </a:xfrm>
          <a:prstGeom prst="rect">
            <a:avLst/>
          </a:prstGeom>
        </p:spPr>
      </p:pic>
      <p:pic>
        <p:nvPicPr>
          <p:cNvPr id="8" name="Picture 7" descr="ICO_bad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914400"/>
            <a:ext cx="914400" cy="914400"/>
          </a:xfrm>
          <a:prstGeom prst="rect">
            <a:avLst/>
          </a:prstGeom>
        </p:spPr>
      </p:pic>
      <p:pic>
        <p:nvPicPr>
          <p:cNvPr id="9" name="Picture 8" descr="CAC_bad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