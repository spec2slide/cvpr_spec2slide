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4CAF50"/>
          </a:solidFill>
        </p:spPr>
        <p:txBody>
          <a:bodyPr/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6-Quarter Execution Plan (Q1–Q6)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Time frame: Q1 2024 –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657600" cy="365760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Workstreams:</a:t>
            </a:r>
            <a:br/>
            <a:r>
              <a:t>- Program setup &amp; governance</a:t>
            </a:r>
            <a:br/>
            <a:r>
              <a:t>- Data, baselining &amp; SBTi target</a:t>
            </a:r>
            <a:br/>
            <a:r>
              <a:t>- Efficiency (waves 1–3)</a:t>
            </a:r>
            <a:br/>
            <a:r>
              <a:t>- On-site solar + storage</a:t>
            </a:r>
            <a:br/>
            <a:r>
              <a:t>- VPPA procurement</a:t>
            </a:r>
            <a:br/>
            <a:r>
              <a:t>- Process electrification (FEED → install)</a:t>
            </a:r>
            <a:br/>
            <a:r>
              <a:t>- Waste heat recovery</a:t>
            </a:r>
            <a:br/>
            <a:r>
              <a:t>- Fleet &amp; logistics</a:t>
            </a:r>
            <a:br/>
            <a:r>
              <a:t>- Supplier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3657600" cy="7315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000000"/>
                </a:solidFill>
              </a:defRPr>
            </a:pPr>
            <a:r>
              <a:t>Key dependencies:</a:t>
            </a:r>
            <a:br/>
            <a:r>
              <a:t>- Utility interconnection approvals precede electrification installs</a:t>
            </a:r>
            <a:br/>
            <a:r>
              <a:t>- VPPA execution precedes 100% RE target</a:t>
            </a:r>
            <a:br/>
            <a:r>
              <a:t>- Supplier code and data templates precede Scope 3 reductions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3200400" cy="365760"/>
          </a:xfrm>
          <a:prstGeom prst="rect">
            <a:avLst/>
          </a:prstGeom>
          <a:solidFill>
            <a:srgbClr val="607D8B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3200400"/>
            <a:ext cx="3200400" cy="365760"/>
          </a:xfrm>
          <a:prstGeom prst="rect">
            <a:avLst/>
          </a:prstGeom>
          <a:solidFill>
            <a:srgbClr val="9E9E9E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3657600"/>
            <a:ext cx="3200400" cy="365760"/>
          </a:xfrm>
          <a:prstGeom prst="rect">
            <a:avLst/>
          </a:prstGeom>
          <a:solidFill>
            <a:srgbClr val="8BC34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4114800"/>
            <a:ext cx="3200400" cy="365760"/>
          </a:xfrm>
          <a:prstGeom prst="rect">
            <a:avLst/>
          </a:prstGeom>
          <a:solidFill>
            <a:srgbClr val="FFC107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4572000"/>
            <a:ext cx="3200400" cy="365760"/>
          </a:xfrm>
          <a:prstGeom prst="rect">
            <a:avLst/>
          </a:prstGeom>
          <a:solidFill>
            <a:srgbClr val="00BCD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5029200"/>
            <a:ext cx="3200400" cy="365760"/>
          </a:xfrm>
          <a:prstGeom prst="rect">
            <a:avLst/>
          </a:prstGeom>
          <a:solidFill>
            <a:srgbClr val="03A9F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5486400"/>
            <a:ext cx="3200400" cy="365760"/>
          </a:xfrm>
          <a:prstGeom prst="rect">
            <a:avLst/>
          </a:prstGeom>
          <a:solidFill>
            <a:srgbClr val="FF98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5943600"/>
            <a:ext cx="3200400" cy="365760"/>
          </a:xfrm>
          <a:prstGeom prst="rect">
            <a:avLst/>
          </a:prstGeom>
          <a:solidFill>
            <a:srgbClr val="00968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6400800"/>
            <a:ext cx="3200400" cy="365760"/>
          </a:xfrm>
          <a:prstGeom prst="rect">
            <a:avLst/>
          </a:prstGeom>
          <a:solidFill>
            <a:srgbClr val="3F51B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