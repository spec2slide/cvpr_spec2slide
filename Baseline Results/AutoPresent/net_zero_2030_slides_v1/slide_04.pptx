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6666"/>
                </a:solidFill>
              </a:defRPr>
            </a:pPr>
            <a:r>
              <a:t>Abatement Levers and MAC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Summary: Twelve prioritized levers deliver 90 ktCO2e/yr abatement by 2030; 62% of volume is cost-saving or near-zero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Energy efficiency (motors, VFDs, HVAC &amp; lighting): Scope: 1 &amp; 2, Abatement 2030: 7 ktCO2e, Cost: -50 USD/t, Start: 2024, Full effect: 2026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Compressed air &amp; steam optimization: Scope: 1, Abatement 2030: 6 ktCO2e, Cost: -70 USD/t, Start: 2024, Full effect: 2025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Process electrification (boilers, ovens, dryers): Scope: 1 &amp; 2, Abatement 2030: 10 ktCO2e, Cost: 15 USD/t, Start: 2025, Full effect: 2030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On-site solar + storage: Scope: 2, Abatement 2030: 2.5 ktCO2e, Cost: -5 USD/t, Start: 2025, Full effect: 2026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Renewable PPAs / green tariffs: Scope: 2, Abatement 2030: 12.5 ktCO2e, Cost: 5 USD/t, Start: 2025, Full effect: 2027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Waste heat recovery: Scope: 1, Abatement 2030: 4 ktCO2e, Cost: 5 USD/t, Start: 2026, Full effect: 2029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Fleet electrification (yard/LDV): Scope: 1, Abatement 2030: 2 ktCO2e, Cost: 20 USD/t, Start: 2025, Full effect: 2029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Logistics optimization &amp; mode shift: Scope: 3, Abatement 2030: 5 ktCO2e, Cost: -10 USD/t, Start: 2024, Full effect: 2026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Supplier decarbonization (SBTi/EPDs): Scope: 3, Abatement 2030: 25 ktCO2e, Cost: 30 USD/t, Start: 2024, Full effect: 2030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Material substitution / recycled content: Scope: 3, Abatement 2030: 10 ktCO2e, Cost: 25 USD/t, Start: 2025, Full effect: 2029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Waste reduction &amp; circularity: Scope: 3, Abatement 2030: 3 ktCO2e, Cost: -25 USD/t, Start: 2024, Full effect: 2025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Packaging optimization: Scope: 3, Abatement 2030: 3 ktCO2e, Cost: 10 USD/t, Start: 2025, Full effect: 2027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5603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