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2F2F2"/>
          </a:solidFill>
        </p:spPr>
        <p:txBody>
          <a:bodyPr/>
          <a:lstStyle/>
          <a:p>
            <a:pPr>
              <a:defRPr sz="4000">
                <a:solidFill>
                  <a:srgbClr val="212529"/>
                </a:solidFill>
              </a:defRPr>
            </a:pPr>
            <a:r>
              <a:t>Incentives and Funding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400800" cy="45720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United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IRA 48E Clean Electricity ITC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30% ITC (up to 50% with energy community/domestic content adders)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Stack with utility rebates; direct pay for tax-exempt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Applies to on-site solar + storage meeting prevailing wage/apprenticeship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Industrial Decarbonization Grants (DOE)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$5M–$500M competitive grants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Non-tax; can layer with ITC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Focus on electrification, heat pumps, waste heat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Section 179D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Up to $5.00/sq ft for efficiency (if qualified)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Yes, with tax rules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Owner vs. designer allocation rules apply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6400800" cy="45720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European Union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EU Innovation Fund / CEF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6751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Up to ~60% of CAPEX/OPEX for industrial decarb pilots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State-aid dependent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Best for large-scale electrification/waste heat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77724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REPowerEU / National schemes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80467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10–55% CAPEX grants (country-specific)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Subject to state-aid caps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E.g., Germany EEW, France ADEME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91440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EU ETS / CBAM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94183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Avoided carbon costs; funding via ETS revenues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Policy-linked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CBAM reporting now in transition; cost exposure from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0515600"/>
            <a:ext cx="6400800" cy="45720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United Kingdom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109728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Industrial Energy Transformation Fund (IETF)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12471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30–65% CAPEX for efficiency and fuel-switch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With tax reliefs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Electrification and process heat eligible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23444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Full Expensing (Capital Allowances)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26187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100% first-year deduction on main pool capex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Yes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Improves NPV on equipment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716000"/>
            <a:ext cx="6400800" cy="45720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Canada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141732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Clean Technology ITC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44475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30% ITC for solar, wind, storage, heat pumps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With provincial programs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Phase-down dates apply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155448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SIF / NRCan Industrial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158191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Grants/loans for industrial decarbonization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Case-by-case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Supports electrification and efficiency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6916400"/>
            <a:ext cx="6400800" cy="45720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Japan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73736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Green Growth Strategy subsidies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176479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Up to ~50% for industrial electrification pilots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Program dependent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Coordinates with utility green tariffs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18745200"/>
            <a:ext cx="6400800" cy="45720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2400" b="1">
                <a:solidFill>
                  <a:srgbClr val="003366"/>
                </a:solidFill>
              </a:defRPr>
            </a:pPr>
            <a:r>
              <a:t>India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92024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Accelerated Depreciation (RE)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194767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Up to 40% accelerated depreciation for RE assets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With state incentives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Varies by state DISCOM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20574000"/>
            <a:ext cx="5943600" cy="27432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505050"/>
                </a:solidFill>
              </a:defRPr>
            </a:pPr>
            <a:r>
              <a:t>PLI / Industrial efficiency schemes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0848320"/>
            <a:ext cx="5760720" cy="5486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normAutofit/>
          </a:bodyPr>
          <a:lstStyle/>
          <a:p/>
          <a:p>
            <a:pPr>
              <a:defRPr sz="1400">
                <a:solidFill>
                  <a:srgbClr val="505050"/>
                </a:solidFill>
              </a:defRPr>
            </a:pPr>
            <a:r>
              <a:t>Value: Targeted incentives for manufacturing upgrades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Stackability: Program dependent</a:t>
            </a:r>
          </a:p>
          <a:p>
            <a:pPr>
              <a:defRPr sz="1400">
                <a:solidFill>
                  <a:srgbClr val="505050"/>
                </a:solidFill>
              </a:defRPr>
            </a:pPr>
            <a:r>
              <a:t>Notes: Eligibility varies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7315200"/>
            <a:ext cx="10058400" cy="45720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/>
          <a:p>
            <a:pPr>
              <a:defRPr sz="1200" b="0">
                <a:solidFill>
                  <a:srgbClr val="880015"/>
                </a:solidFill>
              </a:defRPr>
            </a:pPr>
            <a:r>
              <a:t>Note: Confirm current eligibility, prevailing wage/domestic content, and state-aid rules prior to commitment.</a:t>
            </a:r>
          </a:p>
        </p:txBody>
      </p:sp>
      <p:pic>
        <p:nvPicPr>
          <p:cNvPr id="36" name="Picture 3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73152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